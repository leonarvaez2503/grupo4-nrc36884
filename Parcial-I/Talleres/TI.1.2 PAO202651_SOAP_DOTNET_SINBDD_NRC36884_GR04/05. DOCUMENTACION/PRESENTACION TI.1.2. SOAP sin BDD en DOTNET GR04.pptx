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1"/>
  </p:notesMasterIdLst>
  <p:sldIdLst>
    <p:sldId id="330" r:id="rId2"/>
    <p:sldId id="331" r:id="rId3"/>
    <p:sldId id="332" r:id="rId4"/>
    <p:sldId id="333" r:id="rId5"/>
    <p:sldId id="334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67" r:id="rId38"/>
    <p:sldId id="368" r:id="rId39"/>
    <p:sldId id="369" r:id="rId40"/>
    <p:sldId id="370" r:id="rId41"/>
    <p:sldId id="371" r:id="rId42"/>
    <p:sldId id="372" r:id="rId43"/>
    <p:sldId id="373" r:id="rId44"/>
    <p:sldId id="374" r:id="rId45"/>
    <p:sldId id="375" r:id="rId46"/>
    <p:sldId id="376" r:id="rId47"/>
    <p:sldId id="377" r:id="rId48"/>
    <p:sldId id="378" r:id="rId49"/>
    <p:sldId id="379" r:id="rId50"/>
  </p:sldIdLst>
  <p:sldSz cx="12192000" cy="6858000"/>
  <p:notesSz cx="6858000" cy="9144000"/>
  <p:embeddedFontLst>
    <p:embeddedFont>
      <p:font typeface="Cambria" panose="02040503050406030204" pitchFamily="18" charset="0"/>
      <p:regular r:id="rId52"/>
      <p:bold r:id="rId53"/>
      <p:italic r:id="rId54"/>
      <p:boldItalic r:id="rId55"/>
    </p:embeddedFont>
    <p:embeddedFont>
      <p:font typeface="Gill Sans" panose="020B0604020202020204" charset="0"/>
      <p:regular r:id="rId56"/>
      <p:bold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136021-7255-42B7-A7E7-87A8D8FFE9CA}">
  <a:tblStyle styleId="{BF136021-7255-42B7-A7E7-87A8D8FFE9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8526227be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3a8526227be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8526227be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3a8526227be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526227be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g3a8526227be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8526227be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g3a8526227be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8526227be_0_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g3a8526227be_0_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8526227be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g3a8526227be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8526227be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g3a8526227be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8526227be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g3a8526227be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8526227be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g3a8526227be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8526227be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g3a8526227be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8526227be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g3a8526227be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526227be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3a8526227be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8526227be_0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a8526227be_0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8526227be_0_5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5" name="Google Shape;235;g3a8526227be_0_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8526227be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3" name="Google Shape;243;g3a8526227be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8526227be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1" name="Google Shape;251;g3a8526227be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8526227be_0_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9" name="Google Shape;259;g3a8526227be_0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8526227be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7" name="Google Shape;267;g3a8526227be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8526227be_0_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5" name="Google Shape;275;g3a8526227be_0_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8526227be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3" name="Google Shape;283;g3a8526227be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8526227be_0_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1" name="Google Shape;291;g3a8526227be_0_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8526227be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g3a8526227be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854632a9a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g3a854632a9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854632a9a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6" name="Google Shape;316;g3a854632a9a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854632a9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4" name="Google Shape;324;g3a854632a9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854632a9a_2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g3a854632a9a_2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854632a9a_2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a854632a9a_2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854632a9a_2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7" name="Google Shape;367;g3a854632a9a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854632a9a_2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2" name="Google Shape;532;g3a854632a9a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854632a9a_2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2" name="Google Shape;542;g3a854632a9a_2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a854632a9a_2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0" name="Google Shape;550;g3a854632a9a_2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854632a9a_2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8" name="Google Shape;558;g3a854632a9a_2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854632a9a_2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6" name="Google Shape;566;g3a854632a9a_2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854632a9a_2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4" name="Google Shape;574;g3a854632a9a_2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854632a9a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0" name="Google Shape;590;g3a854632a9a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a854632a9a_2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9" name="Google Shape;599;g3a854632a9a_2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a854632a9a_2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7" name="Google Shape;607;g3a854632a9a_2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854632a9a_2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15" name="Google Shape;615;g3a854632a9a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a854632a9a_2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3" name="Google Shape;623;g3a854632a9a_2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a8526227be_0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9" name="Google Shape;639;g3a8526227be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854632a9a_2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9" name="Google Shape;649;g3a854632a9a_2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a854632a9a_2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7" name="Google Shape;657;g3a854632a9a_2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854632a9a_2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5" name="Google Shape;665;g3a854632a9a_2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a854632a9a_2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3" name="Google Shape;673;g3a854632a9a_2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a8526227be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9" name="Google Shape;689;g3a8526227be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a8526227be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6" name="Google Shape;696;g3a8526227be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>
                <a:solidFill>
                  <a:schemeClr val="lt1"/>
                </a:solidFill>
              </a:rPr>
              <a:t>MANUAL</a:t>
            </a:r>
            <a:br>
              <a:rPr lang="es-ES">
                <a:solidFill>
                  <a:schemeClr val="lt1"/>
                </a:solidFill>
              </a:rPr>
            </a:br>
            <a:r>
              <a:rPr lang="es-ES">
                <a:solidFill>
                  <a:schemeClr val="lt1"/>
                </a:solidFill>
              </a:rPr>
              <a:t>CONVERSIÓN UNIDADES SOAP DOTNET</a:t>
            </a: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es-ES" b="1" dirty="0">
                <a:solidFill>
                  <a:schemeClr val="lt1"/>
                </a:solidFill>
              </a:rPr>
              <a:t>INTEGRANTES:</a:t>
            </a:r>
            <a:r>
              <a:rPr lang="es-ES" dirty="0">
                <a:solidFill>
                  <a:schemeClr val="lt1"/>
                </a:solidFill>
              </a:rPr>
              <a:t> 	FLORES CAETANO					MORALES ANTHONY			         	</a:t>
            </a:r>
          </a:p>
          <a:p>
            <a:pPr marL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es-ES" dirty="0">
                <a:solidFill>
                  <a:schemeClr val="lt1"/>
                </a:solidFill>
              </a:rPr>
              <a:t>NARVAEZ LEONARDO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 </a:t>
            </a:r>
            <a:r>
              <a:rPr lang="es-ES" sz="16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27/10/2026</a:t>
            </a:r>
            <a:endParaRPr sz="16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 </a:t>
            </a:r>
            <a:r>
              <a:rPr lang="es-ES" sz="1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CAMPAÑA MAURICIO</a:t>
            </a:r>
            <a:endParaRPr sz="1600" b="1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0010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SOAP EN DOTNET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CONSOLA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ESCRITORIO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WEB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MÓVIL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14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2115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s-ES" sz="1800" b="1">
                <a:latin typeface="Cambria"/>
                <a:ea typeface="Cambria"/>
                <a:cs typeface="Cambria"/>
                <a:sym typeface="Cambria"/>
              </a:rPr>
              <a:t>.1	OBJETIVO</a:t>
            </a:r>
            <a:endParaRPr b="1"/>
          </a:p>
          <a:p>
            <a:pPr marL="342900" marR="0" lvl="0" indent="-237744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Desarrollar e implementar un Web Service utilizando SOAP mediante .NET (WCF) para realizar conversiones de unidades de longitud, masa y temperatura, consumido desde clientes de consola, escritorio, web y móvil.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6381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1.2.1 	Entorno del servidor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El servidor se desarrolla en Visual Studio como un proyecto ASP.NET Web Application (.NET Framework 4.7.2) que aloja un servicio WCF y se ejecuta sobre IIS Express.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A01F7F87-51DA-46FD-D27F-BD62ABA3F95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94613" y="3636867"/>
            <a:ext cx="4562475" cy="294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076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body" idx="1"/>
          </p:nvPr>
        </p:nvSpPr>
        <p:spPr>
          <a:xfrm>
            <a:off x="581200" y="1781575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Se crea el proyecto web con la plantilla ASP.NET Web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Application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(.NET Framework), sin autenticación ni base de datos.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64D2A146-3F8D-0881-DF66-802D33E2FEE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42225" y="3321488"/>
            <a:ext cx="4667250" cy="301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62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1.2.2 	Creación del Proyecto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Se crea el proyecto en Visual Studio: ASP.NET Web Application (.NET Framework 4.7.2).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4FFCAAE7-86E7-05B4-71DD-A12466E410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37463" y="3638494"/>
            <a:ext cx="4676775" cy="302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19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body" idx="1"/>
          </p:nvPr>
        </p:nvSpPr>
        <p:spPr>
          <a:xfrm>
            <a:off x="581192" y="1948172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Se aplica el nombre del proyecto como ‘ServidorDotNet-Grupo4’ y se selecciona .NET Framework 4.7.2 como versión de destino.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111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mbria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El proyecto utiliza IIS Express como servidor de desarrollo.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2E0CF031-66FB-2814-84E8-4FDBD357B5B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990243" y="3503286"/>
            <a:ext cx="4105699" cy="265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012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 dirty="0">
                <a:latin typeface="Cambria"/>
                <a:ea typeface="Cambria"/>
                <a:cs typeface="Cambria"/>
                <a:sym typeface="Cambria"/>
              </a:rPr>
              <a:t>ESTRUCTURA MVC</a:t>
            </a: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Aplicando un patrón arquitectónico MVC junto a otras capas se organizan las carpetas controladores, modelos (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enums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, mapeadores, seguridad y utilidades) y servicios.</a:t>
            </a:r>
            <a:endParaRPr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DD44CBCA-9CBC-E71A-A32E-C8D586E8DED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742039" y="2696274"/>
            <a:ext cx="2684205" cy="362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021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 dirty="0">
                <a:latin typeface="Cambria"/>
                <a:ea typeface="Cambria"/>
                <a:cs typeface="Cambria"/>
                <a:sym typeface="Cambria"/>
              </a:rPr>
              <a:t>1.2.3 	Creación del </a:t>
            </a:r>
            <a:r>
              <a:rPr lang="es-ES" sz="1929" b="1" dirty="0" err="1">
                <a:latin typeface="Cambria"/>
                <a:ea typeface="Cambria"/>
                <a:cs typeface="Cambria"/>
                <a:sym typeface="Cambria"/>
              </a:rPr>
              <a:t>WebService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Se agrega un servicio WCF (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ServicioWeb.svc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) y se define su contrato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IWSConversorUnidades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en la carpeta servicios.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El servicio delega la ejecución en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ConversorControlador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7CD74362-430A-20B6-3364-19B421C399D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58600" y="4771110"/>
            <a:ext cx="3280200" cy="718430"/>
          </a:xfrm>
          <a:prstGeom prst="rect">
            <a:avLst/>
          </a:prstGeom>
        </p:spPr>
      </p:pic>
      <p:pic>
        <p:nvPicPr>
          <p:cNvPr id="7" name="Captura GR04">
            <a:extLst>
              <a:ext uri="{FF2B5EF4-FFF2-40B4-BE49-F238E27FC236}">
                <a16:creationId xmlns:a16="http://schemas.microsoft.com/office/drawing/2014/main" id="{AF67AD67-1C43-309D-99EE-345F2053596C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103225" y="4724059"/>
            <a:ext cx="3810000" cy="81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48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Se codifica el contrato del servicio bajo los siguientes lineamientos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1. Se define el contrato IWSConversorUnidades con [ServiceContract] y sus operaciones con [OperationContract].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82" name="Google Shape;182;p23"/>
          <p:cNvGraphicFramePr/>
          <p:nvPr>
            <p:extLst>
              <p:ext uri="{D42A27DB-BD31-4B8C-83A1-F6EECF244321}">
                <p14:modId xmlns:p14="http://schemas.microsoft.com/office/powerpoint/2010/main" val="4245862399"/>
              </p:ext>
            </p:extLst>
          </p:nvPr>
        </p:nvGraphicFramePr>
        <p:xfrm>
          <a:off x="3395925" y="2866125"/>
          <a:ext cx="5400050" cy="38074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 System.ServiceModel;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namespace ServidorDotNet_Grupo4.servicios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[ServiceContract(Name = "IWSConversorUnidades")]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interface IWSConversorUnidades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[OperationContract(Name = "login")]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Login(string usuario, string password);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[OperationContract(Name = "cambiarPassword")]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CambiarPassword(string usuario, string passwordActual, string passwordNueva);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[OperationContract(Name = "ConvertirLongitud")]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double ConvertirLongitud(double valor, string unidadInicial, string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[OperationContract(Name = "ConvertirTemperatura")]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double ConvertirTemperatura(double valor, string unidadInicial, string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[OperationContract(Name = "ConvertirMasa")]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double ConvertirMasa(double valor, string unidadInicial, string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0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818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2. Se configura el host del servicio (ServicioWeb.svc).</a:t>
            </a:r>
            <a:endParaRPr sz="1677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3. Se crea la clase ServicioWeb, que implementa el contrato y delega en el controlador.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90" name="Google Shape;190;p24"/>
          <p:cNvGraphicFramePr/>
          <p:nvPr>
            <p:extLst>
              <p:ext uri="{D42A27DB-BD31-4B8C-83A1-F6EECF244321}">
                <p14:modId xmlns:p14="http://schemas.microsoft.com/office/powerpoint/2010/main" val="1310986887"/>
              </p:ext>
            </p:extLst>
          </p:nvPr>
        </p:nvGraphicFramePr>
        <p:xfrm>
          <a:off x="3701450" y="2180500"/>
          <a:ext cx="5400050" cy="46228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&lt;%@ ServiceHost Language="C#" Debug="true" Service="ServidorDotNet_Grupo4.ServicioWeb" CodeBehind="ServicioWeb.svc.cs" %&gt;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1" name="Google Shape;191;p24"/>
          <p:cNvGraphicFramePr/>
          <p:nvPr>
            <p:extLst>
              <p:ext uri="{D42A27DB-BD31-4B8C-83A1-F6EECF244321}">
                <p14:modId xmlns:p14="http://schemas.microsoft.com/office/powerpoint/2010/main" val="3419955361"/>
              </p:ext>
            </p:extLst>
          </p:nvPr>
        </p:nvGraphicFramePr>
        <p:xfrm>
          <a:off x="3701450" y="3375275"/>
          <a:ext cx="5400050" cy="9652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class ServicioWeb : IWSConversorUnidades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private readonly ConversorControlador controlador = new ConversorControlador();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6577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4. Se implementan las operaciones del contrato (login, cambiarPassword y conversiones), delegando en ConversorControlador.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99" name="Google Shape;199;p25"/>
          <p:cNvGraphicFramePr/>
          <p:nvPr>
            <p:extLst>
              <p:ext uri="{D42A27DB-BD31-4B8C-83A1-F6EECF244321}">
                <p14:modId xmlns:p14="http://schemas.microsoft.com/office/powerpoint/2010/main" val="811575596"/>
              </p:ext>
            </p:extLst>
          </p:nvPr>
        </p:nvGraphicFramePr>
        <p:xfrm>
          <a:off x="3917100" y="1928900"/>
          <a:ext cx="4894525" cy="4533675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3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class ServicioWeb : IWSConversorUnidades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private readonly ConversorControlador controlador = new ConversorControlador();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string Login(string usuario, string password)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controlador.Login(usuario, password);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string CambiarPassword(string usuario, string passwordActual, string passwordNueva)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controlador.CambiarPassword(usuario, passwordActual, passwordNueva);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double ConvertirLongitud(double valor, string unidadInicial, string unidadFinal)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controlador.ConvertirLongitud(valor, unidadInicial,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double ConvertirTemperatura(double valor, string unidadInicial, string unidadFinal)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controlador.ConvertirTemperatura(valor, unidadInicial,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double ConvertirMasa(double valor, string unidadInicial, string unidadFinal)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controlador.ConvertirMasa(valor, unidadInicial,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655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" name="Google Shape;204;p26"/>
          <p:cNvGraphicFramePr/>
          <p:nvPr>
            <p:extLst>
              <p:ext uri="{D42A27DB-BD31-4B8C-83A1-F6EECF244321}">
                <p14:modId xmlns:p14="http://schemas.microsoft.com/office/powerpoint/2010/main" val="951211289"/>
              </p:ext>
            </p:extLst>
          </p:nvPr>
        </p:nvGraphicFramePr>
        <p:xfrm>
          <a:off x="3881150" y="2291900"/>
          <a:ext cx="4894525" cy="42418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4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string Login(string usuario, string password)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try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if (AdministradorCredenciales.ValidarUsuario(usuario, password))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return AdministradorToken.GenerarToken();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 null;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catch (Exception ex)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throw new FaultException("Error en el inicio de sesión: " + ex.Message);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double ConvertirLongitud(double valor, string unidadInicial, string unidadFinal)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try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UnidadLongitud origen = UnidadMapper.ToLongitud(unidadInicial);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UnidadLongitud destino = UnidadMapper.ToLongitud(unidadFinal);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 servicioLongitud.Convertir(valor, origen, 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catch (Exception ex)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throw new FaultException(ex.Message);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" name="Google Shape;205;p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5. El controlador ConversorControlador ejecuta el login y las conversiones, y lanza FaultException ante errores.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0788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body" idx="1"/>
          </p:nvPr>
        </p:nvSpPr>
        <p:spPr>
          <a:xfrm>
            <a:off x="581200" y="2018775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1.2.4 	Autenticación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238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6"/>
              <a:buFont typeface="Cambria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En .NET no se usa un manejador de mensajes: la autenticación se resuelve en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ConversorControlador.Login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con las clases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AdministradorCredenciales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y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AdministradorToken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de modelos/seguridad.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780448D1-0DB6-F1AA-7BEA-091F0965E02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89850" y="4623646"/>
            <a:ext cx="4572000" cy="97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7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body" idx="1"/>
          </p:nvPr>
        </p:nvSpPr>
        <p:spPr>
          <a:xfrm>
            <a:off x="581192" y="1876272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ConversorControlador.Login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valida las credenciales quemadas en código y, si son correctas, devuelve un token (GUID); si no lo son, devuelve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null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El token se genera, pero el servidor no lo valida en las operaciones de conversión y los clientes tampoco lo envían en un encabezado SOAP.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24" name="Google Shape;224;p28"/>
          <p:cNvGraphicFramePr/>
          <p:nvPr>
            <p:extLst>
              <p:ext uri="{D42A27DB-BD31-4B8C-83A1-F6EECF244321}">
                <p14:modId xmlns:p14="http://schemas.microsoft.com/office/powerpoint/2010/main" val="4128183442"/>
              </p:ext>
            </p:extLst>
          </p:nvPr>
        </p:nvGraphicFramePr>
        <p:xfrm>
          <a:off x="1838633" y="3549445"/>
          <a:ext cx="7080818" cy="31445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7080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7214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Login(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usuario,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password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try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AdministradorCredenciales.ValidarUsuario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(usuario,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password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AdministradorToken.GenerarToken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catch 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Exception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ex)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throw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new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FaultException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("Error en el inicio de sesión: " +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ex.Message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...</a:t>
                      </a: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5503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body" idx="1"/>
          </p:nvPr>
        </p:nvSpPr>
        <p:spPr>
          <a:xfrm>
            <a:off x="581200" y="187627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AdministradorToken genera un GUID como token con vigencia de 30 minutos y lo guarda en memoria (ConcurrentDictionary).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32" name="Google Shape;232;p29"/>
          <p:cNvGraphicFramePr/>
          <p:nvPr>
            <p:extLst>
              <p:ext uri="{D42A27DB-BD31-4B8C-83A1-F6EECF244321}">
                <p14:modId xmlns:p14="http://schemas.microsoft.com/office/powerpoint/2010/main" val="1336711341"/>
              </p:ext>
            </p:extLst>
          </p:nvPr>
        </p:nvGraphicFramePr>
        <p:xfrm>
          <a:off x="2964625" y="1876275"/>
          <a:ext cx="6062675" cy="47013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01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 System;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 System.Collections.Concurrent;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namespace ServidorDotNet_Grupo4.modelos.seguridad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static class AdministradorToken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private static readonly TimeSpan TIEMPO_EXPIRACION = TimeSpan.FromMinutes(30);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private static readonly ConcurrentDictionary&lt;string, DateTime&gt; TOKENS_ACTIVOS = new ConcurrentDictionary&lt;string, DateTime&gt;();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static string GenerarToken()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token = Guid.NewGuid().ToString();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TOKENS_ACTIVOS[token] = DateTime.UtcNow;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token;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static bool ValidarToken(string token)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(string.IsNullOrWhiteSpace(token))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 false;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tokenLimpio = token.Trim();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(!TOKENS_ACTIVOS.TryGetValue(tokenLimpio, out DateTime fechaCreacion))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 false;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(DateTime.UtcNow - fechaCreacion &gt; TIEMPO_EXPIRACION)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TOKENS_ACTIVOS.TryRemove(tokenLimpio, out _);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 false;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true;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static void InvalidarToken(string token)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(!string.IsNullOrWhiteSpace(token))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TOKENS_ACTIVOS.TryRemove(token.Trim(), out _);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static void Limpiar()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TOKENS_ACTIVOS.Clear();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2412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body" idx="1"/>
          </p:nvPr>
        </p:nvSpPr>
        <p:spPr>
          <a:xfrm>
            <a:off x="99409" y="2758174"/>
            <a:ext cx="3069757" cy="305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AdministradorCredenciales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 mantiene la credencial quemada en código (Monster / Monster9). El usuario no distingue mayúsculas y se acepta Monster9 o MONSTER9 como contraseña.</a:t>
            </a:r>
            <a:endParaRPr sz="16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9" name="Google Shape;239;p3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40" name="Google Shape;240;p30"/>
          <p:cNvGraphicFramePr/>
          <p:nvPr>
            <p:extLst>
              <p:ext uri="{D42A27DB-BD31-4B8C-83A1-F6EECF244321}">
                <p14:modId xmlns:p14="http://schemas.microsoft.com/office/powerpoint/2010/main" val="879683056"/>
              </p:ext>
            </p:extLst>
          </p:nvPr>
        </p:nvGraphicFramePr>
        <p:xfrm>
          <a:off x="3169166" y="2166027"/>
          <a:ext cx="6062675" cy="42418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51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USUARIO_DEFAULT = "Monster";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CONTRASENIA_DEFAULT = "Monster9";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ValidarUsuario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usuario,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string.IsNullOrWhiteSpace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(usuario) ||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string.IsNullOrEmpty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false;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userKey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usuario.Trim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().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ToLowerInvariant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(!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USUARIOS.TryGetValue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userKey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claveAlmacenada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false;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string.Equals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claveAlmacenada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StringComparison.Ordinal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true;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string.Equals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claveAlmacenada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CONTRASENIA_DEFAULT,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StringComparison.OrdinalIgnoreCase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&amp;&amp;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string.Equals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"Monster9",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StringComparison.Ordinal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||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string.Equals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"MONSTER9",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StringComparison.Ordinal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true;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false;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  <a:endParaRPr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1798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309484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1.2.5	Lógica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las utilidades exponen la lógica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48" name="Google Shape;248;p31"/>
          <p:cNvGraphicFramePr/>
          <p:nvPr>
            <p:extLst>
              <p:ext uri="{D42A27DB-BD31-4B8C-83A1-F6EECF244321}">
                <p14:modId xmlns:p14="http://schemas.microsoft.com/office/powerpoint/2010/main" val="1073200194"/>
              </p:ext>
            </p:extLst>
          </p:nvPr>
        </p:nvGraphicFramePr>
        <p:xfrm>
          <a:off x="3017313" y="3676500"/>
          <a:ext cx="6062675" cy="130048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namespace ServidorDotNet_Grupo4.modelos.utilidades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interface IConversor&lt;T&gt;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double Convertir(double valor, T unidadInicial, T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7699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54" name="Google Shape;254;p32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las utilidades exponen la lógica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56" name="Google Shape;256;p32"/>
          <p:cNvGraphicFramePr/>
          <p:nvPr>
            <p:extLst>
              <p:ext uri="{D42A27DB-BD31-4B8C-83A1-F6EECF244321}">
                <p14:modId xmlns:p14="http://schemas.microsoft.com/office/powerpoint/2010/main" val="2016058236"/>
              </p:ext>
            </p:extLst>
          </p:nvPr>
        </p:nvGraphicFramePr>
        <p:xfrm>
          <a:off x="3017313" y="1838175"/>
          <a:ext cx="6062675" cy="43256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 ServidorDotNet_Grupo4.modelos.enums;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 System;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 System.Collections.Generic;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namespace ServidorDotNet_Grupo4.modelos.utilidades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class ConversorLongitud : IConversor&lt;UnidadLongitud&gt;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private readonly Dictionary&lt;UnidadLongitud, double&gt; factores = new Dictionary&lt;UnidadLongitud, double&gt;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 UnidadLongitud.MILIMETRO, 0.001 },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 UnidadLongitud.CENTIMETRO, 0.01 },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 UnidadLongitud.METRO, 1.0 },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 UnidadLongitud.KILOMETRO, 1000.0 },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 UnidadLongitud.YARDA, 0.9144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double Convertir(double valor, UnidadLongitud unidadOrigen, UnidadLongitud unidadFinal)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(!factores.ContainsKey(unidadOrigen) || !factores.ContainsKey(unidadFinal))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throw new ArgumentException("Unidad de longitud no soportada");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double valorEnBase = valor * factores[unidadOrigen];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valorEnBase / factores[unidadFinal];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953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62" name="Google Shape;262;p33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las utilidades exponen la lógica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63" name="Google Shape;263;p3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64" name="Google Shape;264;p33"/>
          <p:cNvGraphicFramePr/>
          <p:nvPr>
            <p:extLst>
              <p:ext uri="{D42A27DB-BD31-4B8C-83A1-F6EECF244321}">
                <p14:modId xmlns:p14="http://schemas.microsoft.com/office/powerpoint/2010/main" val="290382330"/>
              </p:ext>
            </p:extLst>
          </p:nvPr>
        </p:nvGraphicFramePr>
        <p:xfrm>
          <a:off x="3017313" y="1838175"/>
          <a:ext cx="6062675" cy="43256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 ServidorDotNet_Grupo4.modelos.enums;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 System;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 System.Collections.Generic;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namespace ServidorDotNet_Grupo4.modelos.utilidades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class ConversorMasa : IConversor&lt;UnidadMasa&gt;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private readonly Dictionary&lt;UnidadMasa, double&gt; factores = new Dictionary&lt;UnidadMasa, double&gt;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 UnidadMasa.MILIGRAMO, 0.001 },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 UnidadMasa.GRAMO, 1.0 },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 UnidadMasa.KILOGRAMO, 1000.0 },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 UnidadMasa.TONELADA, 1000000.0 },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 UnidadMasa.ONZA, 28.3495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double Convertir(double valor, UnidadMasa unidadOrigen, UnidadMasa unidadFinal)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(!factores.ContainsKey(unidadOrigen) || !factores.ContainsKey(unidadFinal))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throw new ArgumentException("Unidad de masa no soportada");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double valorEnBase = valor * factores[unidadOrigen];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valorEnBase / factores[unidadFinal];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7861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70" name="Google Shape;270;p34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las utilidades exponen la lógica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1" name="Google Shape;271;p3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72" name="Google Shape;272;p34"/>
          <p:cNvGraphicFramePr/>
          <p:nvPr>
            <p:extLst>
              <p:ext uri="{D42A27DB-BD31-4B8C-83A1-F6EECF244321}">
                <p14:modId xmlns:p14="http://schemas.microsoft.com/office/powerpoint/2010/main" val="2622526581"/>
              </p:ext>
            </p:extLst>
          </p:nvPr>
        </p:nvGraphicFramePr>
        <p:xfrm>
          <a:off x="2891513" y="2209650"/>
          <a:ext cx="6062675" cy="43561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class ConversorTemperatura : IConversor&lt;UnidadTemperatura&gt;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double Convertir(double valor, UnidadTemperatura origen, UnidadTemperatura destino)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(origen == destino)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 valor;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switch (origen)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UnidadTemperatura.CELSIUS: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switch (destino)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case UnidadTemperatura.FAHRENHEIT: return (valor * 9.0 / 5.0) + 32.0;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case UnidadTemperatura.KELVIN: return valor + 273.15;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case UnidadTemperatura.RANKINE: return (valor + 273.15) * 9.0 / 5.0;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default: throw new ArgumentException("Conversión no soportada");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UnidadTemperatura.FAHRENHEIT: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switch (destino)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case UnidadTemperatura.CELSIUS: return (valor - 32.0) * 5.0 / 9.0;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case UnidadTemperatura.KELVIN: return (valor - 32.0) * 5.0 / 9.0 + 273.15;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case UnidadTemperatura.RANKINE: return valor + 459.67;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default: throw new ArgumentException("Conversión no soportada");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UnidadTemperatura.KELVIN: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switch (destino)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case UnidadTemperatura.CELSIUS: return valor - 273.15;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case UnidadTemperatura.FAHRENHEIT: return (valor - 273.15) * 9.0 / 5.0 + 32.0;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case UnidadTemperatura.RANKINE: return valor * 9.0 / 5.0;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default: throw new ArgumentException("Conversión no soportada");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...</a:t>
                      </a:r>
                      <a:endParaRPr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4835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78" name="Google Shape;278;p35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las utilidades exponen la lógica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9" name="Google Shape;279;p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80" name="Google Shape;280;p35"/>
          <p:cNvGraphicFramePr/>
          <p:nvPr>
            <p:extLst>
              <p:ext uri="{D42A27DB-BD31-4B8C-83A1-F6EECF244321}">
                <p14:modId xmlns:p14="http://schemas.microsoft.com/office/powerpoint/2010/main" val="4042920971"/>
              </p:ext>
            </p:extLst>
          </p:nvPr>
        </p:nvGraphicFramePr>
        <p:xfrm>
          <a:off x="2891513" y="1838175"/>
          <a:ext cx="6062675" cy="463804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static class UnidadMapper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private static string Normalizar(string texto)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(string.IsNullOrWhiteSpace(texto))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throw new ArgumentException("La unidad no puede estar vacía.");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textoNormalizado = texto.Trim().Normalize(NormalizationForm.FormD);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StringBuilder sb = new StringBuilder();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foreach (char c in textoNormalizado)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UnicodeCategory uc = CharUnicodeInfo.GetUnicodeCategory(c);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if (uc != UnicodeCategory.NonSpacingMark)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sb.Append(c);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sb.ToString().Normalize(NormalizationForm.FormC).ToUpperInvariant();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static UnidadLongitud ToLongitud(string valor)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u = Normalizar(valor);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switch (u)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"MILIMETRO":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"MILIMETROS":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"MM":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return UnidadLongitud.MILIMETRO;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"CENTIMETRO":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"CENTIMETROS":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"CM":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...</a:t>
                      </a:r>
                      <a:endParaRPr sz="8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550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Aplicando una interfaz con el fin de hacer que el servicio pueda inyectar cualquier tipo de conversión sin limitarse a uno en concreto como se puede ver en la Tabla del Servicio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88" name="Google Shape;288;p36"/>
          <p:cNvGraphicFramePr/>
          <p:nvPr>
            <p:extLst>
              <p:ext uri="{D42A27DB-BD31-4B8C-83A1-F6EECF244321}">
                <p14:modId xmlns:p14="http://schemas.microsoft.com/office/powerpoint/2010/main" val="3418732217"/>
              </p:ext>
            </p:extLst>
          </p:nvPr>
        </p:nvGraphicFramePr>
        <p:xfrm>
          <a:off x="2891513" y="2557313"/>
          <a:ext cx="6062675" cy="364744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ServidorDotNet_Grupo4.modelos.utilidades;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namespace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ServidorDotNet_Grupo4.servicios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ServicioConversor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&lt;T&gt;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readonly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IConversor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&lt;T&gt; conversor;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ServicioConversor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IConversor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&lt;T&gt; conversor)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this.conversor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conversor ??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throw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new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ArgumentNullException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nameof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(conversor), "No se ha inyectado un conversor");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Convertir(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valor, T origen, T destino)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conversor.Convertir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(valor, origen, 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409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body" idx="1"/>
          </p:nvPr>
        </p:nvSpPr>
        <p:spPr>
          <a:xfrm>
            <a:off x="581200" y="2018775"/>
            <a:ext cx="2685600" cy="4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 dirty="0">
                <a:latin typeface="Cambria"/>
                <a:ea typeface="Cambria"/>
                <a:cs typeface="Cambria"/>
                <a:sym typeface="Cambria"/>
              </a:rPr>
              <a:t>1.2.6 	Ejecución en Servidor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238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6"/>
              <a:buFont typeface="Cambria"/>
              <a:buChar char="∙"/>
            </a:pPr>
            <a:r>
              <a:rPr lang="es-ES" sz="1500" dirty="0">
                <a:latin typeface="Cambria"/>
                <a:ea typeface="Cambria"/>
                <a:cs typeface="Cambria"/>
                <a:sym typeface="Cambria"/>
              </a:rPr>
              <a:t>Se ejecuta el proyecto con IIS Express desde Visual Studio y se comprueba que el contrato WSDL esté correcto en la ruta: http://localhost:55981/ServicioWeb.svc?wsdl</a:t>
            </a:r>
            <a:endParaRPr sz="1500"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5" name="Google Shape;295;p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FE200DC7-D70E-AC49-4EA0-B899C72E2D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28750" y="2321630"/>
            <a:ext cx="5192894" cy="395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907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1.3 	CREACIÓN DEL PROYECTO CLIENTE CONSOLA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5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64"/>
              <a:buFont typeface="Arial" panose="020B0604020202020204" pitchFamily="34" charset="0"/>
              <a:buChar char="•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Para el cliente consola se usó Visual Studio con la plantilla Console App (.NET 8).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Se agrega la referencia de servicio WCF (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Connected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Services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) apuntando al WSDL del servidor y se organizan las carpetas controlador, modelo y vista.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99162"/>
              <a:buNone/>
            </a:pP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E76FDCDB-AADD-D933-8E49-1CE95F95CB4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279576" y="3921534"/>
            <a:ext cx="3704150" cy="239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168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1.3 	CREACIÓN DEL PROYECTO CLIENTE CONSOLA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Arial" panose="020B0604020202020204" pitchFamily="34" charset="0"/>
              <a:buChar char="•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Una vez que se creó el proyecto se debe generar los diferentes paquetes, donde se colocarán los archivos con código fuente.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Captura GR04">
            <a:extLst>
              <a:ext uri="{FF2B5EF4-FFF2-40B4-BE49-F238E27FC236}">
                <a16:creationId xmlns:a16="http://schemas.microsoft.com/office/drawing/2014/main" id="{C1F64921-0456-1B83-9FE1-C88D2CEF0F9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980312" y="3706761"/>
            <a:ext cx="2808300" cy="265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845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9" name="Google Shape;319;p40"/>
          <p:cNvSpPr txBox="1">
            <a:spLocks noGrp="1"/>
          </p:cNvSpPr>
          <p:nvPr>
            <p:ph type="body" idx="1"/>
          </p:nvPr>
        </p:nvSpPr>
        <p:spPr>
          <a:xfrm>
            <a:off x="475828" y="2989007"/>
            <a:ext cx="2132400" cy="2271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0" name="Google Shape;320;p4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21" name="Google Shape;321;p40"/>
          <p:cNvGraphicFramePr/>
          <p:nvPr>
            <p:extLst>
              <p:ext uri="{D42A27DB-BD31-4B8C-83A1-F6EECF244321}">
                <p14:modId xmlns:p14="http://schemas.microsoft.com/office/powerpoint/2010/main" val="2599011039"/>
              </p:ext>
            </p:extLst>
          </p:nvPr>
        </p:nvGraphicFramePr>
        <p:xfrm>
          <a:off x="2964625" y="1876275"/>
          <a:ext cx="6062675" cy="471424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01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 ec.edu.monster.controlador;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namespace ec.edu.monster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internal class Program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static void Main(string[] args)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ConsolaControlador controlador = new ConsolaControlador();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controlador.Iniciar();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class AppControlador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private readonly ConversorService service = new ConversorService();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string Login(string usuario, string contrasenia)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service.Login(usuario, contrasenia);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double ConvertirLongitud(double n1, string unidadInicial, string unidadFinal)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service.ConvertirLongitud(n1, unidadInicial,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double ConvertirLogintud(double n1, string unidadInicial, string unidadFinal)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ConvertirLongitud(n1, unidadInicial,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double ConvertirMasa(double n1, string unidadInicial, string unidadFinal)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service.ConvertirMasa(n1, unidadInicial,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double ConvertirTemperatura(double n1, string unidadInicial, string unidadFinal)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service.ConvertirTemperatura(n1, unidadInicial,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040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27" name="Google Shape;327;p41"/>
          <p:cNvSpPr txBox="1">
            <a:spLocks noGrp="1"/>
          </p:cNvSpPr>
          <p:nvPr>
            <p:ph type="body" idx="1"/>
          </p:nvPr>
        </p:nvSpPr>
        <p:spPr>
          <a:xfrm>
            <a:off x="581200" y="187627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8" name="Google Shape;328;p4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29" name="Google Shape;329;p41"/>
          <p:cNvGraphicFramePr/>
          <p:nvPr>
            <p:extLst>
              <p:ext uri="{D42A27DB-BD31-4B8C-83A1-F6EECF244321}">
                <p14:modId xmlns:p14="http://schemas.microsoft.com/office/powerpoint/2010/main" val="2478001542"/>
              </p:ext>
            </p:extLst>
          </p:nvPr>
        </p:nvGraphicFramePr>
        <p:xfrm>
          <a:off x="2964625" y="1876275"/>
          <a:ext cx="6062675" cy="46609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void Iniciar()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vista.MostrarBanner();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(!RealizarLogin())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vista.MostrarMensaje("Acceso cancelado. Finalizando programa.");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BucleMenuPrincipal();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private bool RealizarLogin()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Console.WriteLine("\n--- INICIO DE SESIÓN ---");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Console.WriteLine("(Credenciales oficiales: MONSTER / MONSTER9)");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while (true)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string usuario = vista.LeerTexto("Usuario");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string contrasenia = vista.LeerContrasenia("Contraseña");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if (string.IsNullOrEmpty(usuario) || string.IsNullOrEmpty(contrasenia))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vista.MostrarMensaje("Por favor complete todos los campos.");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continue;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try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string token = appControlador.Login(usuario, contrasenia);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if (!string.IsNullOrWhiteSpace(token))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...</a:t>
                      </a:r>
                      <a:endParaRPr sz="8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259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35" name="Google Shape;335;p42"/>
          <p:cNvSpPr txBox="1">
            <a:spLocks noGrp="1"/>
          </p:cNvSpPr>
          <p:nvPr>
            <p:ph type="body" idx="1"/>
          </p:nvPr>
        </p:nvSpPr>
        <p:spPr>
          <a:xfrm>
            <a:off x="122574" y="2429475"/>
            <a:ext cx="2155925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36" name="Google Shape;336;p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37" name="Google Shape;337;p42"/>
          <p:cNvGraphicFramePr/>
          <p:nvPr>
            <p:extLst>
              <p:ext uri="{D42A27DB-BD31-4B8C-83A1-F6EECF244321}">
                <p14:modId xmlns:p14="http://schemas.microsoft.com/office/powerpoint/2010/main" val="414252403"/>
              </p:ext>
            </p:extLst>
          </p:nvPr>
        </p:nvGraphicFramePr>
        <p:xfrm>
          <a:off x="2278500" y="1818850"/>
          <a:ext cx="5439425" cy="42418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3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private void BucleMenuPrincipal()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bool continuar = true;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while (continuar)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vista.MostrarMenuPrincipal();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int opcion = vista.LeerEntero("Seleccione una opción", 1, 4);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switch (opcion)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case 1: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ProcesarLongitud();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break;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case 2: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ProcesarMasa();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break;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case 3: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ProcesarTemperatura();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break;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case 4: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continuar = false;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vista.MostrarMensaje("¡Gracias por utilizar el WS Conversor! Hasta luego.");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break;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8689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44" name="Google Shape;344;p4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45" name="Google Shape;345;p43"/>
          <p:cNvGraphicFramePr/>
          <p:nvPr>
            <p:extLst>
              <p:ext uri="{D42A27DB-BD31-4B8C-83A1-F6EECF244321}">
                <p14:modId xmlns:p14="http://schemas.microsoft.com/office/powerpoint/2010/main" val="1569123443"/>
              </p:ext>
            </p:extLst>
          </p:nvPr>
        </p:nvGraphicFramePr>
        <p:xfrm>
          <a:off x="2043325" y="2041263"/>
          <a:ext cx="3522650" cy="43561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352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72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ServiceReference1;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namespace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ec.edu.monster.modelo</a:t>
                      </a:r>
                      <a:endParaRPr lang="es-ES" sz="75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ConversorService</a:t>
                      </a:r>
                      <a:endParaRPr lang="es-ES" sz="750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Login(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usuario,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cliente = new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WSConversorUnidadesClient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cliente.loginAsync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(usuario,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).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GetAwaiter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().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GetResult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ConvertirLongitud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valor,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unidadInicial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unidadFinal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cliente = new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WSConversorUnidadesClient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cliente.ConvertirLongitudAsync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(valor,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unidadInicial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unidadFinal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).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GetAwaiter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().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GetResult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ConvertirMasa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valor,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unidadInicial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unidadFinal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cliente = new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WSConversorUnidadesClient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cliente.ConvertirMasaAsync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(valor,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unidadInicial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unidadFinal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).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GetAwaiter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().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GetResult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ConvertirTemperatura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valor,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unidadInicial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unidadFinal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cliente = new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WSConversorUnidadesClient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cliente.ConvertirTemperaturaAsync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(valor,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unidadInicial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unidadFinal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).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GetAwaiter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().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GetResult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75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6" name="Google Shape;346;p43"/>
          <p:cNvGraphicFramePr/>
          <p:nvPr>
            <p:extLst>
              <p:ext uri="{D42A27DB-BD31-4B8C-83A1-F6EECF244321}">
                <p14:modId xmlns:p14="http://schemas.microsoft.com/office/powerpoint/2010/main" val="4177970158"/>
              </p:ext>
            </p:extLst>
          </p:nvPr>
        </p:nvGraphicFramePr>
        <p:xfrm>
          <a:off x="5684675" y="2041263"/>
          <a:ext cx="3699025" cy="43942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369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72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string LeerTexto(string etiqueta)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Console.Write($"{etiqueta}: 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Console.ReadLine()?.Trim() ?? string.Empty;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double LeerDouble(string etiqueta)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while (true)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Console.Write($"{etiqueta}: 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string? input = Console.ReadLine()?.Trim();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if (!string.IsNullOrEmpty(input))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string normalizado = input.Replace(',', '.');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if (double.TryParse(normalizado, NumberStyles.Float, CultureInfo.InvariantCulture, out double valor))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return valor;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Console.WriteLine(" [!] Por favor ingrese un número válido.");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void MostrarResultado(double resultado)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Console.WriteLine();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Console.WriteLine("==================================================");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Console.WriteLine($"Resultado: {resultado.ToString(CultureInfo.InvariantCulture)}");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Console.WriteLine("==================================================");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  <a:endParaRPr sz="8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327;p41">
            <a:extLst>
              <a:ext uri="{FF2B5EF4-FFF2-40B4-BE49-F238E27FC236}">
                <a16:creationId xmlns:a16="http://schemas.microsoft.com/office/drawing/2014/main" id="{639BF7F0-0B34-6054-795B-80095FE408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2041263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2364692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0" name="Google Shape;370;p46"/>
          <p:cNvSpPr txBox="1">
            <a:spLocks noGrp="1"/>
          </p:cNvSpPr>
          <p:nvPr>
            <p:ph type="body" idx="1"/>
          </p:nvPr>
        </p:nvSpPr>
        <p:spPr>
          <a:xfrm>
            <a:off x="122574" y="2429475"/>
            <a:ext cx="3063077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puede verificar que el cliente funciona de forma correcta, se levanta y tiene comunicación </a:t>
            </a:r>
            <a:endParaRPr sz="1400" b="1" dirty="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∙"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1" name="Google Shape;371;p4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Captura GR04">
            <a:extLst>
              <a:ext uri="{FF2B5EF4-FFF2-40B4-BE49-F238E27FC236}">
                <a16:creationId xmlns:a16="http://schemas.microsoft.com/office/drawing/2014/main" id="{0D5EDD95-6F93-7748-CFED-8246D822EC2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254479" y="2418012"/>
            <a:ext cx="5751872" cy="353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912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35" name="Google Shape;535;p66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36" name="Google Shape;536;p66"/>
          <p:cNvSpPr txBox="1">
            <a:spLocks noGrp="1"/>
          </p:cNvSpPr>
          <p:nvPr>
            <p:ph type="body" idx="1"/>
          </p:nvPr>
        </p:nvSpPr>
        <p:spPr>
          <a:xfrm>
            <a:off x="581200" y="1971803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3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Para el cliente de escritorio se creó en Visual Studio un proyecto Windows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Forms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 (.NET 8) con arquitectura MVC (carpetas controlador, modelo y vista). El cliente consume el servicio SOAP mediante el proxy generado a partir del WSDL (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Connected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Services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 &gt; ServiceReference1).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538" name="Google Shape;538;p66"/>
          <p:cNvGraphicFramePr/>
          <p:nvPr>
            <p:extLst>
              <p:ext uri="{D42A27DB-BD31-4B8C-83A1-F6EECF244321}">
                <p14:modId xmlns:p14="http://schemas.microsoft.com/office/powerpoint/2010/main" val="937470727"/>
              </p:ext>
            </p:extLst>
          </p:nvPr>
        </p:nvGraphicFramePr>
        <p:xfrm>
          <a:off x="2332838" y="3093527"/>
          <a:ext cx="6484300" cy="3538411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System.Windows.Forms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ec.edu.monster.vista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6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namespace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WSConversorEscCliente</a:t>
                      </a:r>
                      <a:endParaRPr lang="es-ES" sz="6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internal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</a:t>
                      </a:r>
                      <a:endParaRPr lang="es-ES" sz="6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[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STAThread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]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void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Main()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ApplicationConfiguration.Initialize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Application.Run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(new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LoginView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6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Login(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usuario,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service.Login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(usuario,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6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ConvertirLongitud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n1,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unidadInicial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unidadFinal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service.ConvertirLongitud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(n1,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unidadInicial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unidadFinal</a:t>
                      </a: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  <a:endParaRPr sz="6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9" name="Google Shape;539;p66"/>
          <p:cNvSpPr txBox="1"/>
          <p:nvPr/>
        </p:nvSpPr>
        <p:spPr>
          <a:xfrm>
            <a:off x="122575" y="1676522"/>
            <a:ext cx="7232400" cy="77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1.4 	CREACIÓN DEL PROYECTO – CLIENTE ESCRITORIO</a:t>
            </a:r>
            <a:br>
              <a:rPr lang="es-ES" sz="1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8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" name="Google Shape;327;p41">
            <a:extLst>
              <a:ext uri="{FF2B5EF4-FFF2-40B4-BE49-F238E27FC236}">
                <a16:creationId xmlns:a16="http://schemas.microsoft.com/office/drawing/2014/main" id="{3EE05445-D2B2-9EE9-BA73-EC00E68A3878}"/>
              </a:ext>
            </a:extLst>
          </p:cNvPr>
          <p:cNvSpPr txBox="1">
            <a:spLocks/>
          </p:cNvSpPr>
          <p:nvPr/>
        </p:nvSpPr>
        <p:spPr>
          <a:xfrm>
            <a:off x="93840" y="2513447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-327406">
              <a:lnSpc>
                <a:spcPct val="150000"/>
              </a:lnSpc>
              <a:spcBef>
                <a:spcPts val="0"/>
              </a:spcBef>
              <a:buSzPts val="1556"/>
              <a:buFont typeface="Noto Sans Symbols"/>
              <a:buChar char="∙"/>
            </a:pP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</a:p>
          <a:p>
            <a:pPr indent="-304800" algn="just">
              <a:lnSpc>
                <a:spcPct val="107000"/>
              </a:lnSpc>
              <a:spcBef>
                <a:spcPts val="0"/>
              </a:spcBef>
              <a:buSzPts val="1200"/>
              <a:buFont typeface="Cambria"/>
              <a:buChar char="∙"/>
            </a:pPr>
            <a:endParaRPr lang="es-MX"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7487732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45" name="Google Shape;545;p67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547" name="Google Shape;547;p67"/>
          <p:cNvGraphicFramePr/>
          <p:nvPr>
            <p:extLst>
              <p:ext uri="{D42A27DB-BD31-4B8C-83A1-F6EECF244321}">
                <p14:modId xmlns:p14="http://schemas.microsoft.com/office/powerpoint/2010/main" val="3615288435"/>
              </p:ext>
            </p:extLst>
          </p:nvPr>
        </p:nvGraphicFramePr>
        <p:xfrm>
          <a:off x="2332838" y="2136238"/>
          <a:ext cx="6484300" cy="45161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using System;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using ServiceReference1;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 b="0" i="0" u="none" strike="noStrike" cap="none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namespace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ec.edu.monster.modelo</a:t>
                      </a:r>
                      <a:endParaRPr lang="en-US" sz="900" b="0" i="0" u="none" strike="noStrike" cap="none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public class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ConversorService</a:t>
                      </a:r>
                      <a:endParaRPr lang="en-US" sz="900" b="0" i="0" u="none" strike="noStrike" cap="none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public string Login(string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usuario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, string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contrasenia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    using var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cliente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= new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WSConversorUnidadesClient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    return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cliente.loginAsync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usuario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,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contrasenia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).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GetAwaiter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().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GetResult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 b="0" i="0" u="none" strike="noStrike" cap="none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public double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ConvertirLongitud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(double valor, string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unidadInicial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, string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unidadFinal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    using var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cliente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= new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WSConversorUnidadesClient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    return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cliente.ConvertirLongitudAsync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(valor,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unidadInicial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,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unidadFinal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).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GetAwaiter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().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GetResult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 b="0" i="0" u="none" strike="noStrike" cap="none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public double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ConvertirMasa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(double valor, string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unidadInicial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, string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unidadFinal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    using var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cliente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= new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WSConversorUnidadesClient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    return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cliente.ConvertirMasaAsync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(valor,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unidadInicial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,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unidadFinal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).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GetAwaiter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().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GetResult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 b="0" i="0" u="none" strike="noStrike" cap="none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public double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ConvertirTemperatura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(double valor, string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unidadInicial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, string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unidadFinal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    using var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cliente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= new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WSConversorUnidadesClient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    return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cliente.ConvertirTemperaturaAsync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(valor,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unidadInicial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, 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unidadFinal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).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GetAwaiter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().</a:t>
                      </a:r>
                      <a:r>
                        <a:rPr lang="en-US" sz="900" b="0" i="0" u="none" strike="noStrike" cap="none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GetResult</a:t>
                      </a: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}</a:t>
                      </a:r>
                      <a:endParaRPr sz="900" b="0" i="0" u="none" strike="noStrike" cap="none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327;p41">
            <a:extLst>
              <a:ext uri="{FF2B5EF4-FFF2-40B4-BE49-F238E27FC236}">
                <a16:creationId xmlns:a16="http://schemas.microsoft.com/office/drawing/2014/main" id="{839D781F-1BEF-88FE-1617-3BC49322A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916" y="2033591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0346193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53" name="Google Shape;553;p68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555" name="Google Shape;555;p68"/>
          <p:cNvGraphicFramePr/>
          <p:nvPr>
            <p:extLst>
              <p:ext uri="{D42A27DB-BD31-4B8C-83A1-F6EECF244321}">
                <p14:modId xmlns:p14="http://schemas.microsoft.com/office/powerpoint/2010/main" val="1795953802"/>
              </p:ext>
            </p:extLst>
          </p:nvPr>
        </p:nvGraphicFramePr>
        <p:xfrm>
          <a:off x="2332836" y="2040465"/>
          <a:ext cx="6484300" cy="463804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private void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btnIngresar_Click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(object? sender, EventArgs e)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string user =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txtUsuario.Text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!= null ?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txtUsuario.Text.Trim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() : "";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string pass =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txtPassword.Text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!= null ?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txtPassword.Text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: "";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if (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string.IsNullOrEmpty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(user) ||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string.IsNullOrEmpty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(pass))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MessageBox.Show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(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    "Por favor escribe el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usuario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y la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contraseña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para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continuar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.",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    "Campos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Requeridos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",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   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MessageBoxButtons.OK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,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   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MessageBoxIcon.Warning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return;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try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AppControlador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control = new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AppControlador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string token =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control.Login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(user, pass);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if (!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string.IsNullOrWhiteSpace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(token))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   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MessageBox.Show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(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        $"¡Bienvenido, {user}!\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nInicio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de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sesión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exitoso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.",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        "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Acceso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Concedido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",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       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MessageBoxButtons.OK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,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       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MessageBoxIcon.Information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00" dirty="0">
                        <a:solidFill>
                          <a:srgbClr val="0070C0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   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ConversorView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vistaPrincipal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= new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ConversorView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   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vistaPrincipal.Show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   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this.Hide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else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   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MessageBox.Show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(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                    "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Usuario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o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contraseña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incorrectos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.\n\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nVerifica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tus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credenciales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e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intenta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0070C0"/>
                          </a:solidFill>
                        </a:rPr>
                        <a:t>nuevamente</a:t>
                      </a: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.",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rgbClr val="0070C0"/>
                          </a:solidFill>
                        </a:rPr>
                        <a:t>    // ...</a:t>
                      </a:r>
                      <a:endParaRPr sz="800" dirty="0">
                        <a:solidFill>
                          <a:srgbClr val="0070C0"/>
                        </a:solidFill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327;p41">
            <a:extLst>
              <a:ext uri="{FF2B5EF4-FFF2-40B4-BE49-F238E27FC236}">
                <a16:creationId xmlns:a16="http://schemas.microsoft.com/office/drawing/2014/main" id="{286F38BA-6342-E78E-5D6A-7E0B7C40CE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084" y="204046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8174550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61" name="Google Shape;561;p69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563" name="Google Shape;563;p69"/>
          <p:cNvGraphicFramePr/>
          <p:nvPr>
            <p:extLst>
              <p:ext uri="{D42A27DB-BD31-4B8C-83A1-F6EECF244321}">
                <p14:modId xmlns:p14="http://schemas.microsoft.com/office/powerpoint/2010/main" val="2499667476"/>
              </p:ext>
            </p:extLst>
          </p:nvPr>
        </p:nvGraphicFramePr>
        <p:xfrm>
          <a:off x="2332825" y="1914088"/>
          <a:ext cx="6484300" cy="48514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void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btnConvertir_Click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sender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EventArgs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txtVal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txtValor.Text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!=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?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txtValor.Text.Trim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 : "";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string.IsNullOrEmpty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txtVal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MessageBox.Show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"Por favor ingresa un número para realizar la conversión.",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"Valor Requerido",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MessageBoxButtons.OK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MessageBoxIcon.Warning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txtValor.Focus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// Permite punto o coma decimal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normalizado =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txtVal.Replace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(',', '.');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(!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double.TryParse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(normalizado,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NumberStyles.Float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CultureInfo.InvariantCulture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MessageBox.Show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"El valor ingresado no es un número válido.\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nPor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favor escribe un número (ejemplo: 25 o 12.5).",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"Formato Inválido",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MessageBoxButtons.OK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MessageBoxIcon.Warning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txtValor.SelectAll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txtValor.Focus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unidadInicial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cmbUndInit.SelectedItem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as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?? "";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unidadFinal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cmbUndFinal.SelectedItem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as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?? "";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...</a:t>
                      </a:r>
                      <a:endParaRPr sz="1000" dirty="0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327;p41">
            <a:extLst>
              <a:ext uri="{FF2B5EF4-FFF2-40B4-BE49-F238E27FC236}">
                <a16:creationId xmlns:a16="http://schemas.microsoft.com/office/drawing/2014/main" id="{0D54BCAC-59CD-8AD8-ECF9-554AC1B796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25" y="1901053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7112076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69" name="Google Shape;569;p70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1" name="Google Shape;571;p70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Captura GR04">
            <a:extLst>
              <a:ext uri="{FF2B5EF4-FFF2-40B4-BE49-F238E27FC236}">
                <a16:creationId xmlns:a16="http://schemas.microsoft.com/office/drawing/2014/main" id="{482D71C7-6EB2-43B5-907B-E8C65616090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978700" y="2228652"/>
            <a:ext cx="4011397" cy="399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299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8" name="Google Shape;578;p71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Captura GR04">
            <a:extLst>
              <a:ext uri="{FF2B5EF4-FFF2-40B4-BE49-F238E27FC236}">
                <a16:creationId xmlns:a16="http://schemas.microsoft.com/office/drawing/2014/main" id="{A4B89F49-DD7A-BBDC-F799-7C9CD790168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228317" y="2610550"/>
            <a:ext cx="5393267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9755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93" name="Google Shape;593;p73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94" name="Google Shape;594;p73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3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Para el cliente web se creó un proyecto ASP.NET Core Web App (Model-View-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Controller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) en .NET 8 con sesiones en memoria. Los controladores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LoginController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 y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ConversorController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 invocan a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AppControlador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 y renderizan las vistas Razor (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cshtml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).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596" name="Google Shape;596;p73"/>
          <p:cNvGraphicFramePr/>
          <p:nvPr>
            <p:extLst>
              <p:ext uri="{D42A27DB-BD31-4B8C-83A1-F6EECF244321}">
                <p14:modId xmlns:p14="http://schemas.microsoft.com/office/powerpoint/2010/main" val="2805401355"/>
              </p:ext>
            </p:extLst>
          </p:nvPr>
        </p:nvGraphicFramePr>
        <p:xfrm>
          <a:off x="2332838" y="3073863"/>
          <a:ext cx="6484300" cy="341884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LoginController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: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Controller</a:t>
                      </a:r>
                      <a:endParaRPr lang="es-ES" sz="8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[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HttpPost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]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[Route("Login")]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[Route("Login/Index")]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[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ValidateAntiForgeryToken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]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IActionResult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Index(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LoginViewModel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usuario =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model.Usuario?.Trim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 ?? "";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model.Contrasenia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?? "";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string.IsNullOrEmpty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(usuario) ||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string.IsNullOrEmpty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model.MensajeError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"Por favor escribe el usuario y la contraseña para continuar.";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View("~/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Views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/Login/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Index.cshtml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",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try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token =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controlador.Login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(usuario,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(!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string.IsNullOrWhiteSpace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(token))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HttpContext.Session.SetString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("Usuario", usuario);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HttpContext.Session.SetString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("Token", token);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...</a:t>
                      </a:r>
                      <a:endParaRPr sz="8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327;p41">
            <a:extLst>
              <a:ext uri="{FF2B5EF4-FFF2-40B4-BE49-F238E27FC236}">
                <a16:creationId xmlns:a16="http://schemas.microsoft.com/office/drawing/2014/main" id="{0DE11253-B470-4F4A-DEB0-A1D975374E25}"/>
              </a:ext>
            </a:extLst>
          </p:cNvPr>
          <p:cNvSpPr txBox="1">
            <a:spLocks/>
          </p:cNvSpPr>
          <p:nvPr/>
        </p:nvSpPr>
        <p:spPr>
          <a:xfrm>
            <a:off x="200438" y="2215729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-327406">
              <a:lnSpc>
                <a:spcPct val="150000"/>
              </a:lnSpc>
              <a:spcBef>
                <a:spcPts val="0"/>
              </a:spcBef>
              <a:buSzPts val="1556"/>
              <a:buFont typeface="Noto Sans Symbols"/>
              <a:buChar char="∙"/>
            </a:pP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</a:p>
          <a:p>
            <a:pPr indent="-304800" algn="just">
              <a:lnSpc>
                <a:spcPct val="107000"/>
              </a:lnSpc>
              <a:spcBef>
                <a:spcPts val="0"/>
              </a:spcBef>
              <a:buSzPts val="1200"/>
              <a:buFont typeface="Cambria"/>
              <a:buChar char="∙"/>
            </a:pPr>
            <a:endParaRPr lang="es-MX"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8531154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602" name="Google Shape;602;p74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604" name="Google Shape;604;p74"/>
          <p:cNvGraphicFramePr/>
          <p:nvPr>
            <p:extLst>
              <p:ext uri="{D42A27DB-BD31-4B8C-83A1-F6EECF244321}">
                <p14:modId xmlns:p14="http://schemas.microsoft.com/office/powerpoint/2010/main" val="2560240076"/>
              </p:ext>
            </p:extLst>
          </p:nvPr>
        </p:nvGraphicFramePr>
        <p:xfrm>
          <a:off x="2322948" y="1835538"/>
          <a:ext cx="6484300" cy="49276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[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HttpPost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]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[Route("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Conversor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Convertir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")]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[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ValidateAntiForgeryToken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]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public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IActionResult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Convertir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ConversorViewModel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model)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string? token =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HttpContext.Session.GetString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("Token");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string?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HttpContext.Session.GetString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string.IsNullOrEmpty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(token))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RedirectToAction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("Index", "Login");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model.NombreUsuario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?? "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model.Historial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ObtenerHistorial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ConfigurarUnidades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(model);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txtVal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model.Valor?.Trim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 ?? "";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string.IsNullOrEmpty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txtVal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model.MensajeError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"Por favor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ingresa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un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número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para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realizar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la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conversión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.";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 View("~/Views/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Conversor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Index.cshtml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", model);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normalizado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txtVal.Replace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(',', '.');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(!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double.TryParse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normalizado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NumberStyles.Float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CultureInfo.InvariantCulture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out double num))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model.MensajeError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"El valor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ingresado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no es un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número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válido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Por favor escribe un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número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25 o 12.5).";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 View("~/Views/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Conversor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Index.cshtml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", model);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try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double </a:t>
                      </a:r>
                      <a:r>
                        <a:rPr lang="en-U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</a:t>
                      </a: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...</a:t>
                      </a:r>
                      <a:endParaRPr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327;p41">
            <a:extLst>
              <a:ext uri="{FF2B5EF4-FFF2-40B4-BE49-F238E27FC236}">
                <a16:creationId xmlns:a16="http://schemas.microsoft.com/office/drawing/2014/main" id="{CBC306FE-F1C9-44D6-0689-98F1205446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38" y="2061838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7782321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10" name="Google Shape;610;p75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612" name="Google Shape;612;p75"/>
          <p:cNvGraphicFramePr/>
          <p:nvPr>
            <p:extLst>
              <p:ext uri="{D42A27DB-BD31-4B8C-83A1-F6EECF244321}">
                <p14:modId xmlns:p14="http://schemas.microsoft.com/office/powerpoint/2010/main" val="2409623853"/>
              </p:ext>
            </p:extLst>
          </p:nvPr>
        </p:nvGraphicFramePr>
        <p:xfrm>
          <a:off x="2332825" y="1795025"/>
          <a:ext cx="6484300" cy="4599051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5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@model ec.edu.monster.modelo.LoginViewModel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Layout = null;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&lt;!DOCTYPE html&gt;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&lt;html lang="es"&gt;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&lt;head&gt;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&lt;meta charset="UTF-8"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&lt;meta name="viewport" content="width=device-width, initial-scale=1.0"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&lt;title&gt;Iniciar Sesión - Conversor SOAP (ASP.NET Core MVC)&lt;/title&gt;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&lt;style&gt;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body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font-family: -apple-system, BlinkMacSystemFont, "Segoe UI", Roboto, "Helvetica Neue", Arial, sans-serif;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background-color: #f8f9fa;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margin: 0;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padding: 0;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.login-card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text-align: center;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margin-top: 50px;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border: 1px solid #999;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padding: 25px;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border-radius: 8px;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width: 380px;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background-color: #fff;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box-shadow: 0 4px 10px rgba(0,0,0,0.08);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.form-table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text-align: left;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width: 100%;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margin-top: 10px;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.form-table td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padding: 8px;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...</a:t>
                      </a:r>
                      <a:endParaRPr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327;p41">
            <a:extLst>
              <a:ext uri="{FF2B5EF4-FFF2-40B4-BE49-F238E27FC236}">
                <a16:creationId xmlns:a16="http://schemas.microsoft.com/office/drawing/2014/main" id="{DFB33BC2-6BCD-334B-639D-8B0777A6DA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25" y="1943451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608264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18" name="Google Shape;618;p76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20" name="Google Shape;620;p76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Captura GR04">
            <a:extLst>
              <a:ext uri="{FF2B5EF4-FFF2-40B4-BE49-F238E27FC236}">
                <a16:creationId xmlns:a16="http://schemas.microsoft.com/office/drawing/2014/main" id="{BE4860D2-8CA6-453C-64E9-8A119774C1C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41523" y="2104103"/>
            <a:ext cx="3954816" cy="390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345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26" name="Google Shape;626;p77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27" name="Google Shape;627;p77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Conversor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Captura GR04">
            <a:extLst>
              <a:ext uri="{FF2B5EF4-FFF2-40B4-BE49-F238E27FC236}">
                <a16:creationId xmlns:a16="http://schemas.microsoft.com/office/drawing/2014/main" id="{6A8FE64E-BC54-E0ED-A771-7F446D409B3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062969" y="2522350"/>
            <a:ext cx="5468737" cy="389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9055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1" name="Google Shape;641;p79"/>
          <p:cNvGraphicFramePr/>
          <p:nvPr>
            <p:extLst>
              <p:ext uri="{D42A27DB-BD31-4B8C-83A1-F6EECF244321}">
                <p14:modId xmlns:p14="http://schemas.microsoft.com/office/powerpoint/2010/main" val="159396771"/>
              </p:ext>
            </p:extLst>
          </p:nvPr>
        </p:nvGraphicFramePr>
        <p:xfrm>
          <a:off x="2332838" y="3120928"/>
          <a:ext cx="6484300" cy="3661575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1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ConversorService</a:t>
                      </a:r>
                      <a:endParaRPr lang="es-ES" sz="7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EndpointUrl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{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 set; } =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DeviceInfo.Platform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==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DevicePlatform.Android</a:t>
                      </a:r>
                      <a:endParaRPr lang="es-ES" sz="7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? "http://10.0.2.2:55981/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ServicioWeb.svc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: "http://localhost:55981/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ServicioWeb.svc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7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7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WSConversorUnidadesClient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CrearCliente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cliente = new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WSConversorUnidadesClient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WSConversorUnidadesClient.EndpointConfiguration.BasicHttpBinding_IWSConversorUnidades,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EndpointUrl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7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uri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new Uri(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EndpointUrl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(!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uri.Host.Equals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("localhost",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StringComparison.OrdinalIgnoreCase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cliente.Endpoint.EndpointBehaviors.Add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(new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IisExpressHostHeaderBehavior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($"localhost:{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uri.Port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}"));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7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cliente;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7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async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LoginAsync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usuario,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cliente =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CrearCliente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await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cliente.loginAsync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(usuario, </a:t>
                      </a:r>
                      <a:r>
                        <a:rPr lang="es-ES" sz="7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  <a:endParaRPr sz="7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2" name="Google Shape;642;p7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43" name="Google Shape;643;p7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44" name="Google Shape;644;p79"/>
          <p:cNvSpPr txBox="1"/>
          <p:nvPr/>
        </p:nvSpPr>
        <p:spPr>
          <a:xfrm>
            <a:off x="406975" y="1833389"/>
            <a:ext cx="85767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1.6</a:t>
            </a: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 	CREACIÓN DEL PROYECTO – CLIENTE MÓVIL</a:t>
            </a:r>
            <a:b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800" b="0" i="0" u="none" strike="noStrike" cap="non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6" name="Google Shape;646;p79"/>
          <p:cNvSpPr txBox="1">
            <a:spLocks noGrp="1"/>
          </p:cNvSpPr>
          <p:nvPr>
            <p:ph type="body" idx="1"/>
          </p:nvPr>
        </p:nvSpPr>
        <p:spPr>
          <a:xfrm>
            <a:off x="581200" y="1961972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3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Para el cliente móvil se creó un proyecto .NET MAUI App (net9.0) con arquitectura MVC. Consume el servicio SOAP mediante el proxy WCF (ServiceReference1) y usa 10.0.2.2 como dirección del servidor cuando se ejecuta en Android (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ConversorService.EndpointUrl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).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327;p41">
            <a:extLst>
              <a:ext uri="{FF2B5EF4-FFF2-40B4-BE49-F238E27FC236}">
                <a16:creationId xmlns:a16="http://schemas.microsoft.com/office/drawing/2014/main" id="{F8256CF7-35B6-3BF7-D062-C0896244C16A}"/>
              </a:ext>
            </a:extLst>
          </p:cNvPr>
          <p:cNvSpPr txBox="1">
            <a:spLocks/>
          </p:cNvSpPr>
          <p:nvPr/>
        </p:nvSpPr>
        <p:spPr>
          <a:xfrm>
            <a:off x="200438" y="3261455"/>
            <a:ext cx="2132400" cy="3181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-327406">
              <a:lnSpc>
                <a:spcPct val="150000"/>
              </a:lnSpc>
              <a:spcBef>
                <a:spcPts val="0"/>
              </a:spcBef>
              <a:buSzPts val="1556"/>
              <a:buFont typeface="Noto Sans Symbols"/>
              <a:buChar char="∙"/>
            </a:pP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</a:p>
          <a:p>
            <a:pPr indent="-304800" algn="just">
              <a:lnSpc>
                <a:spcPct val="107000"/>
              </a:lnSpc>
              <a:spcBef>
                <a:spcPts val="0"/>
              </a:spcBef>
              <a:buSzPts val="1200"/>
              <a:buFont typeface="Cambria"/>
              <a:buChar char="∙"/>
            </a:pPr>
            <a:endParaRPr lang="es-MX"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7618008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1" name="Google Shape;651;p80"/>
          <p:cNvGraphicFramePr/>
          <p:nvPr>
            <p:extLst>
              <p:ext uri="{D42A27DB-BD31-4B8C-83A1-F6EECF244321}">
                <p14:modId xmlns:p14="http://schemas.microsoft.com/office/powerpoint/2010/main" val="1570602688"/>
              </p:ext>
            </p:extLst>
          </p:nvPr>
        </p:nvGraphicFramePr>
        <p:xfrm>
          <a:off x="2313174" y="1845988"/>
          <a:ext cx="6484300" cy="488188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async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void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btnIngresar_Clicked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sender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EventArgs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txtUsuario.Text?.Trim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 ?? "";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txtPassword.Text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?? "";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txtEndpointUrl.Text?.Trim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 ?? "";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lblMensaje.IsVisible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false;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string.IsNullOrEmpty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||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string.IsNullOrEmpty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await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DisplayAlert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("Campos Requeridos", "Por favor escribe el usuario y la contraseña para continuar.", "Aceptar");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(!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string.IsNullOrWhiteSpace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ConversorService.EndpointUrl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SetCargando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(true);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try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token =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await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controlador.LoginAsync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(!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string.IsNullOrWhiteSpace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(token))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await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DisplayAlert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("Acceso Concedido", $"¡Bienvenido, {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}!\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nInicio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sesión exitoso.", "Continuar");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// Navegar a la vista del conversor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await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Navigation.PushAsync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(new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ConversorView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else</a:t>
                      </a:r>
                      <a:endParaRPr lang="es-ES" sz="8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lblMensaje.Text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"Usuario o contraseña incorrectos.\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nVerifica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tus credenciales e intenta nuevamente.";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lblMensaje.IsVisible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true;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await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DisplayAlert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("Error de Autenticación", "Usuario o contraseña incorrectos.\</a:t>
                      </a:r>
                      <a:r>
                        <a:rPr lang="es-ES" sz="8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nVerifica</a:t>
                      </a: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tus credenciales e intenta nuevamente.", "Aceptar");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...</a:t>
                      </a:r>
                      <a:endParaRPr sz="8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2" name="Google Shape;652;p8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53" name="Google Shape;653;p8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" name="Google Shape;327;p41">
            <a:extLst>
              <a:ext uri="{FF2B5EF4-FFF2-40B4-BE49-F238E27FC236}">
                <a16:creationId xmlns:a16="http://schemas.microsoft.com/office/drawing/2014/main" id="{A965DD03-B233-23B8-87D2-6EDA6C9F68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6400" y="1936278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9684140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9" name="Google Shape;659;p81"/>
          <p:cNvGraphicFramePr/>
          <p:nvPr>
            <p:extLst>
              <p:ext uri="{D42A27DB-BD31-4B8C-83A1-F6EECF244321}">
                <p14:modId xmlns:p14="http://schemas.microsoft.com/office/powerpoint/2010/main" val="4217895919"/>
              </p:ext>
            </p:extLst>
          </p:nvPr>
        </p:nvGraphicFramePr>
        <p:xfrm>
          <a:off x="2332825" y="1795025"/>
          <a:ext cx="6484300" cy="4838002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private async void btnConvertir_Clicked(object sender, EventArgs e)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lblError.IsVisible = false;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txtVal = txtValor.Text?.Trim() ?? "";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(string.IsNullOrEmpty(txtVal))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await DisplayAlert("Valor Requerido", "Por favor ingresa un número para realizar la conversión.", "Aceptar");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txtValor.Focus();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// Permite punto o coma decimal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normalizado = txtVal.Replace(',', '.');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(!double.TryParse(normalizado, NumberStyles.Float, CultureInfo.InvariantCulture, out double num))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await DisplayAlert("Formato Inválido", "El valor ingresado no es un número válido.\nPor favor escribe un número (ejemplo: 25 o 12.5).", "Aceptar");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txtValor.Focus();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unidadInicial = cmbUndInit.SelectedItem as string ?? "";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unidadFinal = cmbUndFinal.SelectedItem as string ?? "";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tipo = cmbMagnitud.SelectedItem as string ?? "LONGITUD";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(string.IsNullOrEmpty(unidadInicial) || string.IsNullOrEmpty(unidadFinal))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await DisplayAlert("Unidades Requeridas", "Selecciona las unidades de origen y destino.", "Aceptar");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SetCargando(true);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try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double conversion;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if ("MASA".Equals(tipo, StringComparison.OrdinalIgnoreCase))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conversion = await controlador.ConvertirMasaAsync(num, unidadInicial, unidadFinal);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else if ("TEMPERATURA".Equals(tipo, StringComparison.OrdinalIgnoreCase))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...</a:t>
                      </a:r>
                      <a:endParaRPr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0" name="Google Shape;660;p8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61" name="Google Shape;661;p8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" name="Google Shape;327;p41">
            <a:extLst>
              <a:ext uri="{FF2B5EF4-FFF2-40B4-BE49-F238E27FC236}">
                <a16:creationId xmlns:a16="http://schemas.microsoft.com/office/drawing/2014/main" id="{09D658E0-E389-5046-5C39-78FA18E175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25" y="1947624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6592182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68" name="Google Shape;668;p82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69" name="Google Shape;669;p82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Captura GR04">
            <a:extLst>
              <a:ext uri="{FF2B5EF4-FFF2-40B4-BE49-F238E27FC236}">
                <a16:creationId xmlns:a16="http://schemas.microsoft.com/office/drawing/2014/main" id="{E52C10F7-3594-E732-4E58-C4669FC3BA9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982648" y="1715850"/>
            <a:ext cx="2206080" cy="49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3379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76" name="Google Shape;676;p83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77" name="Google Shape;677;p83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Conversor de unidades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Captura GR04">
            <a:extLst>
              <a:ext uri="{FF2B5EF4-FFF2-40B4-BE49-F238E27FC236}">
                <a16:creationId xmlns:a16="http://schemas.microsoft.com/office/drawing/2014/main" id="{21960336-3679-2C93-E069-46E0CAD9B1B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295373" y="1868350"/>
            <a:ext cx="2122504" cy="471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398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692" name="Google Shape;692;p8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La culminación de este proyecto evidencia la efectividad de una Arquitectura Orientada a Servicios (SOA) al integrar un servidor SOAP desarrollado en .NET (WCF sobre IIS Express) con clientes de consola, escritorio (Windows Forms), web (ASP.NET Core MVC) y móvil (.NET MAUI). La integración se validó mediante el contrato WSDL y las referencias de servicio generadas en cada cliente, junto con la arquitectura MVC aplicada en los clientes, lo que garantiza una solución interoperable.</a:t>
            </a:r>
            <a:endParaRPr sz="1900"/>
          </a:p>
        </p:txBody>
      </p:sp>
      <p:sp>
        <p:nvSpPr>
          <p:cNvPr id="693" name="Google Shape;693;p8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37212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699" name="Google Shape;699;p86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Integrar una base de datos (BDD) formal para reemplazar el manejo de credenciales quemadas en código y permitir el almacenamiento histórico de las conversiones de manera persistente.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Validar el token en el servidor (por ejemplo, con un encabezado SOAP verificado por un inspector de mensajes) y hacer que los clientes lo envíen, ya que actualmente solo se genera en el login. Usar HTTPS en producción.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 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Establecer la configuración includeExceptionDetailInFaults en false y deshabilitar el directoryBrowse del Web.config antes de desplegar el servicio.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00" name="Google Shape;700;p8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547363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7939</Words>
  <Application>Microsoft Office PowerPoint</Application>
  <PresentationFormat>Panorámica</PresentationFormat>
  <Paragraphs>1513</Paragraphs>
  <Slides>49</Slides>
  <Notes>49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5" baseType="lpstr">
      <vt:lpstr>Noto Sans Symbols</vt:lpstr>
      <vt:lpstr>Cambria</vt:lpstr>
      <vt:lpstr>Gill Sans</vt:lpstr>
      <vt:lpstr>Arial</vt:lpstr>
      <vt:lpstr>Calibri</vt:lpstr>
      <vt:lpstr>Dividendo</vt:lpstr>
      <vt:lpstr>MANUAL CONVERSIÓN UNIDADES SOAP DOTNET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ANTHONY ALAIN MORALES CARVAJAL</cp:lastModifiedBy>
  <cp:revision>7</cp:revision>
  <dcterms:modified xsi:type="dcterms:W3CDTF">2026-10-29T01:29:15Z</dcterms:modified>
</cp:coreProperties>
</file>