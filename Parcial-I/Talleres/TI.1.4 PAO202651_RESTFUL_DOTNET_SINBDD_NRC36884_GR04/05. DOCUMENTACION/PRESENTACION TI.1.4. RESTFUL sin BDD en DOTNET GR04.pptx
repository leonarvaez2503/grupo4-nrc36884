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5"/>
  </p:notesMasterIdLst>
  <p:sldIdLst>
    <p:sldId id="330" r:id="rId2"/>
    <p:sldId id="331" r:id="rId3"/>
    <p:sldId id="332" r:id="rId4"/>
    <p:sldId id="333" r:id="rId5"/>
    <p:sldId id="334" r:id="rId6"/>
    <p:sldId id="336" r:id="rId7"/>
    <p:sldId id="337" r:id="rId8"/>
    <p:sldId id="338"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60" r:id="rId31"/>
    <p:sldId id="361" r:id="rId32"/>
    <p:sldId id="362" r:id="rId33"/>
    <p:sldId id="363" r:id="rId34"/>
    <p:sldId id="364" r:id="rId35"/>
    <p:sldId id="365" r:id="rId36"/>
    <p:sldId id="366" r:id="rId37"/>
    <p:sldId id="367" r:id="rId38"/>
    <p:sldId id="368" r:id="rId39"/>
    <p:sldId id="369" r:id="rId40"/>
    <p:sldId id="370" r:id="rId41"/>
    <p:sldId id="371" r:id="rId42"/>
    <p:sldId id="372" r:id="rId43"/>
    <p:sldId id="373" r:id="rId44"/>
    <p:sldId id="374" r:id="rId45"/>
    <p:sldId id="375" r:id="rId46"/>
    <p:sldId id="376" r:id="rId47"/>
    <p:sldId id="377" r:id="rId48"/>
    <p:sldId id="378" r:id="rId49"/>
    <p:sldId id="379" r:id="rId50"/>
    <p:sldId id="380" r:id="rId51"/>
    <p:sldId id="381" r:id="rId52"/>
    <p:sldId id="382" r:id="rId53"/>
    <p:sldId id="383" r:id="rId54"/>
  </p:sldIdLst>
  <p:sldSz cx="12192000" cy="6858000"/>
  <p:notesSz cx="6858000" cy="9144000"/>
  <p:embeddedFontLst>
    <p:embeddedFont>
      <p:font typeface="Cambria" panose="02040503050406030204" pitchFamily="18" charset="0"/>
      <p:regular r:id="rId56"/>
      <p:bold r:id="rId57"/>
      <p:italic r:id="rId58"/>
      <p:boldItalic r:id="rId59"/>
    </p:embeddedFont>
    <p:embeddedFont>
      <p:font typeface="Gill Sans" panose="020B0604020202020204" charset="0"/>
      <p:regular r:id="rId60"/>
      <p:bold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136021-7255-42B7-A7E7-87A8D8FFE9CA}">
  <a:tblStyle styleId="{BF136021-7255-42B7-A7E7-87A8D8FFE9C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8526227be_0_4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3a8526227be_0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8526227be_0_4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3a8526227be_0_4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8526227be_0_4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g3a8526227be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8526227be_0_4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g3a8526227be_0_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8526227be_0_4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g3a8526227be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8526227be_0_4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g3a8526227be_0_4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8526227be_0_4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g3a8526227be_0_4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8526227be_0_4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g3a8526227be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8526227be_0_4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g3a8526227be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8526227be_0_4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g3a8526227be_0_4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8526227be_0_5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g3a8526227be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a8526227be_0_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 name="Google Shape;218;g3a8526227be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8526227be_0_5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a8526227be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a8526227be_0_5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g3a8526227be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8526227be_0_5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3" name="Google Shape;243;g3a8526227be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8526227be_0_5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g3a8526227be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8526227be_0_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g3a8526227be_0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a8526227be_0_5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g3a8526227be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a8526227be_0_5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g3a8526227be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a8526227be_0_5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g3a8526227be_0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a8526227be_0_5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g3a8526227be_0_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8526227be_0_5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g3a8526227be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a854632a9a_2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g3a854632a9a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a854632a9a_2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6" name="Google Shape;316;g3a854632a9a_2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a854632a9a_2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4" name="Google Shape;324;g3a854632a9a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a854632a9a_2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g3a854632a9a_2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a854632a9a_2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a854632a9a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a854632a9a_2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a854632a9a_2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2" name="Google Shape;532;g3a854632a9a_2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a854632a9a_2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2" name="Google Shape;542;g3a854632a9a_2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a854632a9a_2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0" name="Google Shape;550;g3a854632a9a_2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a854632a9a_2_2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8" name="Google Shape;558;g3a854632a9a_2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a854632a9a_2_2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6" name="Google Shape;566;g3a854632a9a_2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854632a9a_2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4" name="Google Shape;574;g3a854632a9a_2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a854632a9a_2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0" name="Google Shape;590;g3a854632a9a_2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a854632a9a_2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9" name="Google Shape;599;g3a854632a9a_2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a854632a9a_2_2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7" name="Google Shape;607;g3a854632a9a_2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a854632a9a_2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a854632a9a_2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a854632a9a_2_2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3" name="Google Shape;623;g3a854632a9a_2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a8526227be_0_6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9" name="Google Shape;639;g3a8526227be_0_6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a854632a9a_2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9" name="Google Shape;649;g3a854632a9a_2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a854632a9a_2_3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7" name="Google Shape;657;g3a854632a9a_2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a854632a9a_2_3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5" name="Google Shape;665;g3a854632a9a_2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a854632a9a_2_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3" name="Google Shape;673;g3a854632a9a_2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a8526227be_0_6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9" name="Google Shape;689;g3a8526227be_0_6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a8526227be_0_6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6" name="Google Shape;696;g3a8526227be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pPr>
            <a:r>
              <a:rPr lang="es-ES">
                <a:solidFill>
                  <a:schemeClr val="lt1"/>
                </a:solidFill>
              </a:rPr>
              <a:t>MANUAL</a:t>
            </a:r>
            <a:br>
              <a:rPr lang="es-ES">
                <a:solidFill>
                  <a:schemeClr val="lt1"/>
                </a:solidFill>
              </a:rPr>
            </a:br>
            <a:r>
              <a:rPr lang="es-ES">
                <a:solidFill>
                  <a:schemeClr val="lt1"/>
                </a:solidFill>
              </a:rPr>
              <a:t>CONVERSIÓN UNIDADES RESTFUL DOTNET</a:t>
            </a:r>
            <a:endParaRPr/>
          </a:p>
        </p:txBody>
      </p:sp>
      <p:sp>
        <p:nvSpPr>
          <p:cNvPr id="97" name="Google Shape;97;p13"/>
          <p:cNvSpPr txBox="1">
            <a:spLocks noGrp="1"/>
          </p:cNvSpPr>
          <p:nvPr>
            <p:ph type="subTitle" idx="1"/>
          </p:nvPr>
        </p:nvSpPr>
        <p:spPr>
          <a:xfrm>
            <a:off x="599226" y="4572000"/>
            <a:ext cx="4261531" cy="18127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endParaRPr b="1" dirty="0">
              <a:solidFill>
                <a:schemeClr val="lt1"/>
              </a:solidFill>
            </a:endParaRPr>
          </a:p>
          <a:p>
            <a:pPr marL="0" lvl="0" indent="0" algn="l" rtl="0">
              <a:lnSpc>
                <a:spcPct val="100000"/>
              </a:lnSpc>
              <a:spcBef>
                <a:spcPts val="920"/>
              </a:spcBef>
              <a:spcAft>
                <a:spcPts val="0"/>
              </a:spcAft>
              <a:buSzPts val="1472"/>
              <a:buNone/>
            </a:pPr>
            <a:r>
              <a:rPr lang="es-ES" b="1" dirty="0">
                <a:solidFill>
                  <a:schemeClr val="lt1"/>
                </a:solidFill>
              </a:rPr>
              <a:t>INTEGRANTES:</a:t>
            </a:r>
            <a:r>
              <a:rPr lang="es-ES" dirty="0">
                <a:solidFill>
                  <a:schemeClr val="lt1"/>
                </a:solidFill>
              </a:rPr>
              <a:t> 	FLORES CAETANO					MORALES ANTHONY			         	</a:t>
            </a:r>
          </a:p>
          <a:p>
            <a:pPr marL="0" lvl="0" indent="0" algn="l" rtl="0">
              <a:lnSpc>
                <a:spcPct val="100000"/>
              </a:lnSpc>
              <a:spcBef>
                <a:spcPts val="920"/>
              </a:spcBef>
              <a:spcAft>
                <a:spcPts val="0"/>
              </a:spcAft>
              <a:buSzPts val="1472"/>
              <a:buNone/>
            </a:pPr>
            <a:r>
              <a:rPr lang="es-ES" dirty="0">
                <a:solidFill>
                  <a:schemeClr val="lt1"/>
                </a:solidFill>
              </a:rPr>
              <a:t>NARVAEZ LEONARDO</a:t>
            </a:r>
            <a:endParaRPr dirty="0">
              <a:solidFill>
                <a:schemeClr val="lt1"/>
              </a:solidFill>
            </a:endParaRP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a:solidFill>
                  <a:srgbClr val="FFFFFF"/>
                </a:solidFill>
                <a:latin typeface="Gill Sans"/>
                <a:ea typeface="Gill Sans"/>
                <a:cs typeface="Gill Sans"/>
                <a:sym typeface="Gill Sans"/>
              </a:rPr>
              <a:t>FECHA:  </a:t>
            </a:r>
            <a:r>
              <a:rPr lang="es-ES" sz="1600" b="1">
                <a:solidFill>
                  <a:srgbClr val="FFFFFF"/>
                </a:solidFill>
                <a:latin typeface="Gill Sans"/>
                <a:ea typeface="Gill Sans"/>
                <a:cs typeface="Gill Sans"/>
                <a:sym typeface="Gill Sans"/>
              </a:rPr>
              <a:t>27/10/2026</a:t>
            </a:r>
            <a:endParaRPr sz="1600" b="0" i="0" u="none" strike="noStrike" cap="none">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a:solidFill>
                  <a:srgbClr val="FFFFFF"/>
                </a:solidFill>
                <a:latin typeface="Gill Sans"/>
                <a:ea typeface="Gill Sans"/>
                <a:cs typeface="Gill Sans"/>
                <a:sym typeface="Gill Sans"/>
              </a:rPr>
              <a:t>ING: </a:t>
            </a:r>
            <a:r>
              <a:rPr lang="es-ES" sz="1600" b="0" i="0" u="none" strike="noStrike" cap="none">
                <a:solidFill>
                  <a:srgbClr val="FFFFFF"/>
                </a:solidFill>
                <a:latin typeface="Gill Sans"/>
                <a:ea typeface="Gill Sans"/>
                <a:cs typeface="Gill Sans"/>
                <a:sym typeface="Gill Sans"/>
              </a:rPr>
              <a:t>CAMPAÑA MAURICIO</a:t>
            </a:r>
            <a:endParaRPr sz="1600" b="1" i="0" u="none" strike="noStrike" cap="none">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170351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00000"/>
              </a:lnSpc>
              <a:spcBef>
                <a:spcPts val="0"/>
              </a:spcBef>
              <a:spcAft>
                <a:spcPts val="0"/>
              </a:spcAft>
              <a:buSzPts val="1656"/>
              <a:buChar char="◼"/>
            </a:pPr>
            <a:r>
              <a:rPr lang="es-ES">
                <a:solidFill>
                  <a:schemeClr val="lt1"/>
                </a:solidFill>
              </a:rPr>
              <a:t>DESARROLLO</a:t>
            </a:r>
            <a:endParaRPr/>
          </a:p>
          <a:p>
            <a:pPr marL="630000" lvl="1" indent="-320020" algn="l" rtl="0">
              <a:lnSpc>
                <a:spcPct val="100000"/>
              </a:lnSpc>
              <a:spcBef>
                <a:spcPts val="872"/>
              </a:spcBef>
              <a:spcAft>
                <a:spcPts val="0"/>
              </a:spcAft>
              <a:buSzPts val="1472"/>
              <a:buChar char="◼"/>
            </a:pPr>
            <a:r>
              <a:rPr lang="es-ES">
                <a:solidFill>
                  <a:schemeClr val="lt1"/>
                </a:solidFill>
              </a:rPr>
              <a:t>OBJETIVO</a:t>
            </a:r>
            <a:endParaRPr/>
          </a:p>
          <a:p>
            <a:pPr marL="630000" lvl="1" indent="-320020" algn="l" rtl="0">
              <a:lnSpc>
                <a:spcPct val="100000"/>
              </a:lnSpc>
              <a:spcBef>
                <a:spcPts val="872"/>
              </a:spcBef>
              <a:spcAft>
                <a:spcPts val="0"/>
              </a:spcAft>
              <a:buSzPts val="1472"/>
              <a:buChar char="◼"/>
            </a:pPr>
            <a:r>
              <a:rPr lang="es-ES">
                <a:solidFill>
                  <a:schemeClr val="lt1"/>
                </a:solidFill>
              </a:rPr>
              <a:t>CREACIÓN DEL SERVIDOR REST EN DOTNET</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CONSOLA</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ESCRITORIO</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WEB</a:t>
            </a:r>
            <a:endParaRPr/>
          </a:p>
          <a:p>
            <a:pPr marL="630000" lvl="1" indent="-320020" algn="l" rtl="0">
              <a:lnSpc>
                <a:spcPct val="100000"/>
              </a:lnSpc>
              <a:spcBef>
                <a:spcPts val="872"/>
              </a:spcBef>
              <a:spcAft>
                <a:spcPts val="0"/>
              </a:spcAft>
              <a:buSzPts val="1472"/>
              <a:buChar char="◼"/>
            </a:pPr>
            <a:r>
              <a:rPr lang="es-ES" sz="1800">
                <a:solidFill>
                  <a:schemeClr val="lt1"/>
                </a:solidFill>
              </a:rPr>
              <a:t>CREACIÓN DEL PROYECTO – CLIENTE MÓVIL</a:t>
            </a:r>
            <a:endParaRPr/>
          </a:p>
          <a:p>
            <a:pPr marL="306000" marR="0" lvl="0" indent="-306000" algn="l" rtl="0">
              <a:lnSpc>
                <a:spcPct val="100000"/>
              </a:lnSpc>
              <a:spcBef>
                <a:spcPts val="906"/>
              </a:spcBef>
              <a:spcAft>
                <a:spcPts val="0"/>
              </a:spcAft>
              <a:buSzPts val="1656"/>
              <a:buChar char="◼"/>
            </a:pPr>
            <a:r>
              <a:rPr lang="es-ES">
                <a:solidFill>
                  <a:schemeClr val="lt1"/>
                </a:solidFill>
              </a:rPr>
              <a:t>CONCLUSIONES</a:t>
            </a:r>
            <a:endParaRPr/>
          </a:p>
          <a:p>
            <a:pPr marL="306000" marR="0" lvl="0" indent="-306000" algn="l" rtl="0">
              <a:lnSpc>
                <a:spcPct val="100000"/>
              </a:lnSpc>
              <a:spcBef>
                <a:spcPts val="906"/>
              </a:spcBef>
              <a:spcAft>
                <a:spcPts val="0"/>
              </a:spcAft>
              <a:buSzPts val="1656"/>
              <a:buChar char="◼"/>
            </a:pPr>
            <a:r>
              <a:rPr lang="es-ES">
                <a:solidFill>
                  <a:schemeClr val="lt1"/>
                </a:solidFill>
              </a:rPr>
              <a:t>RECOMENDACIONES</a:t>
            </a:r>
            <a:endParaRPr/>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769152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Char char="∙"/>
            </a:pPr>
            <a:r>
              <a:rPr lang="es-ES" b="1">
                <a:latin typeface="Cambria"/>
                <a:ea typeface="Cambria"/>
                <a:cs typeface="Cambria"/>
                <a:sym typeface="Cambria"/>
              </a:rPr>
              <a:t>1</a:t>
            </a:r>
            <a:r>
              <a:rPr lang="es-ES" sz="1800" b="1">
                <a:latin typeface="Cambria"/>
                <a:ea typeface="Cambria"/>
                <a:cs typeface="Cambria"/>
                <a:sym typeface="Cambria"/>
              </a:rPr>
              <a:t>.1	OBJETIVO</a:t>
            </a:r>
            <a:endParaRPr b="1"/>
          </a:p>
          <a:p>
            <a:pPr marL="342900" marR="0" lvl="0" indent="-237744"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a:p>
            <a:pPr marL="457200" lvl="0" indent="-333756" algn="just" rtl="0">
              <a:lnSpc>
                <a:spcPct val="107000"/>
              </a:lnSpc>
              <a:spcBef>
                <a:spcPts val="0"/>
              </a:spcBef>
              <a:spcAft>
                <a:spcPts val="0"/>
              </a:spcAft>
              <a:buSzPts val="1656"/>
              <a:buChar char="∙"/>
            </a:pPr>
            <a:r>
              <a:rPr lang="es-ES">
                <a:latin typeface="Cambria"/>
                <a:ea typeface="Cambria"/>
                <a:cs typeface="Cambria"/>
                <a:sym typeface="Cambria"/>
              </a:rPr>
              <a:t>Desarrollar e implementar un Web Service utilizando RESTful mediante .NET (WCF con webHttpBinding) para realizar conversiones de unidades de longitud, masa y temperatura, consumido desde clientes de consola, escritorio, web y móvil.</a:t>
            </a:r>
            <a:endParaRPr>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OBJETIVO</a:t>
            </a:r>
            <a:endParaRPr sz="1400" b="0" i="0" u="none" strike="noStrike" cap="none">
              <a:solidFill>
                <a:srgbClr val="FFFF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SERVIDOR REST</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CONSOLA</a:t>
            </a:r>
            <a:endParaRPr sz="1200" b="1" i="0" u="none" strike="noStrike" cap="none">
              <a:solidFill>
                <a:srgbClr val="FFFFFF"/>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ESCRITORIO</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WEB</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MÓVIL</a:t>
            </a:r>
            <a:endParaRPr sz="1400" b="0" i="0" u="none" strike="noStrike" cap="none">
              <a:solidFill>
                <a:srgbClr val="FFFFFF"/>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CONCLUSIONES</a:t>
            </a:r>
            <a:endParaRPr sz="1400" b="0" i="0" u="none" strike="noStrike" cap="none">
              <a:solidFill>
                <a:srgbClr val="FFFFFF"/>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RECOMENDACIONES</a:t>
            </a:r>
            <a:endParaRPr sz="1400" b="0" i="0" u="none" strike="noStrike" cap="none">
              <a:solidFill>
                <a:srgbClr val="FFFFFF"/>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69835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200" y="2180500"/>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1.2.1 	Entorno del servidor</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El servidor se desarrolla en Visual Studio como un proyecto ASP.NET Web Application (.NET Framework 4.7.2) que aloja un servicio WCF REST y se ejecuta sobre IIS Express.</a:t>
            </a:r>
            <a:endParaRPr>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4" name="Captura GR04">
            <a:extLst>
              <a:ext uri="{FF2B5EF4-FFF2-40B4-BE49-F238E27FC236}">
                <a16:creationId xmlns:a16="http://schemas.microsoft.com/office/drawing/2014/main" id="{ABDEFE26-1B54-6CE1-1389-344F0DEED243}"/>
              </a:ext>
            </a:extLst>
          </p:cNvPr>
          <p:cNvPicPr>
            <a:picLocks/>
          </p:cNvPicPr>
          <p:nvPr/>
        </p:nvPicPr>
        <p:blipFill>
          <a:blip r:embed="rId3"/>
          <a:stretch>
            <a:fillRect/>
          </a:stretch>
        </p:blipFill>
        <p:spPr>
          <a:xfrm>
            <a:off x="2594613" y="3636867"/>
            <a:ext cx="4562475" cy="2947666"/>
          </a:xfrm>
          <a:prstGeom prst="rect">
            <a:avLst/>
          </a:prstGeom>
        </p:spPr>
      </p:pic>
    </p:spTree>
    <p:extLst>
      <p:ext uri="{BB962C8B-B14F-4D97-AF65-F5344CB8AC3E}">
        <p14:creationId xmlns:p14="http://schemas.microsoft.com/office/powerpoint/2010/main" val="2469392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a:spLocks noGrp="1"/>
          </p:cNvSpPr>
          <p:nvPr>
            <p:ph type="body" idx="1"/>
          </p:nvPr>
        </p:nvSpPr>
        <p:spPr>
          <a:xfrm>
            <a:off x="581200" y="1781575"/>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Se crea el proyecto web con la plantilla ASP.NET Web Application (.NET Framework), sin autenticación ni base de datos.</a:t>
            </a:r>
            <a:endParaRPr>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4" name="Captura GR04">
            <a:extLst>
              <a:ext uri="{FF2B5EF4-FFF2-40B4-BE49-F238E27FC236}">
                <a16:creationId xmlns:a16="http://schemas.microsoft.com/office/drawing/2014/main" id="{2FC4BF96-8E64-49A8-62CD-172CCAB6B433}"/>
              </a:ext>
            </a:extLst>
          </p:cNvPr>
          <p:cNvPicPr>
            <a:picLocks/>
          </p:cNvPicPr>
          <p:nvPr/>
        </p:nvPicPr>
        <p:blipFill>
          <a:blip r:embed="rId3"/>
          <a:stretch>
            <a:fillRect/>
          </a:stretch>
        </p:blipFill>
        <p:spPr>
          <a:xfrm>
            <a:off x="2542225" y="3321488"/>
            <a:ext cx="4667250" cy="3015358"/>
          </a:xfrm>
          <a:prstGeom prst="rect">
            <a:avLst/>
          </a:prstGeom>
        </p:spPr>
      </p:pic>
    </p:spTree>
    <p:extLst>
      <p:ext uri="{BB962C8B-B14F-4D97-AF65-F5344CB8AC3E}">
        <p14:creationId xmlns:p14="http://schemas.microsoft.com/office/powerpoint/2010/main" val="4131004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a:spLocks noGrp="1"/>
          </p:cNvSpPr>
          <p:nvPr>
            <p:ph type="body" idx="1"/>
          </p:nvPr>
        </p:nvSpPr>
        <p:spPr>
          <a:xfrm>
            <a:off x="581200" y="2180500"/>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1.2.2 	Creación del Proyecto</a:t>
            </a:r>
            <a:endParaRPr sz="1929" b="1">
              <a:latin typeface="Cambria"/>
              <a:ea typeface="Cambria"/>
              <a:cs typeface="Cambria"/>
              <a:sym typeface="Cambria"/>
            </a:endParaRPr>
          </a:p>
          <a:p>
            <a:pPr marL="0" marR="0" lvl="0" indent="0" algn="just" rtl="0">
              <a:lnSpc>
                <a:spcPct val="107000"/>
              </a:lnSpc>
              <a:spcBef>
                <a:spcPts val="0"/>
              </a:spcBef>
              <a:spcAft>
                <a:spcPts val="0"/>
              </a:spcAft>
              <a:buSzPts val="1948"/>
              <a:buNone/>
            </a:pP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Se crea el proyecto en Visual Studio: ASP.NET Web Application (.NET Framework 4.7.2).</a:t>
            </a:r>
            <a:endParaRPr>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4" name="Captura GR04">
            <a:extLst>
              <a:ext uri="{FF2B5EF4-FFF2-40B4-BE49-F238E27FC236}">
                <a16:creationId xmlns:a16="http://schemas.microsoft.com/office/drawing/2014/main" id="{5247CDC9-6087-87EB-3EB8-9FAF7E43C17D}"/>
              </a:ext>
            </a:extLst>
          </p:cNvPr>
          <p:cNvPicPr>
            <a:picLocks/>
          </p:cNvPicPr>
          <p:nvPr/>
        </p:nvPicPr>
        <p:blipFill>
          <a:blip r:embed="rId3"/>
          <a:stretch>
            <a:fillRect/>
          </a:stretch>
        </p:blipFill>
        <p:spPr>
          <a:xfrm>
            <a:off x="2537463" y="3638494"/>
            <a:ext cx="4676775" cy="3021512"/>
          </a:xfrm>
          <a:prstGeom prst="rect">
            <a:avLst/>
          </a:prstGeom>
        </p:spPr>
      </p:pic>
    </p:spTree>
    <p:extLst>
      <p:ext uri="{BB962C8B-B14F-4D97-AF65-F5344CB8AC3E}">
        <p14:creationId xmlns:p14="http://schemas.microsoft.com/office/powerpoint/2010/main" val="1545408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154" name="Google Shape;154;p20"/>
          <p:cNvSpPr txBox="1">
            <a:spLocks noGrp="1"/>
          </p:cNvSpPr>
          <p:nvPr>
            <p:ph type="body" idx="1"/>
          </p:nvPr>
        </p:nvSpPr>
        <p:spPr>
          <a:xfrm>
            <a:off x="581192" y="1948172"/>
            <a:ext cx="8589300" cy="1248600"/>
          </a:xfrm>
          <a:prstGeom prst="rect">
            <a:avLst/>
          </a:prstGeom>
          <a:noFill/>
          <a:ln>
            <a:noFill/>
          </a:ln>
        </p:spPr>
        <p:txBody>
          <a:bodyPr spcFirstLastPara="1" wrap="square" lIns="91425" tIns="45700" rIns="91425" bIns="45700" anchor="ctr" anchorCtr="0">
            <a:normAutofit/>
          </a:bodyPr>
          <a:lstStyle/>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Se aplica el nombre del proyecto como ‘</a:t>
            </a:r>
            <a:r>
              <a:rPr lang="es-ES" dirty="0" err="1">
                <a:latin typeface="Cambria"/>
                <a:ea typeface="Cambria"/>
                <a:cs typeface="Cambria"/>
                <a:sym typeface="Cambria"/>
              </a:rPr>
              <a:t>ServidorWebRestFul</a:t>
            </a:r>
            <a:r>
              <a:rPr lang="es-ES" dirty="0">
                <a:latin typeface="Cambria"/>
                <a:ea typeface="Cambria"/>
                <a:cs typeface="Cambria"/>
                <a:sym typeface="Cambria"/>
              </a:rPr>
              <a:t>’ y se selecciona .NET Framework 4.7.2 como versión de destino.</a:t>
            </a:r>
            <a:endParaRPr dirty="0">
              <a:latin typeface="Cambria"/>
              <a:ea typeface="Cambria"/>
              <a:cs typeface="Cambria"/>
              <a:sym typeface="Cambria"/>
            </a:endParaRPr>
          </a:p>
          <a:p>
            <a:pPr marL="457200" lvl="0" indent="-311150" algn="just" rtl="0">
              <a:lnSpc>
                <a:spcPct val="107000"/>
              </a:lnSpc>
              <a:spcBef>
                <a:spcPts val="0"/>
              </a:spcBef>
              <a:spcAft>
                <a:spcPts val="0"/>
              </a:spcAft>
              <a:buSzPts val="1300"/>
              <a:buFont typeface="Cambria"/>
              <a:buChar char="∙"/>
            </a:pPr>
            <a:r>
              <a:rPr lang="es-ES" dirty="0">
                <a:latin typeface="Cambria"/>
                <a:ea typeface="Cambria"/>
                <a:cs typeface="Cambria"/>
                <a:sym typeface="Cambria"/>
              </a:rPr>
              <a:t>El proyecto utiliza IIS Express como servidor de desarrollo.</a:t>
            </a:r>
            <a:endParaRPr dirty="0">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4" name="Captura GR04">
            <a:extLst>
              <a:ext uri="{FF2B5EF4-FFF2-40B4-BE49-F238E27FC236}">
                <a16:creationId xmlns:a16="http://schemas.microsoft.com/office/drawing/2014/main" id="{5D765CD9-59C2-22A1-E6FD-5DCAACA5E158}"/>
              </a:ext>
            </a:extLst>
          </p:cNvPr>
          <p:cNvPicPr>
            <a:picLocks/>
          </p:cNvPicPr>
          <p:nvPr/>
        </p:nvPicPr>
        <p:blipFill>
          <a:blip r:embed="rId3"/>
          <a:stretch>
            <a:fillRect/>
          </a:stretch>
        </p:blipFill>
        <p:spPr>
          <a:xfrm>
            <a:off x="3118546" y="3503286"/>
            <a:ext cx="4105699" cy="2652558"/>
          </a:xfrm>
          <a:prstGeom prst="rect">
            <a:avLst/>
          </a:prstGeom>
        </p:spPr>
      </p:pic>
    </p:spTree>
    <p:extLst>
      <p:ext uri="{BB962C8B-B14F-4D97-AF65-F5344CB8AC3E}">
        <p14:creationId xmlns:p14="http://schemas.microsoft.com/office/powerpoint/2010/main" val="2181785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a:spLocks noGrp="1"/>
          </p:cNvSpPr>
          <p:nvPr>
            <p:ph type="body" idx="1"/>
          </p:nvPr>
        </p:nvSpPr>
        <p:spPr>
          <a:xfrm>
            <a:off x="581200" y="2180500"/>
            <a:ext cx="4557900" cy="38700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77"/>
              <a:buChar char="∙"/>
            </a:pPr>
            <a:r>
              <a:rPr lang="es-ES" sz="1677" b="1">
                <a:latin typeface="Cambria"/>
                <a:ea typeface="Cambria"/>
                <a:cs typeface="Cambria"/>
                <a:sym typeface="Cambria"/>
              </a:rPr>
              <a:t>ESTRUCTURA MVC</a:t>
            </a: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677" b="1">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Aplicando un patrón arquitectónico MVC junto a otras capas se organizan las carpetas ec.edu.monster.controlador, ec.edu.monster.modelo (dto, enums, mapeadores, seguridad y utilidades) y ec.edu.monster.servicio.</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4" name="Captura GR04">
            <a:extLst>
              <a:ext uri="{FF2B5EF4-FFF2-40B4-BE49-F238E27FC236}">
                <a16:creationId xmlns:a16="http://schemas.microsoft.com/office/drawing/2014/main" id="{6F6DD853-B7F3-3AF9-22A0-D7AFEFB9CA8D}"/>
              </a:ext>
            </a:extLst>
          </p:cNvPr>
          <p:cNvPicPr>
            <a:picLocks/>
          </p:cNvPicPr>
          <p:nvPr/>
        </p:nvPicPr>
        <p:blipFill>
          <a:blip r:embed="rId3"/>
          <a:stretch>
            <a:fillRect/>
          </a:stretch>
        </p:blipFill>
        <p:spPr>
          <a:xfrm>
            <a:off x="5671852" y="2418012"/>
            <a:ext cx="2544190" cy="3783183"/>
          </a:xfrm>
          <a:prstGeom prst="rect">
            <a:avLst/>
          </a:prstGeom>
        </p:spPr>
      </p:pic>
    </p:spTree>
    <p:extLst>
      <p:ext uri="{BB962C8B-B14F-4D97-AF65-F5344CB8AC3E}">
        <p14:creationId xmlns:p14="http://schemas.microsoft.com/office/powerpoint/2010/main" val="262373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a:spLocks noGrp="1"/>
          </p:cNvSpPr>
          <p:nvPr>
            <p:ph type="body" idx="1"/>
          </p:nvPr>
        </p:nvSpPr>
        <p:spPr>
          <a:xfrm>
            <a:off x="581200" y="2180500"/>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a:latin typeface="Cambria"/>
                <a:ea typeface="Cambria"/>
                <a:cs typeface="Cambria"/>
                <a:sym typeface="Cambria"/>
              </a:rPr>
              <a:t>1.2.3 	Creación del servicio REST</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a:latin typeface="Cambria"/>
                <a:ea typeface="Cambria"/>
                <a:cs typeface="Cambria"/>
                <a:sym typeface="Cambria"/>
              </a:rPr>
              <a:t>Se agrega un servicio WCF (ServicioWebRest.svc) y se define su contrato IWSConversorRest en la carpeta ec.edu.monster.servicio.</a:t>
            </a:r>
            <a:endParaRPr>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Cambria"/>
              <a:buChar char="∙"/>
            </a:pPr>
            <a:r>
              <a:rPr lang="es-ES">
                <a:latin typeface="Cambria"/>
                <a:ea typeface="Cambria"/>
                <a:cs typeface="Cambria"/>
                <a:sym typeface="Cambria"/>
              </a:rPr>
              <a:t>Las rutas se declaran con [WebGet] y [WebInvoke] sobre webHttpBinding y el formato de intercambio es JSON.</a:t>
            </a:r>
            <a:endParaRPr>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72" name="Google Shape;172;p2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4" name="Captura GR04">
            <a:extLst>
              <a:ext uri="{FF2B5EF4-FFF2-40B4-BE49-F238E27FC236}">
                <a16:creationId xmlns:a16="http://schemas.microsoft.com/office/drawing/2014/main" id="{830502D4-3B9A-58CE-0E2B-73F1D563FC5F}"/>
              </a:ext>
            </a:extLst>
          </p:cNvPr>
          <p:cNvPicPr>
            <a:picLocks/>
          </p:cNvPicPr>
          <p:nvPr/>
        </p:nvPicPr>
        <p:blipFill>
          <a:blip r:embed="rId3"/>
          <a:stretch>
            <a:fillRect/>
          </a:stretch>
        </p:blipFill>
        <p:spPr>
          <a:xfrm>
            <a:off x="958600" y="4941265"/>
            <a:ext cx="3280200" cy="378121"/>
          </a:xfrm>
          <a:prstGeom prst="rect">
            <a:avLst/>
          </a:prstGeom>
        </p:spPr>
      </p:pic>
      <p:pic>
        <p:nvPicPr>
          <p:cNvPr id="7" name="Captura GR04">
            <a:extLst>
              <a:ext uri="{FF2B5EF4-FFF2-40B4-BE49-F238E27FC236}">
                <a16:creationId xmlns:a16="http://schemas.microsoft.com/office/drawing/2014/main" id="{8D2E0EEB-4D06-AA13-3A5C-935B6B929BFA}"/>
              </a:ext>
            </a:extLst>
          </p:cNvPr>
          <p:cNvPicPr>
            <a:picLocks/>
          </p:cNvPicPr>
          <p:nvPr/>
        </p:nvPicPr>
        <p:blipFill>
          <a:blip r:embed="rId4"/>
          <a:stretch>
            <a:fillRect/>
          </a:stretch>
        </p:blipFill>
        <p:spPr>
          <a:xfrm>
            <a:off x="5103225" y="4735039"/>
            <a:ext cx="3810000" cy="790548"/>
          </a:xfrm>
          <a:prstGeom prst="rect">
            <a:avLst/>
          </a:prstGeom>
        </p:spPr>
      </p:pic>
    </p:spTree>
    <p:extLst>
      <p:ext uri="{BB962C8B-B14F-4D97-AF65-F5344CB8AC3E}">
        <p14:creationId xmlns:p14="http://schemas.microsoft.com/office/powerpoint/2010/main" val="2148981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0" name="Google Shape;180;p23"/>
          <p:cNvSpPr txBox="1">
            <a:spLocks noGrp="1"/>
          </p:cNvSpPr>
          <p:nvPr>
            <p:ph type="body" idx="1"/>
          </p:nvPr>
        </p:nvSpPr>
        <p:spPr>
          <a:xfrm>
            <a:off x="581200" y="2180500"/>
            <a:ext cx="268311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b="1" dirty="0">
                <a:latin typeface="Cambria"/>
                <a:ea typeface="Cambria"/>
                <a:cs typeface="Cambria"/>
                <a:sym typeface="Cambria"/>
              </a:rPr>
              <a:t>Se codifica el contrato del servicio bajo los siguientes lineamientos</a:t>
            </a:r>
            <a:endParaRPr sz="1677" b="1" dirty="0">
              <a:latin typeface="Cambria"/>
              <a:ea typeface="Cambria"/>
              <a:cs typeface="Cambria"/>
              <a:sym typeface="Cambria"/>
            </a:endParaRPr>
          </a:p>
          <a:p>
            <a:pPr marL="457200" lvl="0" indent="0" algn="just" rtl="0">
              <a:lnSpc>
                <a:spcPct val="107000"/>
              </a:lnSpc>
              <a:spcBef>
                <a:spcPts val="0"/>
              </a:spcBef>
              <a:spcAft>
                <a:spcPts val="0"/>
              </a:spcAft>
              <a:buNone/>
            </a:pPr>
            <a:endParaRPr sz="1677" b="1" dirty="0">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1. Se define el contrato </a:t>
            </a:r>
            <a:r>
              <a:rPr lang="es-ES" sz="1677" dirty="0" err="1">
                <a:latin typeface="Cambria"/>
                <a:ea typeface="Cambria"/>
                <a:cs typeface="Cambria"/>
                <a:sym typeface="Cambria"/>
              </a:rPr>
              <a:t>IWSConversorRest</a:t>
            </a:r>
            <a:r>
              <a:rPr lang="es-ES" sz="1677" dirty="0">
                <a:latin typeface="Cambria"/>
                <a:ea typeface="Cambria"/>
                <a:cs typeface="Cambria"/>
                <a:sym typeface="Cambria"/>
              </a:rPr>
              <a:t> con [</a:t>
            </a:r>
            <a:r>
              <a:rPr lang="es-ES" sz="1677" dirty="0" err="1">
                <a:latin typeface="Cambria"/>
                <a:ea typeface="Cambria"/>
                <a:cs typeface="Cambria"/>
                <a:sym typeface="Cambria"/>
              </a:rPr>
              <a:t>ServiceContract</a:t>
            </a:r>
            <a:r>
              <a:rPr lang="es-ES" sz="1677" dirty="0">
                <a:latin typeface="Cambria"/>
                <a:ea typeface="Cambria"/>
                <a:cs typeface="Cambria"/>
                <a:sym typeface="Cambria"/>
              </a:rPr>
              <a:t>] y sus operaciones con [</a:t>
            </a:r>
            <a:r>
              <a:rPr lang="es-ES" sz="1677" dirty="0" err="1">
                <a:latin typeface="Cambria"/>
                <a:ea typeface="Cambria"/>
                <a:cs typeface="Cambria"/>
                <a:sym typeface="Cambria"/>
              </a:rPr>
              <a:t>OperationContract</a:t>
            </a:r>
            <a:r>
              <a:rPr lang="es-ES" sz="1677" dirty="0">
                <a:latin typeface="Cambria"/>
                <a:ea typeface="Cambria"/>
                <a:cs typeface="Cambria"/>
                <a:sym typeface="Cambria"/>
              </a:rPr>
              <a:t>].</a:t>
            </a:r>
            <a:endParaRPr sz="1677" b="1" dirty="0">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182" name="Google Shape;182;p23"/>
          <p:cNvGraphicFramePr/>
          <p:nvPr>
            <p:extLst>
              <p:ext uri="{D42A27DB-BD31-4B8C-83A1-F6EECF244321}">
                <p14:modId xmlns:p14="http://schemas.microsoft.com/office/powerpoint/2010/main" val="3321451692"/>
              </p:ext>
            </p:extLst>
          </p:nvPr>
        </p:nvGraphicFramePr>
        <p:xfrm>
          <a:off x="3395925" y="2866125"/>
          <a:ext cx="5400050" cy="367030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750">
                          <a:solidFill>
                            <a:srgbClr val="4F81BD"/>
                          </a:solidFill>
                          <a:latin typeface="Calibri"/>
                          <a:ea typeface="Calibri"/>
                          <a:cs typeface="Calibri"/>
                          <a:sym typeface="Calibri"/>
                        </a:rPr>
                        <a:t>using System.ServiceModel;</a:t>
                      </a:r>
                    </a:p>
                    <a:p>
                      <a:pPr marL="0" lvl="0" indent="0" algn="l" rtl="0">
                        <a:spcBef>
                          <a:spcPts val="0"/>
                        </a:spcBef>
                        <a:spcAft>
                          <a:spcPts val="0"/>
                        </a:spcAft>
                        <a:buNone/>
                      </a:pPr>
                      <a:r>
                        <a:rPr lang="es-ES" sz="750">
                          <a:solidFill>
                            <a:srgbClr val="4F81BD"/>
                          </a:solidFill>
                          <a:latin typeface="Calibri"/>
                          <a:ea typeface="Calibri"/>
                          <a:cs typeface="Calibri"/>
                          <a:sym typeface="Calibri"/>
                        </a:rPr>
                        <a:t>using System.ServiceModel.Web;</a:t>
                      </a:r>
                    </a:p>
                    <a:p>
                      <a:pPr marL="0" lvl="0" indent="0" algn="l" rtl="0">
                        <a:spcBef>
                          <a:spcPts val="0"/>
                        </a:spcBef>
                        <a:spcAft>
                          <a:spcPts val="0"/>
                        </a:spcAft>
                        <a:buNone/>
                      </a:pPr>
                      <a:r>
                        <a:rPr lang="es-ES" sz="750">
                          <a:solidFill>
                            <a:srgbClr val="4F81BD"/>
                          </a:solidFill>
                          <a:latin typeface="Calibri"/>
                          <a:ea typeface="Calibri"/>
                          <a:cs typeface="Calibri"/>
                          <a:sym typeface="Calibri"/>
                        </a:rPr>
                        <a:t>using ec.edu.monster.modelo.dto;</a:t>
                      </a:r>
                    </a:p>
                    <a:p>
                      <a:pPr marL="0" lvl="0" indent="0" algn="l" rtl="0">
                        <a:spcBef>
                          <a:spcPts val="0"/>
                        </a:spcBef>
                        <a:spcAft>
                          <a:spcPts val="0"/>
                        </a:spcAft>
                        <a:buNone/>
                      </a:pPr>
                      <a:endParaRPr lang="es-ES" sz="750">
                        <a:solidFill>
                          <a:srgbClr val="4F81BD"/>
                        </a:solidFill>
                        <a:latin typeface="Calibri"/>
                        <a:ea typeface="Calibri"/>
                        <a:cs typeface="Calibri"/>
                        <a:sym typeface="Calibri"/>
                      </a:endParaRPr>
                    </a:p>
                    <a:p>
                      <a:pPr marL="0" lvl="0" indent="0" algn="l" rtl="0">
                        <a:spcBef>
                          <a:spcPts val="0"/>
                        </a:spcBef>
                        <a:spcAft>
                          <a:spcPts val="0"/>
                        </a:spcAft>
                        <a:buNone/>
                      </a:pPr>
                      <a:r>
                        <a:rPr lang="es-ES" sz="750">
                          <a:solidFill>
                            <a:srgbClr val="4F81BD"/>
                          </a:solidFill>
                          <a:latin typeface="Calibri"/>
                          <a:ea typeface="Calibri"/>
                          <a:cs typeface="Calibri"/>
                          <a:sym typeface="Calibri"/>
                        </a:rPr>
                        <a:t>namespace ec.edu.monster.servicio</a:t>
                      </a:r>
                    </a:p>
                    <a:p>
                      <a:pPr marL="0" lvl="0" indent="0" algn="l" rtl="0">
                        <a:spcBef>
                          <a:spcPts val="0"/>
                        </a:spcBef>
                        <a:spcAft>
                          <a:spcPts val="0"/>
                        </a:spcAft>
                        <a:buNone/>
                      </a:pPr>
                      <a:r>
                        <a:rPr lang="es-ES" sz="750">
                          <a:solidFill>
                            <a:srgbClr val="4F81BD"/>
                          </a:solidFill>
                          <a:latin typeface="Calibri"/>
                          <a:ea typeface="Calibri"/>
                          <a:cs typeface="Calibri"/>
                          <a:sym typeface="Calibri"/>
                        </a:rPr>
                        <a:t>{</a:t>
                      </a:r>
                    </a:p>
                    <a:p>
                      <a:pPr marL="0" lvl="0" indent="0" algn="l" rtl="0">
                        <a:spcBef>
                          <a:spcPts val="0"/>
                        </a:spcBef>
                        <a:spcAft>
                          <a:spcPts val="0"/>
                        </a:spcAft>
                        <a:buNone/>
                      </a:pPr>
                      <a:r>
                        <a:rPr lang="es-ES" sz="750">
                          <a:solidFill>
                            <a:srgbClr val="4F81BD"/>
                          </a:solidFill>
                          <a:latin typeface="Calibri"/>
                          <a:ea typeface="Calibri"/>
                          <a:cs typeface="Calibri"/>
                          <a:sym typeface="Calibri"/>
                        </a:rPr>
                        <a:t>    [ServiceContract(Name = "IWSConversorRest")]</a:t>
                      </a:r>
                    </a:p>
                    <a:p>
                      <a:pPr marL="0" lvl="0" indent="0" algn="l" rtl="0">
                        <a:spcBef>
                          <a:spcPts val="0"/>
                        </a:spcBef>
                        <a:spcAft>
                          <a:spcPts val="0"/>
                        </a:spcAft>
                        <a:buNone/>
                      </a:pPr>
                      <a:r>
                        <a:rPr lang="es-ES" sz="750">
                          <a:solidFill>
                            <a:srgbClr val="4F81BD"/>
                          </a:solidFill>
                          <a:latin typeface="Calibri"/>
                          <a:ea typeface="Calibri"/>
                          <a:cs typeface="Calibri"/>
                          <a:sym typeface="Calibri"/>
                        </a:rPr>
                        <a:t>    public interface IWSConversorRest</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r>
                        <a:rPr lang="es-ES" sz="750">
                          <a:solidFill>
                            <a:srgbClr val="4F81BD"/>
                          </a:solidFill>
                          <a:latin typeface="Calibri"/>
                          <a:ea typeface="Calibri"/>
                          <a:cs typeface="Calibri"/>
                          <a:sym typeface="Calibri"/>
                        </a:rPr>
                        <a:t>        // =========================================================================</a:t>
                      </a:r>
                    </a:p>
                    <a:p>
                      <a:pPr marL="0" lvl="0" indent="0" algn="l" rtl="0">
                        <a:spcBef>
                          <a:spcPts val="0"/>
                        </a:spcBef>
                        <a:spcAft>
                          <a:spcPts val="0"/>
                        </a:spcAft>
                        <a:buNone/>
                      </a:pPr>
                      <a:r>
                        <a:rPr lang="es-ES" sz="750">
                          <a:solidFill>
                            <a:srgbClr val="4F81BD"/>
                          </a:solidFill>
                          <a:latin typeface="Calibri"/>
                          <a:ea typeface="Calibri"/>
                          <a:cs typeface="Calibri"/>
                          <a:sym typeface="Calibri"/>
                        </a:rPr>
                        <a:t>        // PREFLIGHT CORS (Para clientes Web en navegador)</a:t>
                      </a:r>
                    </a:p>
                    <a:p>
                      <a:pPr marL="0" lvl="0" indent="0" algn="l" rtl="0">
                        <a:spcBef>
                          <a:spcPts val="0"/>
                        </a:spcBef>
                        <a:spcAft>
                          <a:spcPts val="0"/>
                        </a:spcAft>
                        <a:buNone/>
                      </a:pPr>
                      <a:r>
                        <a:rPr lang="es-ES" sz="750">
                          <a:solidFill>
                            <a:srgbClr val="4F81BD"/>
                          </a:solidFill>
                          <a:latin typeface="Calibri"/>
                          <a:ea typeface="Calibri"/>
                          <a:cs typeface="Calibri"/>
                          <a:sym typeface="Calibri"/>
                        </a:rPr>
                        <a:t>        // =========================================================================</a:t>
                      </a:r>
                    </a:p>
                    <a:p>
                      <a:pPr marL="0" lvl="0" indent="0" algn="l" rtl="0">
                        <a:spcBef>
                          <a:spcPts val="0"/>
                        </a:spcBef>
                        <a:spcAft>
                          <a:spcPts val="0"/>
                        </a:spcAft>
                        <a:buNone/>
                      </a:pPr>
                      <a:r>
                        <a:rPr lang="es-ES" sz="750">
                          <a:solidFill>
                            <a:srgbClr val="4F81BD"/>
                          </a:solidFill>
                          <a:latin typeface="Calibri"/>
                          <a:ea typeface="Calibri"/>
                          <a:cs typeface="Calibri"/>
                          <a:sym typeface="Calibri"/>
                        </a:rPr>
                        <a:t>        [OperationContract]</a:t>
                      </a:r>
                    </a:p>
                    <a:p>
                      <a:pPr marL="0" lvl="0" indent="0" algn="l" rtl="0">
                        <a:spcBef>
                          <a:spcPts val="0"/>
                        </a:spcBef>
                        <a:spcAft>
                          <a:spcPts val="0"/>
                        </a:spcAft>
                        <a:buNone/>
                      </a:pPr>
                      <a:r>
                        <a:rPr lang="es-ES" sz="750">
                          <a:solidFill>
                            <a:srgbClr val="4F81BD"/>
                          </a:solidFill>
                          <a:latin typeface="Calibri"/>
                          <a:ea typeface="Calibri"/>
                          <a:cs typeface="Calibri"/>
                          <a:sym typeface="Calibri"/>
                        </a:rPr>
                        <a:t>        [WebInvoke(Method = "OPTIONS", UriTemplate = "*")]</a:t>
                      </a:r>
                    </a:p>
                    <a:p>
                      <a:pPr marL="0" lvl="0" indent="0" algn="l" rtl="0">
                        <a:spcBef>
                          <a:spcPts val="0"/>
                        </a:spcBef>
                        <a:spcAft>
                          <a:spcPts val="0"/>
                        </a:spcAft>
                        <a:buNone/>
                      </a:pPr>
                      <a:r>
                        <a:rPr lang="es-ES" sz="750">
                          <a:solidFill>
                            <a:srgbClr val="4F81BD"/>
                          </a:solidFill>
                          <a:latin typeface="Calibri"/>
                          <a:ea typeface="Calibri"/>
                          <a:cs typeface="Calibri"/>
                          <a:sym typeface="Calibri"/>
                        </a:rPr>
                        <a:t>        void HandleOptions();</a:t>
                      </a:r>
                    </a:p>
                    <a:p>
                      <a:pPr marL="0" lvl="0" indent="0" algn="l" rtl="0">
                        <a:spcBef>
                          <a:spcPts val="0"/>
                        </a:spcBef>
                        <a:spcAft>
                          <a:spcPts val="0"/>
                        </a:spcAft>
                        <a:buNone/>
                      </a:pPr>
                      <a:endParaRPr lang="es-ES" sz="750">
                        <a:solidFill>
                          <a:srgbClr val="4F81BD"/>
                        </a:solidFill>
                        <a:latin typeface="Calibri"/>
                        <a:ea typeface="Calibri"/>
                        <a:cs typeface="Calibri"/>
                        <a:sym typeface="Calibri"/>
                      </a:endParaRPr>
                    </a:p>
                    <a:p>
                      <a:pPr marL="0" lvl="0" indent="0" algn="l" rtl="0">
                        <a:spcBef>
                          <a:spcPts val="0"/>
                        </a:spcBef>
                        <a:spcAft>
                          <a:spcPts val="0"/>
                        </a:spcAft>
                        <a:buNone/>
                      </a:pPr>
                      <a:r>
                        <a:rPr lang="es-ES" sz="750">
                          <a:solidFill>
                            <a:srgbClr val="4F81BD"/>
                          </a:solidFill>
                          <a:latin typeface="Calibri"/>
                          <a:ea typeface="Calibri"/>
                          <a:cs typeface="Calibri"/>
                          <a:sym typeface="Calibri"/>
                        </a:rPr>
                        <a:t>        // =========================================================================</a:t>
                      </a:r>
                    </a:p>
                    <a:p>
                      <a:pPr marL="0" lvl="0" indent="0" algn="l" rtl="0">
                        <a:spcBef>
                          <a:spcPts val="0"/>
                        </a:spcBef>
                        <a:spcAft>
                          <a:spcPts val="0"/>
                        </a:spcAft>
                        <a:buNone/>
                      </a:pPr>
                      <a:r>
                        <a:rPr lang="es-ES" sz="750">
                          <a:solidFill>
                            <a:srgbClr val="4F81BD"/>
                          </a:solidFill>
                          <a:latin typeface="Calibri"/>
                          <a:ea typeface="Calibri"/>
                          <a:cs typeface="Calibri"/>
                          <a:sym typeface="Calibri"/>
                        </a:rPr>
                        <a:t>        // AUTENTICACIÓN (Rutas RESTful estándar /auth/...)</a:t>
                      </a:r>
                    </a:p>
                    <a:p>
                      <a:pPr marL="0" lvl="0" indent="0" algn="l" rtl="0">
                        <a:spcBef>
                          <a:spcPts val="0"/>
                        </a:spcBef>
                        <a:spcAft>
                          <a:spcPts val="0"/>
                        </a:spcAft>
                        <a:buNone/>
                      </a:pPr>
                      <a:r>
                        <a:rPr lang="es-ES" sz="750">
                          <a:solidFill>
                            <a:srgbClr val="4F81BD"/>
                          </a:solidFill>
                          <a:latin typeface="Calibri"/>
                          <a:ea typeface="Calibri"/>
                          <a:cs typeface="Calibri"/>
                          <a:sym typeface="Calibri"/>
                        </a:rPr>
                        <a:t>        // =========================================================================</a:t>
                      </a:r>
                    </a:p>
                    <a:p>
                      <a:pPr marL="0" lvl="0" indent="0" algn="l" rtl="0">
                        <a:spcBef>
                          <a:spcPts val="0"/>
                        </a:spcBef>
                        <a:spcAft>
                          <a:spcPts val="0"/>
                        </a:spcAft>
                        <a:buNone/>
                      </a:pPr>
                      <a:endParaRPr lang="es-ES" sz="750">
                        <a:solidFill>
                          <a:srgbClr val="4F81BD"/>
                        </a:solidFill>
                        <a:latin typeface="Calibri"/>
                        <a:ea typeface="Calibri"/>
                        <a:cs typeface="Calibri"/>
                        <a:sym typeface="Calibri"/>
                      </a:endParaRPr>
                    </a:p>
                    <a:p>
                      <a:pPr marL="0" lvl="0" indent="0" algn="l" rtl="0">
                        <a:spcBef>
                          <a:spcPts val="0"/>
                        </a:spcBef>
                        <a:spcAft>
                          <a:spcPts val="0"/>
                        </a:spcAft>
                        <a:buNone/>
                      </a:pPr>
                      <a:r>
                        <a:rPr lang="es-ES" sz="750">
                          <a:solidFill>
                            <a:srgbClr val="4F81BD"/>
                          </a:solidFill>
                          <a:latin typeface="Calibri"/>
                          <a:ea typeface="Calibri"/>
                          <a:cs typeface="Calibri"/>
                          <a:sym typeface="Calibri"/>
                        </a:rPr>
                        <a:t>        [OperationContract]</a:t>
                      </a:r>
                    </a:p>
                    <a:p>
                      <a:pPr marL="0" lvl="0" indent="0" algn="l" rtl="0">
                        <a:spcBef>
                          <a:spcPts val="0"/>
                        </a:spcBef>
                        <a:spcAft>
                          <a:spcPts val="0"/>
                        </a:spcAft>
                        <a:buNone/>
                      </a:pPr>
                      <a:r>
                        <a:rPr lang="es-ES" sz="750">
                          <a:solidFill>
                            <a:srgbClr val="4F81BD"/>
                          </a:solidFill>
                          <a:latin typeface="Calibri"/>
                          <a:ea typeface="Calibri"/>
                          <a:cs typeface="Calibri"/>
                          <a:sym typeface="Calibri"/>
                        </a:rPr>
                        <a:t>        [WebInvoke(Method = "POST", UriTemplate = "auth/login",</a:t>
                      </a:r>
                    </a:p>
                    <a:p>
                      <a:pPr marL="0" lvl="0" indent="0" algn="l" rtl="0">
                        <a:spcBef>
                          <a:spcPts val="0"/>
                        </a:spcBef>
                        <a:spcAft>
                          <a:spcPts val="0"/>
                        </a:spcAft>
                        <a:buNone/>
                      </a:pPr>
                      <a:r>
                        <a:rPr lang="es-ES" sz="750">
                          <a:solidFill>
                            <a:srgbClr val="4F81BD"/>
                          </a:solidFill>
                          <a:latin typeface="Calibri"/>
                          <a:ea typeface="Calibri"/>
                          <a:cs typeface="Calibri"/>
                          <a:sym typeface="Calibri"/>
                        </a:rPr>
                        <a:t>            RequestFormat = WebMessageFormat.Json, ResponseFormat = WebMessageFormat.Json,</a:t>
                      </a:r>
                    </a:p>
                    <a:p>
                      <a:pPr marL="0" lvl="0" indent="0" algn="l" rtl="0">
                        <a:spcBef>
                          <a:spcPts val="0"/>
                        </a:spcBef>
                        <a:spcAft>
                          <a:spcPts val="0"/>
                        </a:spcAft>
                        <a:buNone/>
                      </a:pPr>
                      <a:r>
                        <a:rPr lang="es-ES" sz="750">
                          <a:solidFill>
                            <a:srgbClr val="4F81BD"/>
                          </a:solidFill>
                          <a:latin typeface="Calibri"/>
                          <a:ea typeface="Calibri"/>
                          <a:cs typeface="Calibri"/>
                          <a:sym typeface="Calibri"/>
                        </a:rPr>
                        <a:t>            BodyStyle = WebMessageBodyStyle.Bare)]</a:t>
                      </a:r>
                    </a:p>
                    <a:p>
                      <a:pPr marL="0" lvl="0" indent="0" algn="l" rtl="0">
                        <a:spcBef>
                          <a:spcPts val="0"/>
                        </a:spcBef>
                        <a:spcAft>
                          <a:spcPts val="0"/>
                        </a:spcAft>
                        <a:buNone/>
                      </a:pPr>
                      <a:r>
                        <a:rPr lang="es-ES" sz="750">
                          <a:solidFill>
                            <a:srgbClr val="4F81BD"/>
                          </a:solidFill>
                          <a:latin typeface="Calibri"/>
                          <a:ea typeface="Calibri"/>
                          <a:cs typeface="Calibri"/>
                          <a:sym typeface="Calibri"/>
                        </a:rPr>
                        <a:t>        LoginResponse LoginRestPost(LoginRequest request);</a:t>
                      </a:r>
                    </a:p>
                    <a:p>
                      <a:pPr marL="0" lvl="0" indent="0" algn="l" rtl="0">
                        <a:spcBef>
                          <a:spcPts val="0"/>
                        </a:spcBef>
                        <a:spcAft>
                          <a:spcPts val="0"/>
                        </a:spcAft>
                        <a:buNone/>
                      </a:pPr>
                      <a:endParaRPr lang="es-ES" sz="750">
                        <a:solidFill>
                          <a:srgbClr val="4F81BD"/>
                        </a:solidFill>
                        <a:latin typeface="Calibri"/>
                        <a:ea typeface="Calibri"/>
                        <a:cs typeface="Calibri"/>
                        <a:sym typeface="Calibri"/>
                      </a:endParaRPr>
                    </a:p>
                    <a:p>
                      <a:pPr marL="0" lvl="0" indent="0" algn="l" rtl="0">
                        <a:spcBef>
                          <a:spcPts val="0"/>
                        </a:spcBef>
                        <a:spcAft>
                          <a:spcPts val="0"/>
                        </a:spcAft>
                        <a:buNone/>
                      </a:pPr>
                      <a:r>
                        <a:rPr lang="es-ES" sz="750">
                          <a:solidFill>
                            <a:srgbClr val="4F81BD"/>
                          </a:solidFill>
                          <a:latin typeface="Calibri"/>
                          <a:ea typeface="Calibri"/>
                          <a:cs typeface="Calibri"/>
                          <a:sym typeface="Calibri"/>
                        </a:rPr>
                        <a:t>        [OperationContract]</a:t>
                      </a:r>
                    </a:p>
                    <a:p>
                      <a:pPr marL="0" lvl="0" indent="0" algn="l" rtl="0">
                        <a:spcBef>
                          <a:spcPts val="0"/>
                        </a:spcBef>
                        <a:spcAft>
                          <a:spcPts val="0"/>
                        </a:spcAft>
                        <a:buNone/>
                      </a:pPr>
                      <a:r>
                        <a:rPr lang="es-ES" sz="750">
                          <a:solidFill>
                            <a:srgbClr val="4F81BD"/>
                          </a:solidFill>
                          <a:latin typeface="Calibri"/>
                          <a:ea typeface="Calibri"/>
                          <a:cs typeface="Calibri"/>
                          <a:sym typeface="Calibri"/>
                        </a:rPr>
                        <a:t>        [WebGet(UriTemplate = "auth/login?usuario={usuario}&amp;contrasenia={contrasenia}",</a:t>
                      </a:r>
                    </a:p>
                    <a:p>
                      <a:pPr marL="0" lvl="0" indent="0" algn="l" rtl="0">
                        <a:spcBef>
                          <a:spcPts val="0"/>
                        </a:spcBef>
                        <a:spcAft>
                          <a:spcPts val="0"/>
                        </a:spcAft>
                        <a:buNone/>
                      </a:pPr>
                      <a:r>
                        <a:rPr lang="es-ES" sz="750">
                          <a:solidFill>
                            <a:srgbClr val="4F81BD"/>
                          </a:solidFill>
                          <a:latin typeface="Calibri"/>
                          <a:ea typeface="Calibri"/>
                          <a:cs typeface="Calibri"/>
                          <a:sym typeface="Calibri"/>
                        </a:rPr>
                        <a:t>            ResponseFormat = WebMessageFormat.Json, BodyStyle = WebMessageBodyStyle.Bare)]</a:t>
                      </a:r>
                    </a:p>
                    <a:p>
                      <a:pPr marL="0" lvl="0" indent="0" algn="l" rtl="0">
                        <a:spcBef>
                          <a:spcPts val="0"/>
                        </a:spcBef>
                        <a:spcAft>
                          <a:spcPts val="0"/>
                        </a:spcAft>
                        <a:buNone/>
                      </a:pPr>
                      <a:r>
                        <a:rPr lang="es-ES" sz="750">
                          <a:solidFill>
                            <a:srgbClr val="4F81BD"/>
                          </a:solidFill>
                          <a:latin typeface="Calibri"/>
                          <a:ea typeface="Calibri"/>
                          <a:cs typeface="Calibri"/>
                          <a:sym typeface="Calibri"/>
                        </a:rPr>
                        <a:t>        LoginResponse LoginRestGet(string usuario, string contrasenia);</a:t>
                      </a:r>
                    </a:p>
                    <a:p>
                      <a:pPr marL="0" lvl="0" indent="0" algn="l" rtl="0">
                        <a:spcBef>
                          <a:spcPts val="0"/>
                        </a:spcBef>
                        <a:spcAft>
                          <a:spcPts val="0"/>
                        </a:spcAft>
                        <a:buNone/>
                      </a:pPr>
                      <a:r>
                        <a:rPr lang="es-ES" sz="750">
                          <a:solidFill>
                            <a:srgbClr val="4F81BD"/>
                          </a:solidFill>
                          <a:latin typeface="Calibri"/>
                          <a:ea typeface="Calibri"/>
                          <a:cs typeface="Calibri"/>
                          <a:sym typeface="Calibri"/>
                        </a:rPr>
                        <a:t>    // ...</a:t>
                      </a:r>
                      <a:endParaRPr sz="75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227112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a:spLocks noGrp="1"/>
          </p:cNvSpPr>
          <p:nvPr>
            <p:ph type="body" idx="1"/>
          </p:nvPr>
        </p:nvSpPr>
        <p:spPr>
          <a:xfrm>
            <a:off x="581199" y="2180500"/>
            <a:ext cx="2838053"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2. Se configura el host del servicio (</a:t>
            </a:r>
            <a:r>
              <a:rPr lang="es-ES" sz="1677" dirty="0" err="1">
                <a:latin typeface="Cambria"/>
                <a:ea typeface="Cambria"/>
                <a:cs typeface="Cambria"/>
                <a:sym typeface="Cambria"/>
              </a:rPr>
              <a:t>ServicioWebRest.svc</a:t>
            </a:r>
            <a:r>
              <a:rPr lang="es-ES" sz="1677" dirty="0">
                <a:latin typeface="Cambria"/>
                <a:ea typeface="Cambria"/>
                <a:cs typeface="Cambria"/>
                <a:sym typeface="Cambria"/>
              </a:rPr>
              <a:t>).</a:t>
            </a:r>
            <a:endParaRPr sz="1677" dirty="0">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3. Se crea la clase </a:t>
            </a:r>
            <a:r>
              <a:rPr lang="es-ES" sz="1677" dirty="0" err="1">
                <a:latin typeface="Cambria"/>
                <a:ea typeface="Cambria"/>
                <a:cs typeface="Cambria"/>
                <a:sym typeface="Cambria"/>
              </a:rPr>
              <a:t>ServicioWebRest</a:t>
            </a:r>
            <a:r>
              <a:rPr lang="es-ES" sz="1677" dirty="0">
                <a:latin typeface="Cambria"/>
                <a:ea typeface="Cambria"/>
                <a:cs typeface="Cambria"/>
                <a:sym typeface="Cambria"/>
              </a:rPr>
              <a:t>, que implementa el contrato y recibe los controladores de autenticación y de conversión.</a:t>
            </a:r>
            <a:endParaRPr sz="1677" b="1" dirty="0">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190" name="Google Shape;190;p24"/>
          <p:cNvGraphicFramePr/>
          <p:nvPr>
            <p:extLst>
              <p:ext uri="{D42A27DB-BD31-4B8C-83A1-F6EECF244321}">
                <p14:modId xmlns:p14="http://schemas.microsoft.com/office/powerpoint/2010/main" val="2081341484"/>
              </p:ext>
            </p:extLst>
          </p:nvPr>
        </p:nvGraphicFramePr>
        <p:xfrm>
          <a:off x="3701450" y="2180500"/>
          <a:ext cx="5400050" cy="46228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n-US" sz="1100">
                          <a:solidFill>
                            <a:srgbClr val="4F81BD"/>
                          </a:solidFill>
                          <a:latin typeface="Calibri"/>
                          <a:ea typeface="Calibri"/>
                          <a:cs typeface="Calibri"/>
                          <a:sym typeface="Calibri"/>
                        </a:rPr>
                        <a:t>&lt;%@ ServiceHost Language="C#" Debug="true" Service="ServidorWebRestFul.ServicioWebRest" CodeBehind="ServicioWebRest.svc.cs" %&gt;</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191" name="Google Shape;191;p24"/>
          <p:cNvGraphicFramePr/>
          <p:nvPr>
            <p:extLst>
              <p:ext uri="{D42A27DB-BD31-4B8C-83A1-F6EECF244321}">
                <p14:modId xmlns:p14="http://schemas.microsoft.com/office/powerpoint/2010/main" val="1735723078"/>
              </p:ext>
            </p:extLst>
          </p:nvPr>
        </p:nvGraphicFramePr>
        <p:xfrm>
          <a:off x="3701450" y="3375275"/>
          <a:ext cx="5400050" cy="180340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    public class ServicioWebRest : IWSConversorRest</a:t>
                      </a:r>
                    </a:p>
                    <a:p>
                      <a:pPr marL="0" lvl="0" indent="0" algn="l" rtl="0">
                        <a:spcBef>
                          <a:spcPts val="0"/>
                        </a:spcBef>
                        <a:spcAft>
                          <a:spcPts val="0"/>
                        </a:spcAft>
                        <a:buNone/>
                      </a:pPr>
                      <a:r>
                        <a:rPr lang="es-ES" sz="1100">
                          <a:solidFill>
                            <a:srgbClr val="4F81BD"/>
                          </a:solidFill>
                          <a:latin typeface="Calibri"/>
                          <a:ea typeface="Calibri"/>
                          <a:cs typeface="Calibri"/>
                          <a:sym typeface="Calibri"/>
                        </a:rPr>
                        <a:t>    {</a:t>
                      </a:r>
                    </a:p>
                    <a:p>
                      <a:pPr marL="0" lvl="0" indent="0" algn="l" rtl="0">
                        <a:spcBef>
                          <a:spcPts val="0"/>
                        </a:spcBef>
                        <a:spcAft>
                          <a:spcPts val="0"/>
                        </a:spcAft>
                        <a:buNone/>
                      </a:pPr>
                      <a:r>
                        <a:rPr lang="es-ES" sz="1100">
                          <a:solidFill>
                            <a:srgbClr val="4F81BD"/>
                          </a:solidFill>
                          <a:latin typeface="Calibri"/>
                          <a:ea typeface="Calibri"/>
                          <a:cs typeface="Calibri"/>
                          <a:sym typeface="Calibri"/>
                        </a:rPr>
                        <a:t>        private readonly AutenticacionControlador authControlador;</a:t>
                      </a:r>
                    </a:p>
                    <a:p>
                      <a:pPr marL="0" lvl="0" indent="0" algn="l" rtl="0">
                        <a:spcBef>
                          <a:spcPts val="0"/>
                        </a:spcBef>
                        <a:spcAft>
                          <a:spcPts val="0"/>
                        </a:spcAft>
                        <a:buNone/>
                      </a:pPr>
                      <a:r>
                        <a:rPr lang="es-ES" sz="1100">
                          <a:solidFill>
                            <a:srgbClr val="4F81BD"/>
                          </a:solidFill>
                          <a:latin typeface="Calibri"/>
                          <a:ea typeface="Calibri"/>
                          <a:cs typeface="Calibri"/>
                          <a:sym typeface="Calibri"/>
                        </a:rPr>
                        <a:t>        private readonly ConversorControlador conversorControlador;</a:t>
                      </a:r>
                    </a:p>
                    <a:p>
                      <a:pPr marL="0" lvl="0" indent="0" algn="l" rtl="0">
                        <a:spcBef>
                          <a:spcPts val="0"/>
                        </a:spcBef>
                        <a:spcAft>
                          <a:spcPts val="0"/>
                        </a:spcAft>
                        <a:buNone/>
                      </a:pPr>
                      <a:endParaRPr lang="es-ES"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ServicioWebRest()</a:t>
                      </a:r>
                    </a:p>
                    <a:p>
                      <a:pPr marL="0" lvl="0" indent="0" algn="l" rtl="0">
                        <a:spcBef>
                          <a:spcPts val="0"/>
                        </a:spcBef>
                        <a:spcAft>
                          <a:spcPts val="0"/>
                        </a:spcAft>
                        <a:buNone/>
                      </a:pPr>
                      <a:r>
                        <a:rPr lang="es-ES" sz="1100">
                          <a:solidFill>
                            <a:srgbClr val="4F81BD"/>
                          </a:solidFill>
                          <a:latin typeface="Calibri"/>
                          <a:ea typeface="Calibri"/>
                          <a:cs typeface="Calibri"/>
                          <a:sym typeface="Calibri"/>
                        </a:rPr>
                        <a:t>        {</a:t>
                      </a:r>
                    </a:p>
                    <a:p>
                      <a:pPr marL="0" lvl="0" indent="0" algn="l" rtl="0">
                        <a:spcBef>
                          <a:spcPts val="0"/>
                        </a:spcBef>
                        <a:spcAft>
                          <a:spcPts val="0"/>
                        </a:spcAft>
                        <a:buNone/>
                      </a:pPr>
                      <a:r>
                        <a:rPr lang="es-ES" sz="1100">
                          <a:solidFill>
                            <a:srgbClr val="4F81BD"/>
                          </a:solidFill>
                          <a:latin typeface="Calibri"/>
                          <a:ea typeface="Calibri"/>
                          <a:cs typeface="Calibri"/>
                          <a:sym typeface="Calibri"/>
                        </a:rPr>
                        <a:t>            this.authControlador = new AutenticacionControlador();</a:t>
                      </a:r>
                    </a:p>
                    <a:p>
                      <a:pPr marL="0" lvl="0" indent="0" algn="l" rtl="0">
                        <a:spcBef>
                          <a:spcPts val="0"/>
                        </a:spcBef>
                        <a:spcAft>
                          <a:spcPts val="0"/>
                        </a:spcAft>
                        <a:buNone/>
                      </a:pPr>
                      <a:r>
                        <a:rPr lang="es-ES" sz="1100">
                          <a:solidFill>
                            <a:srgbClr val="4F81BD"/>
                          </a:solidFill>
                          <a:latin typeface="Calibri"/>
                          <a:ea typeface="Calibri"/>
                          <a:cs typeface="Calibri"/>
                          <a:sym typeface="Calibri"/>
                        </a:rPr>
                        <a:t>            this.conversorControlador = new ConversorControlador();</a:t>
                      </a:r>
                    </a:p>
                    <a:p>
                      <a:pPr marL="0" lvl="0" indent="0" algn="l" rtl="0">
                        <a:spcBef>
                          <a:spcPts val="0"/>
                        </a:spcBef>
                        <a:spcAft>
                          <a:spcPts val="0"/>
                        </a:spcAft>
                        <a:buNone/>
                      </a:pPr>
                      <a:r>
                        <a:rPr lang="es-ES" sz="1100">
                          <a:solidFill>
                            <a:srgbClr val="4F81BD"/>
                          </a:solidFill>
                          <a:latin typeface="Calibri"/>
                          <a:ea typeface="Calibri"/>
                          <a:cs typeface="Calibri"/>
                          <a:sym typeface="Calibri"/>
                        </a:rPr>
                        <a:t>        }</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762402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4. Se implementan las operaciones de autenticación, aplicando las cabeceras CORS en cada respuesta.</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199" name="Google Shape;199;p25"/>
          <p:cNvGraphicFramePr/>
          <p:nvPr>
            <p:extLst>
              <p:ext uri="{D42A27DB-BD31-4B8C-83A1-F6EECF244321}">
                <p14:modId xmlns:p14="http://schemas.microsoft.com/office/powerpoint/2010/main" val="496985951"/>
              </p:ext>
            </p:extLst>
          </p:nvPr>
        </p:nvGraphicFramePr>
        <p:xfrm>
          <a:off x="3917100" y="1928900"/>
          <a:ext cx="4894525" cy="4533675"/>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4533675">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        private void AplicarCabecerasCors()</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var ctx = WebOperationContext.Current;</a:t>
                      </a:r>
                    </a:p>
                    <a:p>
                      <a:pPr marL="0" lvl="0" indent="0" algn="l" rtl="0">
                        <a:spcBef>
                          <a:spcPts val="0"/>
                        </a:spcBef>
                        <a:spcAft>
                          <a:spcPts val="0"/>
                        </a:spcAft>
                        <a:buNone/>
                      </a:pPr>
                      <a:r>
                        <a:rPr lang="es-ES" sz="1000">
                          <a:solidFill>
                            <a:srgbClr val="4F81BD"/>
                          </a:solidFill>
                          <a:latin typeface="Calibri"/>
                          <a:ea typeface="Calibri"/>
                          <a:cs typeface="Calibri"/>
                          <a:sym typeface="Calibri"/>
                        </a:rPr>
                        <a:t>            if (ctx != null)</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var headers = ctx.OutgoingResponse.Headers;</a:t>
                      </a:r>
                    </a:p>
                    <a:p>
                      <a:pPr marL="0" lvl="0" indent="0" algn="l" rtl="0">
                        <a:spcBef>
                          <a:spcPts val="0"/>
                        </a:spcBef>
                        <a:spcAft>
                          <a:spcPts val="0"/>
                        </a:spcAft>
                        <a:buNone/>
                      </a:pPr>
                      <a:r>
                        <a:rPr lang="es-ES" sz="1000">
                          <a:solidFill>
                            <a:srgbClr val="4F81BD"/>
                          </a:solidFill>
                          <a:latin typeface="Calibri"/>
                          <a:ea typeface="Calibri"/>
                          <a:cs typeface="Calibri"/>
                          <a:sym typeface="Calibri"/>
                        </a:rPr>
                        <a:t>                headers["Access-Control-Allow-Origin"] = "*";</a:t>
                      </a:r>
                    </a:p>
                    <a:p>
                      <a:pPr marL="0" lvl="0" indent="0" algn="l" rtl="0">
                        <a:spcBef>
                          <a:spcPts val="0"/>
                        </a:spcBef>
                        <a:spcAft>
                          <a:spcPts val="0"/>
                        </a:spcAft>
                        <a:buNone/>
                      </a:pPr>
                      <a:r>
                        <a:rPr lang="es-ES" sz="1000">
                          <a:solidFill>
                            <a:srgbClr val="4F81BD"/>
                          </a:solidFill>
                          <a:latin typeface="Calibri"/>
                          <a:ea typeface="Calibri"/>
                          <a:cs typeface="Calibri"/>
                          <a:sym typeface="Calibri"/>
                        </a:rPr>
                        <a:t>                headers["Access-Control-Allow-Methods"] = "POST, GET, OPTIONS";</a:t>
                      </a:r>
                    </a:p>
                    <a:p>
                      <a:pPr marL="0" lvl="0" indent="0" algn="l" rtl="0">
                        <a:spcBef>
                          <a:spcPts val="0"/>
                        </a:spcBef>
                        <a:spcAft>
                          <a:spcPts val="0"/>
                        </a:spcAft>
                        <a:buNone/>
                      </a:pPr>
                      <a:r>
                        <a:rPr lang="es-ES" sz="1000">
                          <a:solidFill>
                            <a:srgbClr val="4F81BD"/>
                          </a:solidFill>
                          <a:latin typeface="Calibri"/>
                          <a:ea typeface="Calibri"/>
                          <a:cs typeface="Calibri"/>
                          <a:sym typeface="Calibri"/>
                        </a:rPr>
                        <a:t>                headers["Access-Control-Allow-Headers"] = "Content-Type, Accept, Authorization, X-Requested-With";</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LoginResponse LoginRestPost(LoginRequest request)</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AplicarCabecerasCors();</a:t>
                      </a:r>
                    </a:p>
                    <a:p>
                      <a:pPr marL="0" lvl="0" indent="0" algn="l" rtl="0">
                        <a:spcBef>
                          <a:spcPts val="0"/>
                        </a:spcBef>
                        <a:spcAft>
                          <a:spcPts val="0"/>
                        </a:spcAft>
                        <a:buNone/>
                      </a:pPr>
                      <a:r>
                        <a:rPr lang="es-ES" sz="1000">
                          <a:solidFill>
                            <a:srgbClr val="4F81BD"/>
                          </a:solidFill>
                          <a:latin typeface="Calibri"/>
                          <a:ea typeface="Calibri"/>
                          <a:cs typeface="Calibri"/>
                          <a:sym typeface="Calibri"/>
                        </a:rPr>
                        <a:t>            if (request == null)</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return new LoginResponse(false, null, null, "Cuerpo de solicitud requerido");</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return authControlador.Login(request.Usuario, request.Contrasenia);</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056793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extLst>
              <p:ext uri="{D42A27DB-BD31-4B8C-83A1-F6EECF244321}">
                <p14:modId xmlns:p14="http://schemas.microsoft.com/office/powerpoint/2010/main" val="3559379047"/>
              </p:ext>
            </p:extLst>
          </p:nvPr>
        </p:nvGraphicFramePr>
        <p:xfrm>
          <a:off x="3881150" y="2291900"/>
          <a:ext cx="4894525" cy="42418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3742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        public ConversionResponse ConvertirLongitudRestGet(string valor, string unidadInicial, string unidadFinal)</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AplicarCabecerasCors();</a:t>
                      </a:r>
                    </a:p>
                    <a:p>
                      <a:pPr marL="0" lvl="0" indent="0" algn="l" rtl="0">
                        <a:spcBef>
                          <a:spcPts val="0"/>
                        </a:spcBef>
                        <a:spcAft>
                          <a:spcPts val="0"/>
                        </a:spcAft>
                        <a:buNone/>
                      </a:pPr>
                      <a:r>
                        <a:rPr lang="es-ES" sz="1000">
                          <a:solidFill>
                            <a:srgbClr val="4F81BD"/>
                          </a:solidFill>
                          <a:latin typeface="Calibri"/>
                          <a:ea typeface="Calibri"/>
                          <a:cs typeface="Calibri"/>
                          <a:sym typeface="Calibri"/>
                        </a:rPr>
                        <a:t>            try</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double v = ConversorControlador.ParsearNumero(valor);</a:t>
                      </a:r>
                    </a:p>
                    <a:p>
                      <a:pPr marL="0" lvl="0" indent="0" algn="l" rtl="0">
                        <a:spcBef>
                          <a:spcPts val="0"/>
                        </a:spcBef>
                        <a:spcAft>
                          <a:spcPts val="0"/>
                        </a:spcAft>
                        <a:buNone/>
                      </a:pPr>
                      <a:r>
                        <a:rPr lang="es-ES" sz="1000">
                          <a:solidFill>
                            <a:srgbClr val="4F81BD"/>
                          </a:solidFill>
                          <a:latin typeface="Calibri"/>
                          <a:ea typeface="Calibri"/>
                          <a:cs typeface="Calibri"/>
                          <a:sym typeface="Calibri"/>
                        </a:rPr>
                        <a:t>                return conversorControlador.ConvertirLongitud(v, unidadInicial, unidadFinal);</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catch (Exception ex)</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return new ConversionResponse(false, "LONGITUD", 0, unidadInicial, 0, unidadFinal, ex.Message);</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ConversionResponse ConvertirLongitudRestPost(ConversionRequest request)</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AplicarCabecerasCors();</a:t>
                      </a:r>
                    </a:p>
                    <a:p>
                      <a:pPr marL="0" lvl="0" indent="0" algn="l" rtl="0">
                        <a:spcBef>
                          <a:spcPts val="0"/>
                        </a:spcBef>
                        <a:spcAft>
                          <a:spcPts val="0"/>
                        </a:spcAft>
                        <a:buNone/>
                      </a:pPr>
                      <a:r>
                        <a:rPr lang="es-ES" sz="1000">
                          <a:solidFill>
                            <a:srgbClr val="4F81BD"/>
                          </a:solidFill>
                          <a:latin typeface="Calibri"/>
                          <a:ea typeface="Calibri"/>
                          <a:cs typeface="Calibri"/>
                          <a:sym typeface="Calibri"/>
                        </a:rPr>
                        <a:t>            if (request == null)</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return new ConversionResponse(false, "LONGITUD", 0, null, 0, null, "Cuerpo de solicitud requerido");</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p>
                    <a:p>
                      <a:pPr marL="0" lvl="0" indent="0" algn="l" rtl="0">
                        <a:spcBef>
                          <a:spcPts val="0"/>
                        </a:spcBef>
                        <a:spcAft>
                          <a:spcPts val="0"/>
                        </a:spcAft>
                        <a:buNone/>
                      </a:pPr>
                      <a:r>
                        <a:rPr lang="es-ES" sz="1000">
                          <a:solidFill>
                            <a:srgbClr val="4F81BD"/>
                          </a:solidFill>
                          <a:latin typeface="Calibri"/>
                          <a:ea typeface="Calibri"/>
                          <a:cs typeface="Calibri"/>
                          <a:sym typeface="Calibri"/>
                        </a:rPr>
                        <a:t>            return conversorControlador.ConvertirLongitud(request.Valor, request.UnidadInicial, request.UnidadFinal);</a:t>
                      </a: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5. Se implementan las operaciones de conversión por GET (query string) y por POST (cuerpo JSON).</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721272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extLst>
              <p:ext uri="{D42A27DB-BD31-4B8C-83A1-F6EECF244321}">
                <p14:modId xmlns:p14="http://schemas.microsoft.com/office/powerpoint/2010/main" val="105224375"/>
              </p:ext>
            </p:extLst>
          </p:nvPr>
        </p:nvGraphicFramePr>
        <p:xfrm>
          <a:off x="3881150" y="2291900"/>
          <a:ext cx="4894525" cy="418846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3742900">
                <a:tc>
                  <a:txBody>
                    <a:bodyPr/>
                    <a:lstStyle/>
                    <a:p>
                      <a:pPr marL="0" lvl="0" indent="0" algn="l" rtl="0">
                        <a:spcBef>
                          <a:spcPts val="0"/>
                        </a:spcBef>
                        <a:spcAft>
                          <a:spcPts val="0"/>
                        </a:spcAft>
                        <a:buNone/>
                      </a:pPr>
                      <a:r>
                        <a:rPr lang="es-ES" sz="650">
                          <a:solidFill>
                            <a:srgbClr val="4F81BD"/>
                          </a:solidFill>
                          <a:latin typeface="Calibri"/>
                          <a:ea typeface="Calibri"/>
                          <a:cs typeface="Calibri"/>
                          <a:sym typeface="Calibri"/>
                        </a:rPr>
                        <a:t>            BodyStyle = WebMessageBodyStyle.Bare)]</a:t>
                      </a:r>
                    </a:p>
                    <a:p>
                      <a:pPr marL="0" lvl="0" indent="0" algn="l" rtl="0">
                        <a:spcBef>
                          <a:spcPts val="0"/>
                        </a:spcBef>
                        <a:spcAft>
                          <a:spcPts val="0"/>
                        </a:spcAft>
                        <a:buNone/>
                      </a:pPr>
                      <a:r>
                        <a:rPr lang="es-ES" sz="650">
                          <a:solidFill>
                            <a:srgbClr val="4F81BD"/>
                          </a:solidFill>
                          <a:latin typeface="Calibri"/>
                          <a:ea typeface="Calibri"/>
                          <a:cs typeface="Calibri"/>
                          <a:sym typeface="Calibri"/>
                        </a:rPr>
                        <a:t>        LoginResponse LoginRestPost(LoginRequest request);</a:t>
                      </a:r>
                    </a:p>
                    <a:p>
                      <a:pPr marL="0" lvl="0" indent="0" algn="l" rtl="0">
                        <a:spcBef>
                          <a:spcPts val="0"/>
                        </a:spcBef>
                        <a:spcAft>
                          <a:spcPts val="0"/>
                        </a:spcAft>
                        <a:buNone/>
                      </a:pPr>
                      <a:endParaRPr lang="es-ES" sz="650">
                        <a:solidFill>
                          <a:srgbClr val="4F81BD"/>
                        </a:solidFill>
                        <a:latin typeface="Calibri"/>
                        <a:ea typeface="Calibri"/>
                        <a:cs typeface="Calibri"/>
                        <a:sym typeface="Calibri"/>
                      </a:endParaRPr>
                    </a:p>
                    <a:p>
                      <a:pPr marL="0" lvl="0" indent="0" algn="l" rtl="0">
                        <a:spcBef>
                          <a:spcPts val="0"/>
                        </a:spcBef>
                        <a:spcAft>
                          <a:spcPts val="0"/>
                        </a:spcAft>
                        <a:buNone/>
                      </a:pPr>
                      <a:r>
                        <a:rPr lang="es-ES" sz="650">
                          <a:solidFill>
                            <a:srgbClr val="4F81BD"/>
                          </a:solidFill>
                          <a:latin typeface="Calibri"/>
                          <a:ea typeface="Calibri"/>
                          <a:cs typeface="Calibri"/>
                          <a:sym typeface="Calibri"/>
                        </a:rPr>
                        <a:t>        [OperationContract]</a:t>
                      </a:r>
                    </a:p>
                    <a:p>
                      <a:pPr marL="0" lvl="0" indent="0" algn="l" rtl="0">
                        <a:spcBef>
                          <a:spcPts val="0"/>
                        </a:spcBef>
                        <a:spcAft>
                          <a:spcPts val="0"/>
                        </a:spcAft>
                        <a:buNone/>
                      </a:pPr>
                      <a:r>
                        <a:rPr lang="es-ES" sz="650">
                          <a:solidFill>
                            <a:srgbClr val="4F81BD"/>
                          </a:solidFill>
                          <a:latin typeface="Calibri"/>
                          <a:ea typeface="Calibri"/>
                          <a:cs typeface="Calibri"/>
                          <a:sym typeface="Calibri"/>
                        </a:rPr>
                        <a:t>        [WebGet(UriTemplate = "auth/login?usuario={usuario}&amp;contrasenia={contrasenia}",</a:t>
                      </a:r>
                    </a:p>
                    <a:p>
                      <a:pPr marL="0" lvl="0" indent="0" algn="l" rtl="0">
                        <a:spcBef>
                          <a:spcPts val="0"/>
                        </a:spcBef>
                        <a:spcAft>
                          <a:spcPts val="0"/>
                        </a:spcAft>
                        <a:buNone/>
                      </a:pPr>
                      <a:r>
                        <a:rPr lang="es-ES" sz="650">
                          <a:solidFill>
                            <a:srgbClr val="4F81BD"/>
                          </a:solidFill>
                          <a:latin typeface="Calibri"/>
                          <a:ea typeface="Calibri"/>
                          <a:cs typeface="Calibri"/>
                          <a:sym typeface="Calibri"/>
                        </a:rPr>
                        <a:t>            ResponseFormat = WebMessageFormat.Json, BodyStyle = WebMessageBodyStyle.Bare)]</a:t>
                      </a:r>
                    </a:p>
                    <a:p>
                      <a:pPr marL="0" lvl="0" indent="0" algn="l" rtl="0">
                        <a:spcBef>
                          <a:spcPts val="0"/>
                        </a:spcBef>
                        <a:spcAft>
                          <a:spcPts val="0"/>
                        </a:spcAft>
                        <a:buNone/>
                      </a:pPr>
                      <a:r>
                        <a:rPr lang="es-ES" sz="650">
                          <a:solidFill>
                            <a:srgbClr val="4F81BD"/>
                          </a:solidFill>
                          <a:latin typeface="Calibri"/>
                          <a:ea typeface="Calibri"/>
                          <a:cs typeface="Calibri"/>
                          <a:sym typeface="Calibri"/>
                        </a:rPr>
                        <a:t>        LoginResponse LoginRestGet(string usuario, string contrasenia);</a:t>
                      </a:r>
                    </a:p>
                    <a:p>
                      <a:pPr marL="0" lvl="0" indent="0" algn="l" rtl="0">
                        <a:spcBef>
                          <a:spcPts val="0"/>
                        </a:spcBef>
                        <a:spcAft>
                          <a:spcPts val="0"/>
                        </a:spcAft>
                        <a:buNone/>
                      </a:pPr>
                      <a:endParaRPr lang="es-ES" sz="650">
                        <a:solidFill>
                          <a:srgbClr val="4F81BD"/>
                        </a:solidFill>
                        <a:latin typeface="Calibri"/>
                        <a:ea typeface="Calibri"/>
                        <a:cs typeface="Calibri"/>
                        <a:sym typeface="Calibri"/>
                      </a:endParaRPr>
                    </a:p>
                    <a:p>
                      <a:pPr marL="0" lvl="0" indent="0" algn="l" rtl="0">
                        <a:spcBef>
                          <a:spcPts val="0"/>
                        </a:spcBef>
                        <a:spcAft>
                          <a:spcPts val="0"/>
                        </a:spcAft>
                        <a:buNone/>
                      </a:pPr>
                      <a:r>
                        <a:rPr lang="es-ES" sz="650">
                          <a:solidFill>
                            <a:srgbClr val="4F81BD"/>
                          </a:solidFill>
                          <a:latin typeface="Calibri"/>
                          <a:ea typeface="Calibri"/>
                          <a:cs typeface="Calibri"/>
                          <a:sym typeface="Calibri"/>
                        </a:rPr>
                        <a:t>        [OperationContract]</a:t>
                      </a:r>
                    </a:p>
                    <a:p>
                      <a:pPr marL="0" lvl="0" indent="0" algn="l" rtl="0">
                        <a:spcBef>
                          <a:spcPts val="0"/>
                        </a:spcBef>
                        <a:spcAft>
                          <a:spcPts val="0"/>
                        </a:spcAft>
                        <a:buNone/>
                      </a:pPr>
                      <a:r>
                        <a:rPr lang="es-ES" sz="650">
                          <a:solidFill>
                            <a:srgbClr val="4F81BD"/>
                          </a:solidFill>
                          <a:latin typeface="Calibri"/>
                          <a:ea typeface="Calibri"/>
                          <a:cs typeface="Calibri"/>
                          <a:sym typeface="Calibri"/>
                        </a:rPr>
                        <a:t>        [WebInvoke(Method = "POST", UriTemplate = "auth/cambiar-contrasenia",</a:t>
                      </a:r>
                    </a:p>
                    <a:p>
                      <a:pPr marL="0" lvl="0" indent="0" algn="l" rtl="0">
                        <a:spcBef>
                          <a:spcPts val="0"/>
                        </a:spcBef>
                        <a:spcAft>
                          <a:spcPts val="0"/>
                        </a:spcAft>
                        <a:buNone/>
                      </a:pPr>
                      <a:r>
                        <a:rPr lang="es-ES" sz="650">
                          <a:solidFill>
                            <a:srgbClr val="4F81BD"/>
                          </a:solidFill>
                          <a:latin typeface="Calibri"/>
                          <a:ea typeface="Calibri"/>
                          <a:cs typeface="Calibri"/>
                          <a:sym typeface="Calibri"/>
                        </a:rPr>
                        <a:t>            RequestFormat = WebMessageFormat.Json, ResponseFormat = WebMessageFormat.Json,</a:t>
                      </a:r>
                    </a:p>
                    <a:p>
                      <a:pPr marL="0" lvl="0" indent="0" algn="l" rtl="0">
                        <a:spcBef>
                          <a:spcPts val="0"/>
                        </a:spcBef>
                        <a:spcAft>
                          <a:spcPts val="0"/>
                        </a:spcAft>
                        <a:buNone/>
                      </a:pPr>
                      <a:r>
                        <a:rPr lang="es-ES" sz="650">
                          <a:solidFill>
                            <a:srgbClr val="4F81BD"/>
                          </a:solidFill>
                          <a:latin typeface="Calibri"/>
                          <a:ea typeface="Calibri"/>
                          <a:cs typeface="Calibri"/>
                          <a:sym typeface="Calibri"/>
                        </a:rPr>
                        <a:t>            BodyStyle = WebMessageBodyStyle.Bare)]</a:t>
                      </a:r>
                    </a:p>
                    <a:p>
                      <a:pPr marL="0" lvl="0" indent="0" algn="l" rtl="0">
                        <a:spcBef>
                          <a:spcPts val="0"/>
                        </a:spcBef>
                        <a:spcAft>
                          <a:spcPts val="0"/>
                        </a:spcAft>
                        <a:buNone/>
                      </a:pPr>
                      <a:r>
                        <a:rPr lang="es-ES" sz="650">
                          <a:solidFill>
                            <a:srgbClr val="4F81BD"/>
                          </a:solidFill>
                          <a:latin typeface="Calibri"/>
                          <a:ea typeface="Calibri"/>
                          <a:cs typeface="Calibri"/>
                          <a:sym typeface="Calibri"/>
                        </a:rPr>
                        <a:t>        RespuestaGeneral CambiarContraseniaRestPost(CambioContraseniaRequest request);</a:t>
                      </a:r>
                    </a:p>
                    <a:p>
                      <a:pPr marL="0" lvl="0" indent="0" algn="l" rtl="0">
                        <a:spcBef>
                          <a:spcPts val="0"/>
                        </a:spcBef>
                        <a:spcAft>
                          <a:spcPts val="0"/>
                        </a:spcAft>
                        <a:buNone/>
                      </a:pPr>
                      <a:endParaRPr lang="es-ES" sz="650">
                        <a:solidFill>
                          <a:srgbClr val="4F81BD"/>
                        </a:solidFill>
                        <a:latin typeface="Calibri"/>
                        <a:ea typeface="Calibri"/>
                        <a:cs typeface="Calibri"/>
                        <a:sym typeface="Calibri"/>
                      </a:endParaRPr>
                    </a:p>
                    <a:p>
                      <a:pPr marL="0" lvl="0" indent="0" algn="l" rtl="0">
                        <a:spcBef>
                          <a:spcPts val="0"/>
                        </a:spcBef>
                        <a:spcAft>
                          <a:spcPts val="0"/>
                        </a:spcAft>
                        <a:buNone/>
                      </a:pPr>
                      <a:r>
                        <a:rPr lang="es-ES" sz="650">
                          <a:solidFill>
                            <a:srgbClr val="4F81BD"/>
                          </a:solidFill>
                          <a:latin typeface="Calibri"/>
                          <a:ea typeface="Calibri"/>
                          <a:cs typeface="Calibri"/>
                          <a:sym typeface="Calibri"/>
                        </a:rPr>
                        <a:t>        [OperationContract]</a:t>
                      </a:r>
                    </a:p>
                    <a:p>
                      <a:pPr marL="0" lvl="0" indent="0" algn="l" rtl="0">
                        <a:spcBef>
                          <a:spcPts val="0"/>
                        </a:spcBef>
                        <a:spcAft>
                          <a:spcPts val="0"/>
                        </a:spcAft>
                        <a:buNone/>
                      </a:pPr>
                      <a:r>
                        <a:rPr lang="es-ES" sz="650">
                          <a:solidFill>
                            <a:srgbClr val="4F81BD"/>
                          </a:solidFill>
                          <a:latin typeface="Calibri"/>
                          <a:ea typeface="Calibri"/>
                          <a:cs typeface="Calibri"/>
                          <a:sym typeface="Calibri"/>
                        </a:rPr>
                        <a:t>        [WebGet(UriTemplate = "auth/validar-token?token={token}",</a:t>
                      </a:r>
                    </a:p>
                    <a:p>
                      <a:pPr marL="0" lvl="0" indent="0" algn="l" rtl="0">
                        <a:spcBef>
                          <a:spcPts val="0"/>
                        </a:spcBef>
                        <a:spcAft>
                          <a:spcPts val="0"/>
                        </a:spcAft>
                        <a:buNone/>
                      </a:pPr>
                      <a:r>
                        <a:rPr lang="es-ES" sz="650">
                          <a:solidFill>
                            <a:srgbClr val="4F81BD"/>
                          </a:solidFill>
                          <a:latin typeface="Calibri"/>
                          <a:ea typeface="Calibri"/>
                          <a:cs typeface="Calibri"/>
                          <a:sym typeface="Calibri"/>
                        </a:rPr>
                        <a:t>            ResponseFormat = WebMessageFormat.Json, BodyStyle = WebMessageBodyStyle.Bare)]</a:t>
                      </a:r>
                    </a:p>
                    <a:p>
                      <a:pPr marL="0" lvl="0" indent="0" algn="l" rtl="0">
                        <a:spcBef>
                          <a:spcPts val="0"/>
                        </a:spcBef>
                        <a:spcAft>
                          <a:spcPts val="0"/>
                        </a:spcAft>
                        <a:buNone/>
                      </a:pPr>
                      <a:r>
                        <a:rPr lang="es-ES" sz="650">
                          <a:solidFill>
                            <a:srgbClr val="4F81BD"/>
                          </a:solidFill>
                          <a:latin typeface="Calibri"/>
                          <a:ea typeface="Calibri"/>
                          <a:cs typeface="Calibri"/>
                          <a:sym typeface="Calibri"/>
                        </a:rPr>
                        <a:t>        RespuestaGeneral ValidarTokenRestGet(string token);</a:t>
                      </a:r>
                    </a:p>
                    <a:p>
                      <a:pPr marL="0" lvl="0" indent="0" algn="l" rtl="0">
                        <a:spcBef>
                          <a:spcPts val="0"/>
                        </a:spcBef>
                        <a:spcAft>
                          <a:spcPts val="0"/>
                        </a:spcAft>
                        <a:buNone/>
                      </a:pPr>
                      <a:endParaRPr lang="es-ES" sz="650">
                        <a:solidFill>
                          <a:srgbClr val="4F81BD"/>
                        </a:solidFill>
                        <a:latin typeface="Calibri"/>
                        <a:ea typeface="Calibri"/>
                        <a:cs typeface="Calibri"/>
                        <a:sym typeface="Calibri"/>
                      </a:endParaRPr>
                    </a:p>
                    <a:p>
                      <a:pPr marL="0" lvl="0" indent="0" algn="l" rtl="0">
                        <a:spcBef>
                          <a:spcPts val="0"/>
                        </a:spcBef>
                        <a:spcAft>
                          <a:spcPts val="0"/>
                        </a:spcAft>
                        <a:buNone/>
                      </a:pPr>
                      <a:r>
                        <a:rPr lang="es-ES" sz="650">
                          <a:solidFill>
                            <a:srgbClr val="4F81BD"/>
                          </a:solidFill>
                          <a:latin typeface="Calibri"/>
                          <a:ea typeface="Calibri"/>
                          <a:cs typeface="Calibri"/>
                          <a:sym typeface="Calibri"/>
                        </a:rPr>
                        <a:t>        [OperationContract]</a:t>
                      </a:r>
                    </a:p>
                    <a:p>
                      <a:pPr marL="0" lvl="0" indent="0" algn="l" rtl="0">
                        <a:spcBef>
                          <a:spcPts val="0"/>
                        </a:spcBef>
                        <a:spcAft>
                          <a:spcPts val="0"/>
                        </a:spcAft>
                        <a:buNone/>
                      </a:pPr>
                      <a:r>
                        <a:rPr lang="es-ES" sz="650">
                          <a:solidFill>
                            <a:srgbClr val="4F81BD"/>
                          </a:solidFill>
                          <a:latin typeface="Calibri"/>
                          <a:ea typeface="Calibri"/>
                          <a:cs typeface="Calibri"/>
                          <a:sym typeface="Calibri"/>
                        </a:rPr>
                        <a:t>        [WebInvoke(Method = "POST", UriTemplate = "auth/logout?token={token}",</a:t>
                      </a:r>
                    </a:p>
                    <a:p>
                      <a:pPr marL="0" lvl="0" indent="0" algn="l" rtl="0">
                        <a:spcBef>
                          <a:spcPts val="0"/>
                        </a:spcBef>
                        <a:spcAft>
                          <a:spcPts val="0"/>
                        </a:spcAft>
                        <a:buNone/>
                      </a:pPr>
                      <a:r>
                        <a:rPr lang="es-ES" sz="650">
                          <a:solidFill>
                            <a:srgbClr val="4F81BD"/>
                          </a:solidFill>
                          <a:latin typeface="Calibri"/>
                          <a:ea typeface="Calibri"/>
                          <a:cs typeface="Calibri"/>
                          <a:sym typeface="Calibri"/>
                        </a:rPr>
                        <a:t>            ResponseFormat = WebMessageFormat.Json, BodyStyle = WebMessageBodyStyle.Bare)]</a:t>
                      </a:r>
                    </a:p>
                    <a:p>
                      <a:pPr marL="0" lvl="0" indent="0" algn="l" rtl="0">
                        <a:spcBef>
                          <a:spcPts val="0"/>
                        </a:spcBef>
                        <a:spcAft>
                          <a:spcPts val="0"/>
                        </a:spcAft>
                        <a:buNone/>
                      </a:pPr>
                      <a:r>
                        <a:rPr lang="es-ES" sz="650">
                          <a:solidFill>
                            <a:srgbClr val="4F81BD"/>
                          </a:solidFill>
                          <a:latin typeface="Calibri"/>
                          <a:ea typeface="Calibri"/>
                          <a:cs typeface="Calibri"/>
                          <a:sym typeface="Calibri"/>
                        </a:rPr>
                        <a:t>        RespuestaGeneral LogoutRestPost(string token);</a:t>
                      </a:r>
                    </a:p>
                    <a:p>
                      <a:pPr marL="0" lvl="0" indent="0" algn="l" rtl="0">
                        <a:spcBef>
                          <a:spcPts val="0"/>
                        </a:spcBef>
                        <a:spcAft>
                          <a:spcPts val="0"/>
                        </a:spcAft>
                        <a:buNone/>
                      </a:pPr>
                      <a:endParaRPr lang="es-ES" sz="650">
                        <a:solidFill>
                          <a:srgbClr val="4F81BD"/>
                        </a:solidFill>
                        <a:latin typeface="Calibri"/>
                        <a:ea typeface="Calibri"/>
                        <a:cs typeface="Calibri"/>
                        <a:sym typeface="Calibri"/>
                      </a:endParaRPr>
                    </a:p>
                    <a:p>
                      <a:pPr marL="0" lvl="0" indent="0" algn="l" rtl="0">
                        <a:spcBef>
                          <a:spcPts val="0"/>
                        </a:spcBef>
                        <a:spcAft>
                          <a:spcPts val="0"/>
                        </a:spcAft>
                        <a:buNone/>
                      </a:pPr>
                      <a:r>
                        <a:rPr lang="es-ES" sz="650">
                          <a:solidFill>
                            <a:srgbClr val="4F81BD"/>
                          </a:solidFill>
                          <a:latin typeface="Calibri"/>
                          <a:ea typeface="Calibri"/>
                          <a:cs typeface="Calibri"/>
                          <a:sym typeface="Calibri"/>
                        </a:rPr>
                        <a:t>        // =========================================================================</a:t>
                      </a:r>
                    </a:p>
                    <a:p>
                      <a:pPr marL="0" lvl="0" indent="0" algn="l" rtl="0">
                        <a:spcBef>
                          <a:spcPts val="0"/>
                        </a:spcBef>
                        <a:spcAft>
                          <a:spcPts val="0"/>
                        </a:spcAft>
                        <a:buNone/>
                      </a:pPr>
                      <a:r>
                        <a:rPr lang="es-ES" sz="650">
                          <a:solidFill>
                            <a:srgbClr val="4F81BD"/>
                          </a:solidFill>
                          <a:latin typeface="Calibri"/>
                          <a:ea typeface="Calibri"/>
                          <a:cs typeface="Calibri"/>
                          <a:sym typeface="Calibri"/>
                        </a:rPr>
                        <a:t>        // CONVERSIÓN DE UNIDADES (Rutas RESTful estándar /conversor/...)</a:t>
                      </a:r>
                    </a:p>
                    <a:p>
                      <a:pPr marL="0" lvl="0" indent="0" algn="l" rtl="0">
                        <a:spcBef>
                          <a:spcPts val="0"/>
                        </a:spcBef>
                        <a:spcAft>
                          <a:spcPts val="0"/>
                        </a:spcAft>
                        <a:buNone/>
                      </a:pPr>
                      <a:r>
                        <a:rPr lang="es-ES" sz="650">
                          <a:solidFill>
                            <a:srgbClr val="4F81BD"/>
                          </a:solidFill>
                          <a:latin typeface="Calibri"/>
                          <a:ea typeface="Calibri"/>
                          <a:cs typeface="Calibri"/>
                          <a:sym typeface="Calibri"/>
                        </a:rPr>
                        <a:t>        // =========================================================================</a:t>
                      </a:r>
                    </a:p>
                    <a:p>
                      <a:pPr marL="0" lvl="0" indent="0" algn="l" rtl="0">
                        <a:spcBef>
                          <a:spcPts val="0"/>
                        </a:spcBef>
                        <a:spcAft>
                          <a:spcPts val="0"/>
                        </a:spcAft>
                        <a:buNone/>
                      </a:pPr>
                      <a:endParaRPr lang="es-ES" sz="650">
                        <a:solidFill>
                          <a:srgbClr val="4F81BD"/>
                        </a:solidFill>
                        <a:latin typeface="Calibri"/>
                        <a:ea typeface="Calibri"/>
                        <a:cs typeface="Calibri"/>
                        <a:sym typeface="Calibri"/>
                      </a:endParaRPr>
                    </a:p>
                    <a:p>
                      <a:pPr marL="0" lvl="0" indent="0" algn="l" rtl="0">
                        <a:spcBef>
                          <a:spcPts val="0"/>
                        </a:spcBef>
                        <a:spcAft>
                          <a:spcPts val="0"/>
                        </a:spcAft>
                        <a:buNone/>
                      </a:pPr>
                      <a:r>
                        <a:rPr lang="es-ES" sz="650">
                          <a:solidFill>
                            <a:srgbClr val="4F81BD"/>
                          </a:solidFill>
                          <a:latin typeface="Calibri"/>
                          <a:ea typeface="Calibri"/>
                          <a:cs typeface="Calibri"/>
                          <a:sym typeface="Calibri"/>
                        </a:rPr>
                        <a:t>        [OperationContract]</a:t>
                      </a:r>
                    </a:p>
                    <a:p>
                      <a:pPr marL="0" lvl="0" indent="0" algn="l" rtl="0">
                        <a:spcBef>
                          <a:spcPts val="0"/>
                        </a:spcBef>
                        <a:spcAft>
                          <a:spcPts val="0"/>
                        </a:spcAft>
                        <a:buNone/>
                      </a:pPr>
                      <a:r>
                        <a:rPr lang="es-ES" sz="650">
                          <a:solidFill>
                            <a:srgbClr val="4F81BD"/>
                          </a:solidFill>
                          <a:latin typeface="Calibri"/>
                          <a:ea typeface="Calibri"/>
                          <a:cs typeface="Calibri"/>
                          <a:sym typeface="Calibri"/>
                        </a:rPr>
                        <a:t>        [WebGet(UriTemplate = "conversor/longitud?valor={valor}&amp;unidadInicial={unidadInicial}&amp;unidadFinal={unidadFinal}",</a:t>
                      </a:r>
                    </a:p>
                    <a:p>
                      <a:pPr marL="0" lvl="0" indent="0" algn="l" rtl="0">
                        <a:spcBef>
                          <a:spcPts val="0"/>
                        </a:spcBef>
                        <a:spcAft>
                          <a:spcPts val="0"/>
                        </a:spcAft>
                        <a:buNone/>
                      </a:pPr>
                      <a:r>
                        <a:rPr lang="es-ES" sz="650">
                          <a:solidFill>
                            <a:srgbClr val="4F81BD"/>
                          </a:solidFill>
                          <a:latin typeface="Calibri"/>
                          <a:ea typeface="Calibri"/>
                          <a:cs typeface="Calibri"/>
                          <a:sym typeface="Calibri"/>
                        </a:rPr>
                        <a:t>            ResponseFormat = WebMessageFormat.Json, BodyStyle = WebMessageBodyStyle.Bare)]</a:t>
                      </a:r>
                    </a:p>
                    <a:p>
                      <a:pPr marL="0" lvl="0" indent="0" algn="l" rtl="0">
                        <a:spcBef>
                          <a:spcPts val="0"/>
                        </a:spcBef>
                        <a:spcAft>
                          <a:spcPts val="0"/>
                        </a:spcAft>
                        <a:buNone/>
                      </a:pPr>
                      <a:r>
                        <a:rPr lang="es-ES" sz="650">
                          <a:solidFill>
                            <a:srgbClr val="4F81BD"/>
                          </a:solidFill>
                          <a:latin typeface="Calibri"/>
                          <a:ea typeface="Calibri"/>
                          <a:cs typeface="Calibri"/>
                          <a:sym typeface="Calibri"/>
                        </a:rPr>
                        <a:t>        ConversionResponse ConvertirLongitudRestGet(string valor, string unidadInicial, string unidadFinal);</a:t>
                      </a:r>
                    </a:p>
                    <a:p>
                      <a:pPr marL="0" lvl="0" indent="0" algn="l" rtl="0">
                        <a:spcBef>
                          <a:spcPts val="0"/>
                        </a:spcBef>
                        <a:spcAft>
                          <a:spcPts val="0"/>
                        </a:spcAft>
                        <a:buNone/>
                      </a:pPr>
                      <a:endParaRPr lang="es-ES" sz="650">
                        <a:solidFill>
                          <a:srgbClr val="4F81BD"/>
                        </a:solidFill>
                        <a:latin typeface="Calibri"/>
                        <a:ea typeface="Calibri"/>
                        <a:cs typeface="Calibri"/>
                        <a:sym typeface="Calibri"/>
                      </a:endParaRPr>
                    </a:p>
                    <a:p>
                      <a:pPr marL="0" lvl="0" indent="0" algn="l" rtl="0">
                        <a:spcBef>
                          <a:spcPts val="0"/>
                        </a:spcBef>
                        <a:spcAft>
                          <a:spcPts val="0"/>
                        </a:spcAft>
                        <a:buNone/>
                      </a:pPr>
                      <a:r>
                        <a:rPr lang="es-ES" sz="650">
                          <a:solidFill>
                            <a:srgbClr val="4F81BD"/>
                          </a:solidFill>
                          <a:latin typeface="Calibri"/>
                          <a:ea typeface="Calibri"/>
                          <a:cs typeface="Calibri"/>
                          <a:sym typeface="Calibri"/>
                        </a:rPr>
                        <a:t>        [OperationContract]</a:t>
                      </a:r>
                    </a:p>
                    <a:p>
                      <a:pPr marL="0" lvl="0" indent="0" algn="l" rtl="0">
                        <a:spcBef>
                          <a:spcPts val="0"/>
                        </a:spcBef>
                        <a:spcAft>
                          <a:spcPts val="0"/>
                        </a:spcAft>
                        <a:buNone/>
                      </a:pPr>
                      <a:r>
                        <a:rPr lang="es-ES" sz="650">
                          <a:solidFill>
                            <a:srgbClr val="4F81BD"/>
                          </a:solidFill>
                          <a:latin typeface="Calibri"/>
                          <a:ea typeface="Calibri"/>
                          <a:cs typeface="Calibri"/>
                          <a:sym typeface="Calibri"/>
                        </a:rPr>
                        <a:t>        [WebInvoke(Method = "POST", UriTemplate = "conversor/longitud",</a:t>
                      </a:r>
                    </a:p>
                    <a:p>
                      <a:pPr marL="0" lvl="0" indent="0" algn="l" rtl="0">
                        <a:spcBef>
                          <a:spcPts val="0"/>
                        </a:spcBef>
                        <a:spcAft>
                          <a:spcPts val="0"/>
                        </a:spcAft>
                        <a:buNone/>
                      </a:pPr>
                      <a:r>
                        <a:rPr lang="es-ES" sz="650">
                          <a:solidFill>
                            <a:srgbClr val="4F81BD"/>
                          </a:solidFill>
                          <a:latin typeface="Calibri"/>
                          <a:ea typeface="Calibri"/>
                          <a:cs typeface="Calibri"/>
                          <a:sym typeface="Calibri"/>
                        </a:rPr>
                        <a:t>            RequestFormat = WebMessageFormat.Json, ResponseFormat = WebMessageFormat.Json,</a:t>
                      </a:r>
                    </a:p>
                    <a:p>
                      <a:pPr marL="0" lvl="0" indent="0" algn="l" rtl="0">
                        <a:spcBef>
                          <a:spcPts val="0"/>
                        </a:spcBef>
                        <a:spcAft>
                          <a:spcPts val="0"/>
                        </a:spcAft>
                        <a:buNone/>
                      </a:pPr>
                      <a:r>
                        <a:rPr lang="es-ES" sz="650">
                          <a:solidFill>
                            <a:srgbClr val="4F81BD"/>
                          </a:solidFill>
                          <a:latin typeface="Calibri"/>
                          <a:ea typeface="Calibri"/>
                          <a:cs typeface="Calibri"/>
                          <a:sym typeface="Calibri"/>
                        </a:rPr>
                        <a:t>            BodyStyle = WebMessageBodyStyle.Bare)]</a:t>
                      </a:r>
                    </a:p>
                    <a:p>
                      <a:pPr marL="0" lvl="0" indent="0" algn="l" rtl="0">
                        <a:spcBef>
                          <a:spcPts val="0"/>
                        </a:spcBef>
                        <a:spcAft>
                          <a:spcPts val="0"/>
                        </a:spcAft>
                        <a:buNone/>
                      </a:pPr>
                      <a:r>
                        <a:rPr lang="es-ES" sz="650">
                          <a:solidFill>
                            <a:srgbClr val="4F81BD"/>
                          </a:solidFill>
                          <a:latin typeface="Calibri"/>
                          <a:ea typeface="Calibri"/>
                          <a:cs typeface="Calibri"/>
                          <a:sym typeface="Calibri"/>
                        </a:rPr>
                        <a:t>        ConversionResponse ConvertirLongitudRestPost(ConversionRequest request);</a:t>
                      </a:r>
                    </a:p>
                    <a:p>
                      <a:pPr marL="0" lvl="0" indent="0" algn="l" rtl="0">
                        <a:spcBef>
                          <a:spcPts val="0"/>
                        </a:spcBef>
                        <a:spcAft>
                          <a:spcPts val="0"/>
                        </a:spcAft>
                        <a:buNone/>
                      </a:pPr>
                      <a:endParaRPr lang="es-ES" sz="650">
                        <a:solidFill>
                          <a:srgbClr val="4F81BD"/>
                        </a:solidFill>
                        <a:latin typeface="Calibri"/>
                        <a:ea typeface="Calibri"/>
                        <a:cs typeface="Calibri"/>
                        <a:sym typeface="Calibri"/>
                      </a:endParaRPr>
                    </a:p>
                    <a:p>
                      <a:pPr marL="0" lvl="0" indent="0" algn="l" rtl="0">
                        <a:spcBef>
                          <a:spcPts val="0"/>
                        </a:spcBef>
                        <a:spcAft>
                          <a:spcPts val="0"/>
                        </a:spcAft>
                        <a:buNone/>
                      </a:pPr>
                      <a:r>
                        <a:rPr lang="es-ES" sz="650">
                          <a:solidFill>
                            <a:srgbClr val="4F81BD"/>
                          </a:solidFill>
                          <a:latin typeface="Calibri"/>
                          <a:ea typeface="Calibri"/>
                          <a:cs typeface="Calibri"/>
                          <a:sym typeface="Calibri"/>
                        </a:rPr>
                        <a:t>        [OperationContract]</a:t>
                      </a:r>
                    </a:p>
                    <a:p>
                      <a:pPr marL="0" lvl="0" indent="0" algn="l" rtl="0">
                        <a:spcBef>
                          <a:spcPts val="0"/>
                        </a:spcBef>
                        <a:spcAft>
                          <a:spcPts val="0"/>
                        </a:spcAft>
                        <a:buNone/>
                      </a:pPr>
                      <a:r>
                        <a:rPr lang="es-ES" sz="650">
                          <a:solidFill>
                            <a:srgbClr val="4F81BD"/>
                          </a:solidFill>
                          <a:latin typeface="Calibri"/>
                          <a:ea typeface="Calibri"/>
                          <a:cs typeface="Calibri"/>
                          <a:sym typeface="Calibri"/>
                        </a:rPr>
                        <a:t>    // ...</a:t>
                      </a:r>
                      <a:endParaRPr sz="65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6. Se declaran las rutas del servicio con UriTemplate (auth/... y conversor/...) y el formato JSON.</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008578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extLst>
              <p:ext uri="{D42A27DB-BD31-4B8C-83A1-F6EECF244321}">
                <p14:modId xmlns:p14="http://schemas.microsoft.com/office/powerpoint/2010/main" val="2087975992"/>
              </p:ext>
            </p:extLst>
          </p:nvPr>
        </p:nvGraphicFramePr>
        <p:xfrm>
          <a:off x="3881150" y="2291900"/>
          <a:ext cx="4894525" cy="40894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3742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public class LoginResponse</a:t>
                      </a:r>
                    </a:p>
                    <a:p>
                      <a:pPr marL="0" lvl="0" indent="0" algn="l" rtl="0">
                        <a:spcBef>
                          <a:spcPts val="0"/>
                        </a:spcBef>
                        <a:spcAft>
                          <a:spcPts val="0"/>
                        </a:spcAft>
                        <a:buNone/>
                      </a:pPr>
                      <a:r>
                        <a:rPr lang="es-ES" sz="1000">
                          <a:solidFill>
                            <a:srgbClr val="4F81BD"/>
                          </a:solidFill>
                          <a:latin typeface="Calibri"/>
                          <a:ea typeface="Calibri"/>
                          <a:cs typeface="Calibri"/>
                          <a:sym typeface="Calibri"/>
                        </a:rPr>
                        <a:t>{</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bool Exito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Token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Usuario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Mensaje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public class ConversionResponse</a:t>
                      </a:r>
                    </a:p>
                    <a:p>
                      <a:pPr marL="0" lvl="0" indent="0" algn="l" rtl="0">
                        <a:spcBef>
                          <a:spcPts val="0"/>
                        </a:spcBef>
                        <a:spcAft>
                          <a:spcPts val="0"/>
                        </a:spcAft>
                        <a:buNone/>
                      </a:pPr>
                      <a:r>
                        <a:rPr lang="es-ES" sz="1000">
                          <a:solidFill>
                            <a:srgbClr val="4F81BD"/>
                          </a:solidFill>
                          <a:latin typeface="Calibri"/>
                          <a:ea typeface="Calibri"/>
                          <a:cs typeface="Calibri"/>
                          <a:sym typeface="Calibri"/>
                        </a:rPr>
                        <a:t>{</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bool Exito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Tipo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ValorInicial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UnidadInicial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ValorFinal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UnidadFinal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Mensaje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Timestamp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public class RespuestaGeneral</a:t>
                      </a:r>
                    </a:p>
                    <a:p>
                      <a:pPr marL="0" lvl="0" indent="0" algn="l" rtl="0">
                        <a:spcBef>
                          <a:spcPts val="0"/>
                        </a:spcBef>
                        <a:spcAft>
                          <a:spcPts val="0"/>
                        </a:spcAft>
                        <a:buNone/>
                      </a:pPr>
                      <a:r>
                        <a:rPr lang="es-ES" sz="1000">
                          <a:solidFill>
                            <a:srgbClr val="4F81BD"/>
                          </a:solidFill>
                          <a:latin typeface="Calibri"/>
                          <a:ea typeface="Calibri"/>
                          <a:cs typeface="Calibri"/>
                          <a:sym typeface="Calibri"/>
                        </a:rPr>
                        <a:t>{</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bool Exito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Mensaje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    public string Data { get; set; }</a:t>
                      </a: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7. Se crean los DTO que viajan como JSON entre el cliente y el servidor.</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538255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extLst>
              <p:ext uri="{D42A27DB-BD31-4B8C-83A1-F6EECF244321}">
                <p14:modId xmlns:p14="http://schemas.microsoft.com/office/powerpoint/2010/main" val="4145462968"/>
              </p:ext>
            </p:extLst>
          </p:nvPr>
        </p:nvGraphicFramePr>
        <p:xfrm>
          <a:off x="3881150" y="2291900"/>
          <a:ext cx="4894525" cy="418846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3742900">
                <a:tc>
                  <a:txBody>
                    <a:bodyPr/>
                    <a:lstStyle/>
                    <a:p>
                      <a:pPr marL="0" lvl="0" indent="0" algn="l" rtl="0">
                        <a:spcBef>
                          <a:spcPts val="0"/>
                        </a:spcBef>
                        <a:spcAft>
                          <a:spcPts val="0"/>
                        </a:spcAft>
                        <a:buNone/>
                      </a:pPr>
                      <a:r>
                        <a:rPr lang="es-ES" sz="650">
                          <a:solidFill>
                            <a:srgbClr val="4F81BD"/>
                          </a:solidFill>
                          <a:latin typeface="Calibri"/>
                          <a:ea typeface="Calibri"/>
                          <a:cs typeface="Calibri"/>
                          <a:sym typeface="Calibri"/>
                        </a:rPr>
                        <a:t>    &lt;bindings&gt;</a:t>
                      </a:r>
                    </a:p>
                    <a:p>
                      <a:pPr marL="0" lvl="0" indent="0" algn="l" rtl="0">
                        <a:spcBef>
                          <a:spcPts val="0"/>
                        </a:spcBef>
                        <a:spcAft>
                          <a:spcPts val="0"/>
                        </a:spcAft>
                        <a:buNone/>
                      </a:pPr>
                      <a:r>
                        <a:rPr lang="es-ES" sz="650">
                          <a:solidFill>
                            <a:srgbClr val="4F81BD"/>
                          </a:solidFill>
                          <a:latin typeface="Calibri"/>
                          <a:ea typeface="Calibri"/>
                          <a:cs typeface="Calibri"/>
                          <a:sym typeface="Calibri"/>
                        </a:rPr>
                        <a:t>      &lt;webHttpBinding&gt;</a:t>
                      </a:r>
                    </a:p>
                    <a:p>
                      <a:pPr marL="0" lvl="0" indent="0" algn="l" rtl="0">
                        <a:spcBef>
                          <a:spcPts val="0"/>
                        </a:spcBef>
                        <a:spcAft>
                          <a:spcPts val="0"/>
                        </a:spcAft>
                        <a:buNone/>
                      </a:pPr>
                      <a:r>
                        <a:rPr lang="es-ES" sz="650">
                          <a:solidFill>
                            <a:srgbClr val="4F81BD"/>
                          </a:solidFill>
                          <a:latin typeface="Calibri"/>
                          <a:ea typeface="Calibri"/>
                          <a:cs typeface="Calibri"/>
                          <a:sym typeface="Calibri"/>
                        </a:rPr>
                        <a:t>        &lt;binding name="webHttpBindingConfig"</a:t>
                      </a:r>
                    </a:p>
                    <a:p>
                      <a:pPr marL="0" lvl="0" indent="0" algn="l" rtl="0">
                        <a:spcBef>
                          <a:spcPts val="0"/>
                        </a:spcBef>
                        <a:spcAft>
                          <a:spcPts val="0"/>
                        </a:spcAft>
                        <a:buNone/>
                      </a:pPr>
                      <a:r>
                        <a:rPr lang="es-ES" sz="650">
                          <a:solidFill>
                            <a:srgbClr val="4F81BD"/>
                          </a:solidFill>
                          <a:latin typeface="Calibri"/>
                          <a:ea typeface="Calibri"/>
                          <a:cs typeface="Calibri"/>
                          <a:sym typeface="Calibri"/>
                        </a:rPr>
                        <a:t>                 maxReceivedMessageSize="2147483647"</a:t>
                      </a:r>
                    </a:p>
                    <a:p>
                      <a:pPr marL="0" lvl="0" indent="0" algn="l" rtl="0">
                        <a:spcBef>
                          <a:spcPts val="0"/>
                        </a:spcBef>
                        <a:spcAft>
                          <a:spcPts val="0"/>
                        </a:spcAft>
                        <a:buNone/>
                      </a:pPr>
                      <a:r>
                        <a:rPr lang="es-ES" sz="650">
                          <a:solidFill>
                            <a:srgbClr val="4F81BD"/>
                          </a:solidFill>
                          <a:latin typeface="Calibri"/>
                          <a:ea typeface="Calibri"/>
                          <a:cs typeface="Calibri"/>
                          <a:sym typeface="Calibri"/>
                        </a:rPr>
                        <a:t>                 maxBufferPoolSize="2147483647"&gt;</a:t>
                      </a:r>
                    </a:p>
                    <a:p>
                      <a:pPr marL="0" lvl="0" indent="0" algn="l" rtl="0">
                        <a:spcBef>
                          <a:spcPts val="0"/>
                        </a:spcBef>
                        <a:spcAft>
                          <a:spcPts val="0"/>
                        </a:spcAft>
                        <a:buNone/>
                      </a:pPr>
                      <a:r>
                        <a:rPr lang="es-ES" sz="650">
                          <a:solidFill>
                            <a:srgbClr val="4F81BD"/>
                          </a:solidFill>
                          <a:latin typeface="Calibri"/>
                          <a:ea typeface="Calibri"/>
                          <a:cs typeface="Calibri"/>
                          <a:sym typeface="Calibri"/>
                        </a:rPr>
                        <a:t>          &lt;readerQuotas maxDepth="32"</a:t>
                      </a:r>
                    </a:p>
                    <a:p>
                      <a:pPr marL="0" lvl="0" indent="0" algn="l" rtl="0">
                        <a:spcBef>
                          <a:spcPts val="0"/>
                        </a:spcBef>
                        <a:spcAft>
                          <a:spcPts val="0"/>
                        </a:spcAft>
                        <a:buNone/>
                      </a:pPr>
                      <a:r>
                        <a:rPr lang="es-ES" sz="650">
                          <a:solidFill>
                            <a:srgbClr val="4F81BD"/>
                          </a:solidFill>
                          <a:latin typeface="Calibri"/>
                          <a:ea typeface="Calibri"/>
                          <a:cs typeface="Calibri"/>
                          <a:sym typeface="Calibri"/>
                        </a:rPr>
                        <a:t>                        maxStringContentLength="2147483647"</a:t>
                      </a:r>
                    </a:p>
                    <a:p>
                      <a:pPr marL="0" lvl="0" indent="0" algn="l" rtl="0">
                        <a:spcBef>
                          <a:spcPts val="0"/>
                        </a:spcBef>
                        <a:spcAft>
                          <a:spcPts val="0"/>
                        </a:spcAft>
                        <a:buNone/>
                      </a:pPr>
                      <a:r>
                        <a:rPr lang="es-ES" sz="650">
                          <a:solidFill>
                            <a:srgbClr val="4F81BD"/>
                          </a:solidFill>
                          <a:latin typeface="Calibri"/>
                          <a:ea typeface="Calibri"/>
                          <a:cs typeface="Calibri"/>
                          <a:sym typeface="Calibri"/>
                        </a:rPr>
                        <a:t>                        maxArrayLength="2147483647"</a:t>
                      </a:r>
                    </a:p>
                    <a:p>
                      <a:pPr marL="0" lvl="0" indent="0" algn="l" rtl="0">
                        <a:spcBef>
                          <a:spcPts val="0"/>
                        </a:spcBef>
                        <a:spcAft>
                          <a:spcPts val="0"/>
                        </a:spcAft>
                        <a:buNone/>
                      </a:pPr>
                      <a:r>
                        <a:rPr lang="es-ES" sz="650">
                          <a:solidFill>
                            <a:srgbClr val="4F81BD"/>
                          </a:solidFill>
                          <a:latin typeface="Calibri"/>
                          <a:ea typeface="Calibri"/>
                          <a:cs typeface="Calibri"/>
                          <a:sym typeface="Calibri"/>
                        </a:rPr>
                        <a:t>                        maxBytesPerRead="2147483647"</a:t>
                      </a:r>
                    </a:p>
                    <a:p>
                      <a:pPr marL="0" lvl="0" indent="0" algn="l" rtl="0">
                        <a:spcBef>
                          <a:spcPts val="0"/>
                        </a:spcBef>
                        <a:spcAft>
                          <a:spcPts val="0"/>
                        </a:spcAft>
                        <a:buNone/>
                      </a:pPr>
                      <a:r>
                        <a:rPr lang="es-ES" sz="650">
                          <a:solidFill>
                            <a:srgbClr val="4F81BD"/>
                          </a:solidFill>
                          <a:latin typeface="Calibri"/>
                          <a:ea typeface="Calibri"/>
                          <a:cs typeface="Calibri"/>
                          <a:sym typeface="Calibri"/>
                        </a:rPr>
                        <a:t>                        maxNameTableCharCount="2147483647" /&gt;</a:t>
                      </a:r>
                    </a:p>
                    <a:p>
                      <a:pPr marL="0" lvl="0" indent="0" algn="l" rtl="0">
                        <a:spcBef>
                          <a:spcPts val="0"/>
                        </a:spcBef>
                        <a:spcAft>
                          <a:spcPts val="0"/>
                        </a:spcAft>
                        <a:buNone/>
                      </a:pPr>
                      <a:r>
                        <a:rPr lang="es-ES" sz="650">
                          <a:solidFill>
                            <a:srgbClr val="4F81BD"/>
                          </a:solidFill>
                          <a:latin typeface="Calibri"/>
                          <a:ea typeface="Calibri"/>
                          <a:cs typeface="Calibri"/>
                          <a:sym typeface="Calibri"/>
                        </a:rPr>
                        <a:t>          &lt;security mode="None" /&gt;</a:t>
                      </a:r>
                    </a:p>
                    <a:p>
                      <a:pPr marL="0" lvl="0" indent="0" algn="l" rtl="0">
                        <a:spcBef>
                          <a:spcPts val="0"/>
                        </a:spcBef>
                        <a:spcAft>
                          <a:spcPts val="0"/>
                        </a:spcAft>
                        <a:buNone/>
                      </a:pPr>
                      <a:r>
                        <a:rPr lang="es-ES" sz="650">
                          <a:solidFill>
                            <a:srgbClr val="4F81BD"/>
                          </a:solidFill>
                          <a:latin typeface="Calibri"/>
                          <a:ea typeface="Calibri"/>
                          <a:cs typeface="Calibri"/>
                          <a:sym typeface="Calibri"/>
                        </a:rPr>
                        <a:t>        &lt;/binding&gt;</a:t>
                      </a:r>
                    </a:p>
                    <a:p>
                      <a:pPr marL="0" lvl="0" indent="0" algn="l" rtl="0">
                        <a:spcBef>
                          <a:spcPts val="0"/>
                        </a:spcBef>
                        <a:spcAft>
                          <a:spcPts val="0"/>
                        </a:spcAft>
                        <a:buNone/>
                      </a:pPr>
                      <a:r>
                        <a:rPr lang="es-ES" sz="650">
                          <a:solidFill>
                            <a:srgbClr val="4F81BD"/>
                          </a:solidFill>
                          <a:latin typeface="Calibri"/>
                          <a:ea typeface="Calibri"/>
                          <a:cs typeface="Calibri"/>
                          <a:sym typeface="Calibri"/>
                        </a:rPr>
                        <a:t>      &lt;/webHttpBinding&gt;</a:t>
                      </a:r>
                    </a:p>
                    <a:p>
                      <a:pPr marL="0" lvl="0" indent="0" algn="l" rtl="0">
                        <a:spcBef>
                          <a:spcPts val="0"/>
                        </a:spcBef>
                        <a:spcAft>
                          <a:spcPts val="0"/>
                        </a:spcAft>
                        <a:buNone/>
                      </a:pPr>
                      <a:r>
                        <a:rPr lang="es-ES" sz="650">
                          <a:solidFill>
                            <a:srgbClr val="4F81BD"/>
                          </a:solidFill>
                          <a:latin typeface="Calibri"/>
                          <a:ea typeface="Calibri"/>
                          <a:cs typeface="Calibri"/>
                          <a:sym typeface="Calibri"/>
                        </a:rPr>
                        <a:t>    &lt;/bindings&gt;</a:t>
                      </a:r>
                    </a:p>
                    <a:p>
                      <a:pPr marL="0" lvl="0" indent="0" algn="l" rtl="0">
                        <a:spcBef>
                          <a:spcPts val="0"/>
                        </a:spcBef>
                        <a:spcAft>
                          <a:spcPts val="0"/>
                        </a:spcAft>
                        <a:buNone/>
                      </a:pPr>
                      <a:endParaRPr lang="es-ES" sz="650">
                        <a:solidFill>
                          <a:srgbClr val="4F81BD"/>
                        </a:solidFill>
                        <a:latin typeface="Calibri"/>
                        <a:ea typeface="Calibri"/>
                        <a:cs typeface="Calibri"/>
                        <a:sym typeface="Calibri"/>
                      </a:endParaRPr>
                    </a:p>
                    <a:p>
                      <a:pPr marL="0" lvl="0" indent="0" algn="l" rtl="0">
                        <a:spcBef>
                          <a:spcPts val="0"/>
                        </a:spcBef>
                        <a:spcAft>
                          <a:spcPts val="0"/>
                        </a:spcAft>
                        <a:buNone/>
                      </a:pPr>
                      <a:r>
                        <a:rPr lang="es-ES" sz="650">
                          <a:solidFill>
                            <a:srgbClr val="4F81BD"/>
                          </a:solidFill>
                          <a:latin typeface="Calibri"/>
                          <a:ea typeface="Calibri"/>
                          <a:cs typeface="Calibri"/>
                          <a:sym typeface="Calibri"/>
                        </a:rPr>
                        <a:t>    &lt;services&gt;</a:t>
                      </a:r>
                    </a:p>
                    <a:p>
                      <a:pPr marL="0" lvl="0" indent="0" algn="l" rtl="0">
                        <a:spcBef>
                          <a:spcPts val="0"/>
                        </a:spcBef>
                        <a:spcAft>
                          <a:spcPts val="0"/>
                        </a:spcAft>
                        <a:buNone/>
                      </a:pPr>
                      <a:r>
                        <a:rPr lang="es-ES" sz="650">
                          <a:solidFill>
                            <a:srgbClr val="4F81BD"/>
                          </a:solidFill>
                          <a:latin typeface="Calibri"/>
                          <a:ea typeface="Calibri"/>
                          <a:cs typeface="Calibri"/>
                          <a:sym typeface="Calibri"/>
                        </a:rPr>
                        <a:t>      &lt;service name="ServidorWebRestFul.ServicioWebRest" behaviorConfiguration="RestServiceBehavior"&gt;</a:t>
                      </a:r>
                    </a:p>
                    <a:p>
                      <a:pPr marL="0" lvl="0" indent="0" algn="l" rtl="0">
                        <a:spcBef>
                          <a:spcPts val="0"/>
                        </a:spcBef>
                        <a:spcAft>
                          <a:spcPts val="0"/>
                        </a:spcAft>
                        <a:buNone/>
                      </a:pPr>
                      <a:r>
                        <a:rPr lang="es-ES" sz="650">
                          <a:solidFill>
                            <a:srgbClr val="4F81BD"/>
                          </a:solidFill>
                          <a:latin typeface="Calibri"/>
                          <a:ea typeface="Calibri"/>
                          <a:cs typeface="Calibri"/>
                          <a:sym typeface="Calibri"/>
                        </a:rPr>
                        <a:t>        &lt;endpoint address=""</a:t>
                      </a:r>
                    </a:p>
                    <a:p>
                      <a:pPr marL="0" lvl="0" indent="0" algn="l" rtl="0">
                        <a:spcBef>
                          <a:spcPts val="0"/>
                        </a:spcBef>
                        <a:spcAft>
                          <a:spcPts val="0"/>
                        </a:spcAft>
                        <a:buNone/>
                      </a:pPr>
                      <a:r>
                        <a:rPr lang="es-ES" sz="650">
                          <a:solidFill>
                            <a:srgbClr val="4F81BD"/>
                          </a:solidFill>
                          <a:latin typeface="Calibri"/>
                          <a:ea typeface="Calibri"/>
                          <a:cs typeface="Calibri"/>
                          <a:sym typeface="Calibri"/>
                        </a:rPr>
                        <a:t>                  binding="webHttpBinding"</a:t>
                      </a:r>
                    </a:p>
                    <a:p>
                      <a:pPr marL="0" lvl="0" indent="0" algn="l" rtl="0">
                        <a:spcBef>
                          <a:spcPts val="0"/>
                        </a:spcBef>
                        <a:spcAft>
                          <a:spcPts val="0"/>
                        </a:spcAft>
                        <a:buNone/>
                      </a:pPr>
                      <a:r>
                        <a:rPr lang="es-ES" sz="650">
                          <a:solidFill>
                            <a:srgbClr val="4F81BD"/>
                          </a:solidFill>
                          <a:latin typeface="Calibri"/>
                          <a:ea typeface="Calibri"/>
                          <a:cs typeface="Calibri"/>
                          <a:sym typeface="Calibri"/>
                        </a:rPr>
                        <a:t>                  bindingConfiguration="webHttpBindingConfig"</a:t>
                      </a:r>
                    </a:p>
                    <a:p>
                      <a:pPr marL="0" lvl="0" indent="0" algn="l" rtl="0">
                        <a:spcBef>
                          <a:spcPts val="0"/>
                        </a:spcBef>
                        <a:spcAft>
                          <a:spcPts val="0"/>
                        </a:spcAft>
                        <a:buNone/>
                      </a:pPr>
                      <a:r>
                        <a:rPr lang="es-ES" sz="650">
                          <a:solidFill>
                            <a:srgbClr val="4F81BD"/>
                          </a:solidFill>
                          <a:latin typeface="Calibri"/>
                          <a:ea typeface="Calibri"/>
                          <a:cs typeface="Calibri"/>
                          <a:sym typeface="Calibri"/>
                        </a:rPr>
                        <a:t>                  behaviorConfiguration="RestEndpointBehavior"</a:t>
                      </a:r>
                    </a:p>
                    <a:p>
                      <a:pPr marL="0" lvl="0" indent="0" algn="l" rtl="0">
                        <a:spcBef>
                          <a:spcPts val="0"/>
                        </a:spcBef>
                        <a:spcAft>
                          <a:spcPts val="0"/>
                        </a:spcAft>
                        <a:buNone/>
                      </a:pPr>
                      <a:r>
                        <a:rPr lang="es-ES" sz="650">
                          <a:solidFill>
                            <a:srgbClr val="4F81BD"/>
                          </a:solidFill>
                          <a:latin typeface="Calibri"/>
                          <a:ea typeface="Calibri"/>
                          <a:cs typeface="Calibri"/>
                          <a:sym typeface="Calibri"/>
                        </a:rPr>
                        <a:t>                  contract="ec.edu.monster.servicio.IWSConversorRest" /&gt;</a:t>
                      </a:r>
                    </a:p>
                    <a:p>
                      <a:pPr marL="0" lvl="0" indent="0" algn="l" rtl="0">
                        <a:spcBef>
                          <a:spcPts val="0"/>
                        </a:spcBef>
                        <a:spcAft>
                          <a:spcPts val="0"/>
                        </a:spcAft>
                        <a:buNone/>
                      </a:pPr>
                      <a:r>
                        <a:rPr lang="es-ES" sz="650">
                          <a:solidFill>
                            <a:srgbClr val="4F81BD"/>
                          </a:solidFill>
                          <a:latin typeface="Calibri"/>
                          <a:ea typeface="Calibri"/>
                          <a:cs typeface="Calibri"/>
                          <a:sym typeface="Calibri"/>
                        </a:rPr>
                        <a:t>      &lt;/service&gt;</a:t>
                      </a:r>
                    </a:p>
                    <a:p>
                      <a:pPr marL="0" lvl="0" indent="0" algn="l" rtl="0">
                        <a:spcBef>
                          <a:spcPts val="0"/>
                        </a:spcBef>
                        <a:spcAft>
                          <a:spcPts val="0"/>
                        </a:spcAft>
                        <a:buNone/>
                      </a:pPr>
                      <a:r>
                        <a:rPr lang="es-ES" sz="650">
                          <a:solidFill>
                            <a:srgbClr val="4F81BD"/>
                          </a:solidFill>
                          <a:latin typeface="Calibri"/>
                          <a:ea typeface="Calibri"/>
                          <a:cs typeface="Calibri"/>
                          <a:sym typeface="Calibri"/>
                        </a:rPr>
                        <a:t>    &lt;/services&gt;</a:t>
                      </a:r>
                    </a:p>
                    <a:p>
                      <a:pPr marL="0" lvl="0" indent="0" algn="l" rtl="0">
                        <a:spcBef>
                          <a:spcPts val="0"/>
                        </a:spcBef>
                        <a:spcAft>
                          <a:spcPts val="0"/>
                        </a:spcAft>
                        <a:buNone/>
                      </a:pPr>
                      <a:endParaRPr lang="es-ES" sz="650">
                        <a:solidFill>
                          <a:srgbClr val="4F81BD"/>
                        </a:solidFill>
                        <a:latin typeface="Calibri"/>
                        <a:ea typeface="Calibri"/>
                        <a:cs typeface="Calibri"/>
                        <a:sym typeface="Calibri"/>
                      </a:endParaRPr>
                    </a:p>
                    <a:p>
                      <a:pPr marL="0" lvl="0" indent="0" algn="l" rtl="0">
                        <a:spcBef>
                          <a:spcPts val="0"/>
                        </a:spcBef>
                        <a:spcAft>
                          <a:spcPts val="0"/>
                        </a:spcAft>
                        <a:buNone/>
                      </a:pPr>
                      <a:r>
                        <a:rPr lang="es-ES" sz="650">
                          <a:solidFill>
                            <a:srgbClr val="4F81BD"/>
                          </a:solidFill>
                          <a:latin typeface="Calibri"/>
                          <a:ea typeface="Calibri"/>
                          <a:cs typeface="Calibri"/>
                          <a:sym typeface="Calibri"/>
                        </a:rPr>
                        <a:t>    &lt;behaviors&gt;</a:t>
                      </a:r>
                    </a:p>
                    <a:p>
                      <a:pPr marL="0" lvl="0" indent="0" algn="l" rtl="0">
                        <a:spcBef>
                          <a:spcPts val="0"/>
                        </a:spcBef>
                        <a:spcAft>
                          <a:spcPts val="0"/>
                        </a:spcAft>
                        <a:buNone/>
                      </a:pPr>
                      <a:r>
                        <a:rPr lang="es-ES" sz="650">
                          <a:solidFill>
                            <a:srgbClr val="4F81BD"/>
                          </a:solidFill>
                          <a:latin typeface="Calibri"/>
                          <a:ea typeface="Calibri"/>
                          <a:cs typeface="Calibri"/>
                          <a:sym typeface="Calibri"/>
                        </a:rPr>
                        <a:t>      &lt;serviceBehaviors&gt;</a:t>
                      </a:r>
                    </a:p>
                    <a:p>
                      <a:pPr marL="0" lvl="0" indent="0" algn="l" rtl="0">
                        <a:spcBef>
                          <a:spcPts val="0"/>
                        </a:spcBef>
                        <a:spcAft>
                          <a:spcPts val="0"/>
                        </a:spcAft>
                        <a:buNone/>
                      </a:pPr>
                      <a:r>
                        <a:rPr lang="es-ES" sz="650">
                          <a:solidFill>
                            <a:srgbClr val="4F81BD"/>
                          </a:solidFill>
                          <a:latin typeface="Calibri"/>
                          <a:ea typeface="Calibri"/>
                          <a:cs typeface="Calibri"/>
                          <a:sym typeface="Calibri"/>
                        </a:rPr>
                        <a:t>        &lt;behavior name="RestServiceBehavior"&gt;</a:t>
                      </a:r>
                    </a:p>
                    <a:p>
                      <a:pPr marL="0" lvl="0" indent="0" algn="l" rtl="0">
                        <a:spcBef>
                          <a:spcPts val="0"/>
                        </a:spcBef>
                        <a:spcAft>
                          <a:spcPts val="0"/>
                        </a:spcAft>
                        <a:buNone/>
                      </a:pPr>
                      <a:r>
                        <a:rPr lang="es-ES" sz="650">
                          <a:solidFill>
                            <a:srgbClr val="4F81BD"/>
                          </a:solidFill>
                          <a:latin typeface="Calibri"/>
                          <a:ea typeface="Calibri"/>
                          <a:cs typeface="Calibri"/>
                          <a:sym typeface="Calibri"/>
                        </a:rPr>
                        <a:t>          &lt;serviceMetadata httpGetEnabled="true" httpsGetEnabled="true" /&gt;</a:t>
                      </a:r>
                    </a:p>
                    <a:p>
                      <a:pPr marL="0" lvl="0" indent="0" algn="l" rtl="0">
                        <a:spcBef>
                          <a:spcPts val="0"/>
                        </a:spcBef>
                        <a:spcAft>
                          <a:spcPts val="0"/>
                        </a:spcAft>
                        <a:buNone/>
                      </a:pPr>
                      <a:r>
                        <a:rPr lang="es-ES" sz="650">
                          <a:solidFill>
                            <a:srgbClr val="4F81BD"/>
                          </a:solidFill>
                          <a:latin typeface="Calibri"/>
                          <a:ea typeface="Calibri"/>
                          <a:cs typeface="Calibri"/>
                          <a:sym typeface="Calibri"/>
                        </a:rPr>
                        <a:t>          &lt;serviceDebug includeExceptionDetailInFaults="true" /&gt;</a:t>
                      </a:r>
                    </a:p>
                    <a:p>
                      <a:pPr marL="0" lvl="0" indent="0" algn="l" rtl="0">
                        <a:spcBef>
                          <a:spcPts val="0"/>
                        </a:spcBef>
                        <a:spcAft>
                          <a:spcPts val="0"/>
                        </a:spcAft>
                        <a:buNone/>
                      </a:pPr>
                      <a:r>
                        <a:rPr lang="es-ES" sz="650">
                          <a:solidFill>
                            <a:srgbClr val="4F81BD"/>
                          </a:solidFill>
                          <a:latin typeface="Calibri"/>
                          <a:ea typeface="Calibri"/>
                          <a:cs typeface="Calibri"/>
                          <a:sym typeface="Calibri"/>
                        </a:rPr>
                        <a:t>        &lt;/behavior&gt;</a:t>
                      </a:r>
                    </a:p>
                    <a:p>
                      <a:pPr marL="0" lvl="0" indent="0" algn="l" rtl="0">
                        <a:spcBef>
                          <a:spcPts val="0"/>
                        </a:spcBef>
                        <a:spcAft>
                          <a:spcPts val="0"/>
                        </a:spcAft>
                        <a:buNone/>
                      </a:pPr>
                      <a:r>
                        <a:rPr lang="es-ES" sz="650">
                          <a:solidFill>
                            <a:srgbClr val="4F81BD"/>
                          </a:solidFill>
                          <a:latin typeface="Calibri"/>
                          <a:ea typeface="Calibri"/>
                          <a:cs typeface="Calibri"/>
                          <a:sym typeface="Calibri"/>
                        </a:rPr>
                        <a:t>        &lt;behavior&gt;</a:t>
                      </a:r>
                    </a:p>
                    <a:p>
                      <a:pPr marL="0" lvl="0" indent="0" algn="l" rtl="0">
                        <a:spcBef>
                          <a:spcPts val="0"/>
                        </a:spcBef>
                        <a:spcAft>
                          <a:spcPts val="0"/>
                        </a:spcAft>
                        <a:buNone/>
                      </a:pPr>
                      <a:r>
                        <a:rPr lang="es-ES" sz="650">
                          <a:solidFill>
                            <a:srgbClr val="4F81BD"/>
                          </a:solidFill>
                          <a:latin typeface="Calibri"/>
                          <a:ea typeface="Calibri"/>
                          <a:cs typeface="Calibri"/>
                          <a:sym typeface="Calibri"/>
                        </a:rPr>
                        <a:t>          &lt;serviceMetadata httpGetEnabled="true" httpsGetEnabled="true" /&gt;</a:t>
                      </a:r>
                    </a:p>
                    <a:p>
                      <a:pPr marL="0" lvl="0" indent="0" algn="l" rtl="0">
                        <a:spcBef>
                          <a:spcPts val="0"/>
                        </a:spcBef>
                        <a:spcAft>
                          <a:spcPts val="0"/>
                        </a:spcAft>
                        <a:buNone/>
                      </a:pPr>
                      <a:r>
                        <a:rPr lang="es-ES" sz="650">
                          <a:solidFill>
                            <a:srgbClr val="4F81BD"/>
                          </a:solidFill>
                          <a:latin typeface="Calibri"/>
                          <a:ea typeface="Calibri"/>
                          <a:cs typeface="Calibri"/>
                          <a:sym typeface="Calibri"/>
                        </a:rPr>
                        <a:t>          &lt;serviceDebug includeExceptionDetailInFaults="true" /&gt;</a:t>
                      </a:r>
                    </a:p>
                    <a:p>
                      <a:pPr marL="0" lvl="0" indent="0" algn="l" rtl="0">
                        <a:spcBef>
                          <a:spcPts val="0"/>
                        </a:spcBef>
                        <a:spcAft>
                          <a:spcPts val="0"/>
                        </a:spcAft>
                        <a:buNone/>
                      </a:pPr>
                      <a:r>
                        <a:rPr lang="es-ES" sz="650">
                          <a:solidFill>
                            <a:srgbClr val="4F81BD"/>
                          </a:solidFill>
                          <a:latin typeface="Calibri"/>
                          <a:ea typeface="Calibri"/>
                          <a:cs typeface="Calibri"/>
                          <a:sym typeface="Calibri"/>
                        </a:rPr>
                        <a:t>        &lt;/behavior&gt;</a:t>
                      </a:r>
                    </a:p>
                    <a:p>
                      <a:pPr marL="0" lvl="0" indent="0" algn="l" rtl="0">
                        <a:spcBef>
                          <a:spcPts val="0"/>
                        </a:spcBef>
                        <a:spcAft>
                          <a:spcPts val="0"/>
                        </a:spcAft>
                        <a:buNone/>
                      </a:pPr>
                      <a:r>
                        <a:rPr lang="es-ES" sz="650">
                          <a:solidFill>
                            <a:srgbClr val="4F81BD"/>
                          </a:solidFill>
                          <a:latin typeface="Calibri"/>
                          <a:ea typeface="Calibri"/>
                          <a:cs typeface="Calibri"/>
                          <a:sym typeface="Calibri"/>
                        </a:rPr>
                        <a:t>      &lt;/serviceBehaviors&gt;</a:t>
                      </a:r>
                    </a:p>
                    <a:p>
                      <a:pPr marL="0" lvl="0" indent="0" algn="l" rtl="0">
                        <a:spcBef>
                          <a:spcPts val="0"/>
                        </a:spcBef>
                        <a:spcAft>
                          <a:spcPts val="0"/>
                        </a:spcAft>
                        <a:buNone/>
                      </a:pPr>
                      <a:r>
                        <a:rPr lang="es-ES" sz="650">
                          <a:solidFill>
                            <a:srgbClr val="4F81BD"/>
                          </a:solidFill>
                          <a:latin typeface="Calibri"/>
                          <a:ea typeface="Calibri"/>
                          <a:cs typeface="Calibri"/>
                          <a:sym typeface="Calibri"/>
                        </a:rPr>
                        <a:t>      &lt;endpointBehaviors&gt;</a:t>
                      </a:r>
                    </a:p>
                    <a:p>
                      <a:pPr marL="0" lvl="0" indent="0" algn="l" rtl="0">
                        <a:spcBef>
                          <a:spcPts val="0"/>
                        </a:spcBef>
                        <a:spcAft>
                          <a:spcPts val="0"/>
                        </a:spcAft>
                        <a:buNone/>
                      </a:pPr>
                      <a:r>
                        <a:rPr lang="es-ES" sz="650">
                          <a:solidFill>
                            <a:srgbClr val="4F81BD"/>
                          </a:solidFill>
                          <a:latin typeface="Calibri"/>
                          <a:ea typeface="Calibri"/>
                          <a:cs typeface="Calibri"/>
                          <a:sym typeface="Calibri"/>
                        </a:rPr>
                        <a:t>        &lt;behavior name="RestEndpointBehavior"&gt;</a:t>
                      </a:r>
                    </a:p>
                    <a:p>
                      <a:pPr marL="0" lvl="0" indent="0" algn="l" rtl="0">
                        <a:spcBef>
                          <a:spcPts val="0"/>
                        </a:spcBef>
                        <a:spcAft>
                          <a:spcPts val="0"/>
                        </a:spcAft>
                        <a:buNone/>
                      </a:pPr>
                      <a:r>
                        <a:rPr lang="es-ES" sz="650">
                          <a:solidFill>
                            <a:srgbClr val="4F81BD"/>
                          </a:solidFill>
                          <a:latin typeface="Calibri"/>
                          <a:ea typeface="Calibri"/>
                          <a:cs typeface="Calibri"/>
                          <a:sym typeface="Calibri"/>
                        </a:rPr>
                        <a:t>          &lt;webHttp helpEnabled="true"</a:t>
                      </a:r>
                    </a:p>
                    <a:p>
                      <a:pPr marL="0" lvl="0" indent="0" algn="l" rtl="0">
                        <a:spcBef>
                          <a:spcPts val="0"/>
                        </a:spcBef>
                        <a:spcAft>
                          <a:spcPts val="0"/>
                        </a:spcAft>
                        <a:buNone/>
                      </a:pPr>
                      <a:r>
                        <a:rPr lang="es-ES" sz="650">
                          <a:solidFill>
                            <a:srgbClr val="4F81BD"/>
                          </a:solidFill>
                          <a:latin typeface="Calibri"/>
                          <a:ea typeface="Calibri"/>
                          <a:cs typeface="Calibri"/>
                          <a:sym typeface="Calibri"/>
                        </a:rPr>
                        <a:t>                   defaultOutgoingResponseFormat="Json"</a:t>
                      </a:r>
                    </a:p>
                    <a:p>
                      <a:pPr marL="0" lvl="0" indent="0" algn="l" rtl="0">
                        <a:spcBef>
                          <a:spcPts val="0"/>
                        </a:spcBef>
                        <a:spcAft>
                          <a:spcPts val="0"/>
                        </a:spcAft>
                        <a:buNone/>
                      </a:pPr>
                      <a:r>
                        <a:rPr lang="es-ES" sz="650">
                          <a:solidFill>
                            <a:srgbClr val="4F81BD"/>
                          </a:solidFill>
                          <a:latin typeface="Calibri"/>
                          <a:ea typeface="Calibri"/>
                          <a:cs typeface="Calibri"/>
                          <a:sym typeface="Calibri"/>
                        </a:rPr>
                        <a:t>                   automaticFormatSelectionEnabled="true" /&gt;</a:t>
                      </a:r>
                      <a:endParaRPr sz="65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8. Se configura webHttpBinding, el comportamiento webHttp y las cabeceras CORS en el Web.config.</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205829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extLst>
              <p:ext uri="{D42A27DB-BD31-4B8C-83A1-F6EECF244321}">
                <p14:modId xmlns:p14="http://schemas.microsoft.com/office/powerpoint/2010/main" val="1874070779"/>
              </p:ext>
            </p:extLst>
          </p:nvPr>
        </p:nvGraphicFramePr>
        <p:xfrm>
          <a:off x="3881150" y="2291900"/>
          <a:ext cx="4894525" cy="37429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3742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POST  auth/login  —  JSON {usuario, contrasenia}  →  LoginResponse</a:t>
                      </a:r>
                    </a:p>
                    <a:p>
                      <a:pPr marL="0" lvl="0" indent="0" algn="l" rtl="0">
                        <a:spcBef>
                          <a:spcPts val="0"/>
                        </a:spcBef>
                        <a:spcAft>
                          <a:spcPts val="0"/>
                        </a:spcAft>
                        <a:buNone/>
                      </a:pPr>
                      <a:r>
                        <a:rPr lang="es-ES" sz="1000">
                          <a:solidFill>
                            <a:srgbClr val="4F81BD"/>
                          </a:solidFill>
                          <a:latin typeface="Calibri"/>
                          <a:ea typeface="Calibri"/>
                          <a:cs typeface="Calibri"/>
                          <a:sym typeface="Calibri"/>
                        </a:rPr>
                        <a:t>GET   auth/login?usuario=&amp;contrasenia=  →  LoginResponse</a:t>
                      </a:r>
                    </a:p>
                    <a:p>
                      <a:pPr marL="0" lvl="0" indent="0" algn="l" rtl="0">
                        <a:spcBef>
                          <a:spcPts val="0"/>
                        </a:spcBef>
                        <a:spcAft>
                          <a:spcPts val="0"/>
                        </a:spcAft>
                        <a:buNone/>
                      </a:pPr>
                      <a:r>
                        <a:rPr lang="es-ES" sz="1000">
                          <a:solidFill>
                            <a:srgbClr val="4F81BD"/>
                          </a:solidFill>
                          <a:latin typeface="Calibri"/>
                          <a:ea typeface="Calibri"/>
                          <a:cs typeface="Calibri"/>
                          <a:sym typeface="Calibri"/>
                        </a:rPr>
                        <a:t>POST  auth/cambiar-contrasenia  —  JSON {contraseniaActual, contraseniaNueva}  →  RespuestaGeneral</a:t>
                      </a:r>
                    </a:p>
                    <a:p>
                      <a:pPr marL="0" lvl="0" indent="0" algn="l" rtl="0">
                        <a:spcBef>
                          <a:spcPts val="0"/>
                        </a:spcBef>
                        <a:spcAft>
                          <a:spcPts val="0"/>
                        </a:spcAft>
                        <a:buNone/>
                      </a:pPr>
                      <a:r>
                        <a:rPr lang="es-ES" sz="1000">
                          <a:solidFill>
                            <a:srgbClr val="4F81BD"/>
                          </a:solidFill>
                          <a:latin typeface="Calibri"/>
                          <a:ea typeface="Calibri"/>
                          <a:cs typeface="Calibri"/>
                          <a:sym typeface="Calibri"/>
                        </a:rPr>
                        <a:t>GET   auth/validar-token?token=  →  RespuestaGeneral</a:t>
                      </a:r>
                    </a:p>
                    <a:p>
                      <a:pPr marL="0" lvl="0" indent="0" algn="l" rtl="0">
                        <a:spcBef>
                          <a:spcPts val="0"/>
                        </a:spcBef>
                        <a:spcAft>
                          <a:spcPts val="0"/>
                        </a:spcAft>
                        <a:buNone/>
                      </a:pPr>
                      <a:r>
                        <a:rPr lang="es-ES" sz="1000">
                          <a:solidFill>
                            <a:srgbClr val="4F81BD"/>
                          </a:solidFill>
                          <a:latin typeface="Calibri"/>
                          <a:ea typeface="Calibri"/>
                          <a:cs typeface="Calibri"/>
                          <a:sym typeface="Calibri"/>
                        </a:rPr>
                        <a:t>POST  auth/logout?token=  →  RespuestaGeneral</a:t>
                      </a:r>
                    </a:p>
                    <a:p>
                      <a:pPr marL="0" lvl="0" indent="0" algn="l" rtl="0">
                        <a:spcBef>
                          <a:spcPts val="0"/>
                        </a:spcBef>
                        <a:spcAft>
                          <a:spcPts val="0"/>
                        </a:spcAft>
                        <a:buNone/>
                      </a:pPr>
                      <a:r>
                        <a:rPr lang="es-ES" sz="1000">
                          <a:solidFill>
                            <a:srgbClr val="4F81BD"/>
                          </a:solidFill>
                          <a:latin typeface="Calibri"/>
                          <a:ea typeface="Calibri"/>
                          <a:cs typeface="Calibri"/>
                          <a:sym typeface="Calibri"/>
                        </a:rPr>
                        <a:t>POST  conversor/longitud | masa | temperatura  —  JSON {valor, unidadInicial, unidadFinal}  →  ConversionResponse</a:t>
                      </a:r>
                    </a:p>
                    <a:p>
                      <a:pPr marL="0" lvl="0" indent="0" algn="l" rtl="0">
                        <a:spcBef>
                          <a:spcPts val="0"/>
                        </a:spcBef>
                        <a:spcAft>
                          <a:spcPts val="0"/>
                        </a:spcAft>
                        <a:buNone/>
                      </a:pPr>
                      <a:r>
                        <a:rPr lang="es-ES" sz="1000">
                          <a:solidFill>
                            <a:srgbClr val="4F81BD"/>
                          </a:solidFill>
                          <a:latin typeface="Calibri"/>
                          <a:ea typeface="Calibri"/>
                          <a:cs typeface="Calibri"/>
                          <a:sym typeface="Calibri"/>
                        </a:rPr>
                        <a:t>GET   conversor/longitud | masa | temperatura  —  ?valor=&amp;unidadInicial=&amp;unidadFinal=  →  ConversionResponse</a:t>
                      </a:r>
                    </a:p>
                    <a:p>
                      <a:pPr marL="0" lvl="0" indent="0" algn="l" rtl="0">
                        <a:spcBef>
                          <a:spcPts val="0"/>
                        </a:spcBef>
                        <a:spcAft>
                          <a:spcPts val="0"/>
                        </a:spcAft>
                        <a:buNone/>
                      </a:pPr>
                      <a:r>
                        <a:rPr lang="es-ES" sz="1000">
                          <a:solidFill>
                            <a:srgbClr val="4F81BD"/>
                          </a:solidFill>
                          <a:latin typeface="Calibri"/>
                          <a:ea typeface="Calibri"/>
                          <a:cs typeface="Calibri"/>
                          <a:sym typeface="Calibri"/>
                        </a:rPr>
                        <a:t>GET   conversor/unidades  →  CatalogoUnidadesResponse</a:t>
                      </a:r>
                    </a:p>
                    <a:p>
                      <a:pPr marL="0" lvl="0" indent="0" algn="l" rtl="0">
                        <a:spcBef>
                          <a:spcPts val="0"/>
                        </a:spcBef>
                        <a:spcAft>
                          <a:spcPts val="0"/>
                        </a:spcAft>
                        <a:buNone/>
                      </a:pPr>
                      <a:r>
                        <a:rPr lang="es-ES" sz="1000">
                          <a:solidFill>
                            <a:srgbClr val="4F81BD"/>
                          </a:solidFill>
                          <a:latin typeface="Calibri"/>
                          <a:ea typeface="Calibri"/>
                          <a:cs typeface="Calibri"/>
                          <a:sym typeface="Calibri"/>
                        </a:rPr>
                        <a:t>POST  login | cambiarContrasenia  y  GET/POST convertirLongitud | convertirMasa | convertirTemperatura  (rutas directas)</a:t>
                      </a:r>
                    </a:p>
                    <a:p>
                      <a:pPr marL="0" lvl="0" indent="0" algn="l" rtl="0">
                        <a:spcBef>
                          <a:spcPts val="0"/>
                        </a:spcBef>
                        <a:spcAft>
                          <a:spcPts val="0"/>
                        </a:spcAft>
                        <a:buNone/>
                      </a:pPr>
                      <a:r>
                        <a:rPr lang="es-ES" sz="1000">
                          <a:solidFill>
                            <a:srgbClr val="4F81BD"/>
                          </a:solidFill>
                          <a:latin typeface="Calibri"/>
                          <a:ea typeface="Calibri"/>
                          <a:cs typeface="Calibri"/>
                          <a:sym typeface="Calibri"/>
                        </a:rPr>
                        <a:t>OPTIONS  *  —  respuesta de preflight CORS</a:t>
                      </a:r>
                    </a:p>
                    <a:p>
                      <a:pPr marL="0" lvl="0" indent="0" algn="l" rtl="0">
                        <a:spcBef>
                          <a:spcPts val="0"/>
                        </a:spcBef>
                        <a:spcAft>
                          <a:spcPts val="0"/>
                        </a:spcAft>
                        <a:buNone/>
                      </a:pPr>
                      <a:endParaRPr lang="es-ES"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Ruta base: http://localhost:63281/ServicioWebRest.svc</a:t>
                      </a:r>
                    </a:p>
                    <a:p>
                      <a:pPr marL="0" lvl="0" indent="0" algn="l" rtl="0">
                        <a:spcBef>
                          <a:spcPts val="0"/>
                        </a:spcBef>
                        <a:spcAft>
                          <a:spcPts val="0"/>
                        </a:spcAft>
                        <a:buNone/>
                      </a:pPr>
                      <a:r>
                        <a:rPr lang="es-ES" sz="1000">
                          <a:solidFill>
                            <a:srgbClr val="4F81BD"/>
                          </a:solidFill>
                          <a:latin typeface="Calibri"/>
                          <a:ea typeface="Calibri"/>
                          <a:cs typeface="Calibri"/>
                          <a:sym typeface="Calibri"/>
                        </a:rPr>
                        <a:t>El servicio no asigna códigos HTTP de error: siempre responde HTTP 200 y el resultado (exito / mensaje) viaja en el JSON.</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a:latin typeface="Cambria"/>
                <a:ea typeface="Cambria"/>
                <a:cs typeface="Cambria"/>
                <a:sym typeface="Cambria"/>
              </a:rPr>
              <a:t>9. Resumen de los endpoints REST y de los métodos HTTP que expone el servidor.</a:t>
            </a:r>
            <a:endParaRPr sz="1677" b="1">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521454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13" name="Google Shape;213;p27"/>
          <p:cNvSpPr txBox="1">
            <a:spLocks noGrp="1"/>
          </p:cNvSpPr>
          <p:nvPr>
            <p:ph type="body" idx="1"/>
          </p:nvPr>
        </p:nvSpPr>
        <p:spPr>
          <a:xfrm>
            <a:off x="581200" y="2018775"/>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929" b="1" dirty="0">
                <a:latin typeface="Cambria"/>
                <a:ea typeface="Cambria"/>
                <a:cs typeface="Cambria"/>
                <a:sym typeface="Cambria"/>
              </a:rPr>
              <a:t>1.2.4 	Autenticación</a:t>
            </a:r>
            <a:endParaRPr dirty="0">
              <a:latin typeface="Cambria"/>
              <a:ea typeface="Cambria"/>
              <a:cs typeface="Cambria"/>
              <a:sym typeface="Cambria"/>
            </a:endParaRPr>
          </a:p>
          <a:p>
            <a:pPr marL="342900" marR="0" lvl="0" indent="-323850" algn="just" rtl="0">
              <a:lnSpc>
                <a:spcPct val="107000"/>
              </a:lnSpc>
              <a:spcBef>
                <a:spcPts val="0"/>
              </a:spcBef>
              <a:spcAft>
                <a:spcPts val="0"/>
              </a:spcAft>
              <a:buSzPts val="1356"/>
              <a:buFont typeface="Cambria"/>
              <a:buChar char="∙"/>
            </a:pPr>
            <a:r>
              <a:rPr lang="es-ES" dirty="0">
                <a:latin typeface="Cambria"/>
                <a:ea typeface="Cambria"/>
                <a:cs typeface="Cambria"/>
                <a:sym typeface="Cambria"/>
              </a:rPr>
              <a:t>La autenticación se resuelve en </a:t>
            </a:r>
            <a:r>
              <a:rPr lang="es-ES" dirty="0" err="1">
                <a:latin typeface="Cambria"/>
                <a:ea typeface="Cambria"/>
                <a:cs typeface="Cambria"/>
                <a:sym typeface="Cambria"/>
              </a:rPr>
              <a:t>AutenticacionControlador</a:t>
            </a:r>
            <a:r>
              <a:rPr lang="es-ES" dirty="0">
                <a:latin typeface="Cambria"/>
                <a:ea typeface="Cambria"/>
                <a:cs typeface="Cambria"/>
                <a:sym typeface="Cambria"/>
              </a:rPr>
              <a:t> (login, validar-token, </a:t>
            </a:r>
            <a:r>
              <a:rPr lang="es-ES" dirty="0" err="1">
                <a:latin typeface="Cambria"/>
                <a:ea typeface="Cambria"/>
                <a:cs typeface="Cambria"/>
                <a:sym typeface="Cambria"/>
              </a:rPr>
              <a:t>logout</a:t>
            </a:r>
            <a:r>
              <a:rPr lang="es-ES" dirty="0">
                <a:latin typeface="Cambria"/>
                <a:ea typeface="Cambria"/>
                <a:cs typeface="Cambria"/>
                <a:sym typeface="Cambria"/>
              </a:rPr>
              <a:t> y cambio de contraseña) apoyado en </a:t>
            </a:r>
            <a:r>
              <a:rPr lang="es-ES" dirty="0" err="1">
                <a:latin typeface="Cambria"/>
                <a:ea typeface="Cambria"/>
                <a:cs typeface="Cambria"/>
                <a:sym typeface="Cambria"/>
              </a:rPr>
              <a:t>AdministradorCredenciales</a:t>
            </a:r>
            <a:r>
              <a:rPr lang="es-ES" dirty="0">
                <a:latin typeface="Cambria"/>
                <a:ea typeface="Cambria"/>
                <a:cs typeface="Cambria"/>
                <a:sym typeface="Cambria"/>
              </a:rPr>
              <a:t> y </a:t>
            </a:r>
            <a:r>
              <a:rPr lang="es-ES" dirty="0" err="1">
                <a:latin typeface="Cambria"/>
                <a:ea typeface="Cambria"/>
                <a:cs typeface="Cambria"/>
                <a:sym typeface="Cambria"/>
              </a:rPr>
              <a:t>AdministradorToken</a:t>
            </a:r>
            <a:r>
              <a:rPr lang="es-ES" dirty="0">
                <a:latin typeface="Cambria"/>
                <a:ea typeface="Cambria"/>
                <a:cs typeface="Cambria"/>
                <a:sym typeface="Cambria"/>
              </a:rPr>
              <a:t> de </a:t>
            </a:r>
            <a:r>
              <a:rPr lang="es-ES" dirty="0" err="1">
                <a:latin typeface="Cambria"/>
                <a:ea typeface="Cambria"/>
                <a:cs typeface="Cambria"/>
                <a:sym typeface="Cambria"/>
              </a:rPr>
              <a:t>ec.edu.monster.modelo</a:t>
            </a:r>
            <a:r>
              <a:rPr lang="es-ES" dirty="0">
                <a:latin typeface="Cambria"/>
                <a:ea typeface="Cambria"/>
                <a:cs typeface="Cambria"/>
                <a:sym typeface="Cambria"/>
              </a:rPr>
              <a:t>/seguridad.</a:t>
            </a:r>
            <a:endParaRPr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14" name="Google Shape;214;p2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4" name="Captura GR04">
            <a:extLst>
              <a:ext uri="{FF2B5EF4-FFF2-40B4-BE49-F238E27FC236}">
                <a16:creationId xmlns:a16="http://schemas.microsoft.com/office/drawing/2014/main" id="{744ED38F-E33B-0B9F-40E5-7AB40270F028}"/>
              </a:ext>
            </a:extLst>
          </p:cNvPr>
          <p:cNvPicPr>
            <a:picLocks/>
          </p:cNvPicPr>
          <p:nvPr/>
        </p:nvPicPr>
        <p:blipFill>
          <a:blip r:embed="rId3"/>
          <a:stretch>
            <a:fillRect/>
          </a:stretch>
        </p:blipFill>
        <p:spPr>
          <a:xfrm>
            <a:off x="2589850" y="4636822"/>
            <a:ext cx="4572000" cy="948657"/>
          </a:xfrm>
          <a:prstGeom prst="rect">
            <a:avLst/>
          </a:prstGeom>
        </p:spPr>
      </p:pic>
    </p:spTree>
    <p:extLst>
      <p:ext uri="{BB962C8B-B14F-4D97-AF65-F5344CB8AC3E}">
        <p14:creationId xmlns:p14="http://schemas.microsoft.com/office/powerpoint/2010/main" val="2791357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a:spLocks noGrp="1"/>
          </p:cNvSpPr>
          <p:nvPr>
            <p:ph type="body" idx="1"/>
          </p:nvPr>
        </p:nvSpPr>
        <p:spPr>
          <a:xfrm>
            <a:off x="581192" y="1876272"/>
            <a:ext cx="8589300" cy="1248600"/>
          </a:xfrm>
          <a:prstGeom prst="rect">
            <a:avLst/>
          </a:prstGeom>
          <a:noFill/>
          <a:ln>
            <a:noFill/>
          </a:ln>
        </p:spPr>
        <p:txBody>
          <a:bodyPr spcFirstLastPara="1" wrap="square" lIns="91425" tIns="45700" rIns="91425" bIns="45700" anchor="ctr" anchorCtr="0">
            <a:noAutofit/>
          </a:bodyPr>
          <a:lstStyle/>
          <a:p>
            <a:pPr marL="457200" lvl="0" indent="-327406" algn="just" rtl="0">
              <a:lnSpc>
                <a:spcPct val="107000"/>
              </a:lnSpc>
              <a:spcBef>
                <a:spcPts val="0"/>
              </a:spcBef>
              <a:spcAft>
                <a:spcPts val="0"/>
              </a:spcAft>
              <a:buSzPts val="1556"/>
              <a:buChar char="∙"/>
            </a:pPr>
            <a:r>
              <a:rPr lang="es-ES" dirty="0" err="1">
                <a:latin typeface="Cambria"/>
                <a:ea typeface="Cambria"/>
                <a:cs typeface="Cambria"/>
                <a:sym typeface="Cambria"/>
              </a:rPr>
              <a:t>AutenticacionControlador.Login</a:t>
            </a:r>
            <a:r>
              <a:rPr lang="es-ES" dirty="0">
                <a:latin typeface="Cambria"/>
                <a:ea typeface="Cambria"/>
                <a:cs typeface="Cambria"/>
                <a:sym typeface="Cambria"/>
              </a:rPr>
              <a:t> valida las credenciales quemadas en código y devuelve un </a:t>
            </a:r>
            <a:r>
              <a:rPr lang="es-ES" dirty="0" err="1">
                <a:latin typeface="Cambria"/>
                <a:ea typeface="Cambria"/>
                <a:cs typeface="Cambria"/>
                <a:sym typeface="Cambria"/>
              </a:rPr>
              <a:t>LoginResponse</a:t>
            </a:r>
            <a:r>
              <a:rPr lang="es-ES" dirty="0">
                <a:latin typeface="Cambria"/>
                <a:ea typeface="Cambria"/>
                <a:cs typeface="Cambria"/>
                <a:sym typeface="Cambria"/>
              </a:rPr>
              <a:t> con el token (GUID).</a:t>
            </a:r>
            <a:endParaRPr dirty="0">
              <a:latin typeface="Cambria"/>
              <a:ea typeface="Cambria"/>
              <a:cs typeface="Cambria"/>
              <a:sym typeface="Cambria"/>
            </a:endParaRPr>
          </a:p>
          <a:p>
            <a:pPr marL="457200" lvl="0" indent="-304800" algn="just" rtl="0">
              <a:lnSpc>
                <a:spcPct val="107000"/>
              </a:lnSpc>
              <a:spcBef>
                <a:spcPts val="0"/>
              </a:spcBef>
              <a:spcAft>
                <a:spcPts val="0"/>
              </a:spcAft>
              <a:buSzPts val="1200"/>
              <a:buFont typeface="Cambria"/>
              <a:buChar char="∙"/>
            </a:pPr>
            <a:r>
              <a:rPr lang="es-ES" dirty="0">
                <a:latin typeface="Cambria"/>
                <a:ea typeface="Cambria"/>
                <a:cs typeface="Cambria"/>
                <a:sym typeface="Cambria"/>
              </a:rPr>
              <a:t>El token puede validarse en GET </a:t>
            </a:r>
            <a:r>
              <a:rPr lang="es-ES" dirty="0" err="1">
                <a:latin typeface="Cambria"/>
                <a:ea typeface="Cambria"/>
                <a:cs typeface="Cambria"/>
                <a:sym typeface="Cambria"/>
              </a:rPr>
              <a:t>auth</a:t>
            </a:r>
            <a:r>
              <a:rPr lang="es-ES" dirty="0">
                <a:latin typeface="Cambria"/>
                <a:ea typeface="Cambria"/>
                <a:cs typeface="Cambria"/>
                <a:sym typeface="Cambria"/>
              </a:rPr>
              <a:t>/validar-token, pero el servidor no lo exige en las conversiones aunque los clientes lo envían en el encabezado </a:t>
            </a:r>
            <a:r>
              <a:rPr lang="es-ES" dirty="0" err="1">
                <a:latin typeface="Cambria"/>
                <a:ea typeface="Cambria"/>
                <a:cs typeface="Cambria"/>
                <a:sym typeface="Cambria"/>
              </a:rPr>
              <a:t>Authorization</a:t>
            </a:r>
            <a:r>
              <a:rPr lang="es-ES" dirty="0">
                <a:latin typeface="Cambria"/>
                <a:ea typeface="Cambria"/>
                <a:cs typeface="Cambria"/>
                <a:sym typeface="Cambria"/>
              </a:rPr>
              <a:t>: Bearer.</a:t>
            </a:r>
            <a:endParaRPr dirty="0">
              <a:latin typeface="Cambria"/>
              <a:ea typeface="Cambria"/>
              <a:cs typeface="Cambria"/>
              <a:sym typeface="Cambria"/>
            </a:endParaRPr>
          </a:p>
        </p:txBody>
      </p:sp>
      <p:sp>
        <p:nvSpPr>
          <p:cNvPr id="222" name="Google Shape;222;p2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24" name="Google Shape;224;p28"/>
          <p:cNvGraphicFramePr/>
          <p:nvPr>
            <p:extLst>
              <p:ext uri="{D42A27DB-BD31-4B8C-83A1-F6EECF244321}">
                <p14:modId xmlns:p14="http://schemas.microsoft.com/office/powerpoint/2010/main" val="1643104523"/>
              </p:ext>
            </p:extLst>
          </p:nvPr>
        </p:nvGraphicFramePr>
        <p:xfrm>
          <a:off x="2369575" y="3429000"/>
          <a:ext cx="6549876" cy="3192590"/>
        </p:xfrm>
        <a:graphic>
          <a:graphicData uri="http://schemas.openxmlformats.org/drawingml/2006/table">
            <a:tbl>
              <a:tblPr>
                <a:noFill/>
                <a:tableStyleId>{BF136021-7255-42B7-A7E7-87A8D8FFE9CA}</a:tableStyleId>
              </a:tblPr>
              <a:tblGrid>
                <a:gridCol w="6549876">
                  <a:extLst>
                    <a:ext uri="{9D8B030D-6E8A-4147-A177-3AD203B41FA5}">
                      <a16:colId xmlns:a16="http://schemas.microsoft.com/office/drawing/2014/main" val="20000"/>
                    </a:ext>
                  </a:extLst>
                </a:gridCol>
              </a:tblGrid>
              <a:tr h="3192590">
                <a:tc>
                  <a:txBody>
                    <a:bodyPr/>
                    <a:lstStyle/>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LoginResponse</a:t>
                      </a:r>
                      <a:r>
                        <a:rPr lang="es-ES" sz="1100" dirty="0">
                          <a:solidFill>
                            <a:srgbClr val="4F81BD"/>
                          </a:solidFill>
                          <a:latin typeface="Calibri"/>
                          <a:ea typeface="Calibri"/>
                          <a:cs typeface="Calibri"/>
                          <a:sym typeface="Calibri"/>
                        </a:rPr>
                        <a:t> Login(</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usuario,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contrasenia</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string.IsNullOrWhiteSpace</a:t>
                      </a:r>
                      <a:r>
                        <a:rPr lang="es-ES" sz="1100" dirty="0">
                          <a:solidFill>
                            <a:srgbClr val="4F81BD"/>
                          </a:solidFill>
                          <a:latin typeface="Calibri"/>
                          <a:ea typeface="Calibri"/>
                          <a:cs typeface="Calibri"/>
                          <a:sym typeface="Calibri"/>
                        </a:rPr>
                        <a:t>(usuario) || </a:t>
                      </a:r>
                      <a:r>
                        <a:rPr lang="es-ES" sz="1100" dirty="0" err="1">
                          <a:solidFill>
                            <a:srgbClr val="4F81BD"/>
                          </a:solidFill>
                          <a:latin typeface="Calibri"/>
                          <a:ea typeface="Calibri"/>
                          <a:cs typeface="Calibri"/>
                          <a:sym typeface="Calibri"/>
                        </a:rPr>
                        <a:t>string.IsNullOrEmpty</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contrasenia</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LoginResponse</a:t>
                      </a:r>
                      <a:r>
                        <a:rPr lang="es-ES" sz="1100" dirty="0">
                          <a:solidFill>
                            <a:srgbClr val="4F81BD"/>
                          </a:solidFill>
                          <a:latin typeface="Calibri"/>
                          <a:ea typeface="Calibri"/>
                          <a:cs typeface="Calibri"/>
                          <a:sym typeface="Calibri"/>
                        </a:rPr>
                        <a:t>(false,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 usuario, "Debe proporcionar usuario y contraseña");</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AdministradorCredenciales.ValidarUsuario</a:t>
                      </a:r>
                      <a:r>
                        <a:rPr lang="es-ES" sz="1100" dirty="0">
                          <a:solidFill>
                            <a:srgbClr val="4F81BD"/>
                          </a:solidFill>
                          <a:latin typeface="Calibri"/>
                          <a:ea typeface="Calibri"/>
                          <a:cs typeface="Calibri"/>
                          <a:sym typeface="Calibri"/>
                        </a:rPr>
                        <a:t>(usuario, </a:t>
                      </a:r>
                      <a:r>
                        <a:rPr lang="es-ES" sz="1100" dirty="0" err="1">
                          <a:solidFill>
                            <a:srgbClr val="4F81BD"/>
                          </a:solidFill>
                          <a:latin typeface="Calibri"/>
                          <a:ea typeface="Calibri"/>
                          <a:cs typeface="Calibri"/>
                          <a:sym typeface="Calibri"/>
                        </a:rPr>
                        <a:t>contrasenia</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token = </a:t>
                      </a:r>
                      <a:r>
                        <a:rPr lang="es-ES" sz="1100" dirty="0" err="1">
                          <a:solidFill>
                            <a:srgbClr val="4F81BD"/>
                          </a:solidFill>
                          <a:latin typeface="Calibri"/>
                          <a:ea typeface="Calibri"/>
                          <a:cs typeface="Calibri"/>
                          <a:sym typeface="Calibri"/>
                        </a:rPr>
                        <a:t>AdministradorToken.GenerarToken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LoginResponse</a:t>
                      </a:r>
                      <a:r>
                        <a:rPr lang="es-ES" sz="1100" dirty="0">
                          <a:solidFill>
                            <a:srgbClr val="4F81BD"/>
                          </a:solidFill>
                          <a:latin typeface="Calibri"/>
                          <a:ea typeface="Calibri"/>
                          <a:cs typeface="Calibri"/>
                          <a:sym typeface="Calibri"/>
                        </a:rPr>
                        <a:t>(true, token, </a:t>
                      </a:r>
                      <a:r>
                        <a:rPr lang="es-ES" sz="1100" dirty="0" err="1">
                          <a:solidFill>
                            <a:srgbClr val="4F81BD"/>
                          </a:solidFill>
                          <a:latin typeface="Calibri"/>
                          <a:ea typeface="Calibri"/>
                          <a:cs typeface="Calibri"/>
                          <a:sym typeface="Calibri"/>
                        </a:rPr>
                        <a:t>usuario.Trim</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ToUpperInvariant</a:t>
                      </a:r>
                      <a:r>
                        <a:rPr lang="es-ES" sz="1100" dirty="0">
                          <a:solidFill>
                            <a:srgbClr val="4F81BD"/>
                          </a:solidFill>
                          <a:latin typeface="Calibri"/>
                          <a:ea typeface="Calibri"/>
                          <a:cs typeface="Calibri"/>
                          <a:sym typeface="Calibri"/>
                        </a:rPr>
                        <a:t>(), "Autenticación exitosa");</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LoginResponse</a:t>
                      </a:r>
                      <a:r>
                        <a:rPr lang="es-ES" sz="1100" dirty="0">
                          <a:solidFill>
                            <a:srgbClr val="4F81BD"/>
                          </a:solidFill>
                          <a:latin typeface="Calibri"/>
                          <a:ea typeface="Calibri"/>
                          <a:cs typeface="Calibri"/>
                          <a:sym typeface="Calibri"/>
                        </a:rPr>
                        <a:t>(false,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 usuario, "Usuario o contraseña incorrectos");</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RespuestaGeneral</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ValidarToken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token)</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 ...</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56204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err="1">
                <a:latin typeface="Cambria"/>
                <a:ea typeface="Cambria"/>
                <a:cs typeface="Cambria"/>
                <a:sym typeface="Cambria"/>
              </a:rPr>
              <a:t>AdministradorToken</a:t>
            </a:r>
            <a:r>
              <a:rPr lang="es-ES" sz="1400" dirty="0">
                <a:latin typeface="Cambria"/>
                <a:ea typeface="Cambria"/>
                <a:cs typeface="Cambria"/>
                <a:sym typeface="Cambria"/>
              </a:rPr>
              <a:t> genera un GUID como token con vigencia de 30 minutos y lo guarda en memoria.</a:t>
            </a:r>
            <a:endParaRPr sz="1400" dirty="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32" name="Google Shape;232;p29"/>
          <p:cNvGraphicFramePr/>
          <p:nvPr>
            <p:extLst>
              <p:ext uri="{D42A27DB-BD31-4B8C-83A1-F6EECF244321}">
                <p14:modId xmlns:p14="http://schemas.microsoft.com/office/powerpoint/2010/main" val="3471671117"/>
              </p:ext>
            </p:extLst>
          </p:nvPr>
        </p:nvGraphicFramePr>
        <p:xfrm>
          <a:off x="2964625" y="1876275"/>
          <a:ext cx="6062675" cy="47013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None/>
                      </a:pPr>
                      <a:r>
                        <a:rPr lang="es-ES" sz="550">
                          <a:solidFill>
                            <a:srgbClr val="4F81BD"/>
                          </a:solidFill>
                          <a:latin typeface="Calibri"/>
                          <a:ea typeface="Calibri"/>
                          <a:cs typeface="Calibri"/>
                          <a:sym typeface="Calibri"/>
                        </a:rPr>
                        <a:t>using System;</a:t>
                      </a:r>
                    </a:p>
                    <a:p>
                      <a:pPr marL="0" lvl="0" indent="0" algn="l" rtl="0">
                        <a:spcBef>
                          <a:spcPts val="0"/>
                        </a:spcBef>
                        <a:spcAft>
                          <a:spcPts val="0"/>
                        </a:spcAft>
                        <a:buNone/>
                      </a:pPr>
                      <a:r>
                        <a:rPr lang="es-ES" sz="550">
                          <a:solidFill>
                            <a:srgbClr val="4F81BD"/>
                          </a:solidFill>
                          <a:latin typeface="Calibri"/>
                          <a:ea typeface="Calibri"/>
                          <a:cs typeface="Calibri"/>
                          <a:sym typeface="Calibri"/>
                        </a:rPr>
                        <a:t>using System.Collections.Concurrent;</a:t>
                      </a:r>
                    </a:p>
                    <a:p>
                      <a:pPr marL="0" lvl="0" indent="0" algn="l" rtl="0">
                        <a:spcBef>
                          <a:spcPts val="0"/>
                        </a:spcBef>
                        <a:spcAft>
                          <a:spcPts val="0"/>
                        </a:spcAft>
                        <a:buNone/>
                      </a:pPr>
                      <a:endParaRPr lang="es-ES" sz="550">
                        <a:solidFill>
                          <a:srgbClr val="4F81BD"/>
                        </a:solidFill>
                        <a:latin typeface="Calibri"/>
                        <a:ea typeface="Calibri"/>
                        <a:cs typeface="Calibri"/>
                        <a:sym typeface="Calibri"/>
                      </a:endParaRPr>
                    </a:p>
                    <a:p>
                      <a:pPr marL="0" lvl="0" indent="0" algn="l" rtl="0">
                        <a:spcBef>
                          <a:spcPts val="0"/>
                        </a:spcBef>
                        <a:spcAft>
                          <a:spcPts val="0"/>
                        </a:spcAft>
                        <a:buNone/>
                      </a:pPr>
                      <a:r>
                        <a:rPr lang="es-ES" sz="550">
                          <a:solidFill>
                            <a:srgbClr val="4F81BD"/>
                          </a:solidFill>
                          <a:latin typeface="Calibri"/>
                          <a:ea typeface="Calibri"/>
                          <a:cs typeface="Calibri"/>
                          <a:sym typeface="Calibri"/>
                        </a:rPr>
                        <a:t>namespace ec.edu.monster.modelo.seguridad</a:t>
                      </a:r>
                    </a:p>
                    <a:p>
                      <a:pPr marL="0" lvl="0" indent="0" algn="l" rtl="0">
                        <a:spcBef>
                          <a:spcPts val="0"/>
                        </a:spcBef>
                        <a:spcAft>
                          <a:spcPts val="0"/>
                        </a:spcAft>
                        <a:buNone/>
                      </a:pPr>
                      <a:r>
                        <a:rPr lang="es-ES" sz="550">
                          <a:solidFill>
                            <a:srgbClr val="4F81BD"/>
                          </a:solidFill>
                          <a:latin typeface="Calibri"/>
                          <a:ea typeface="Calibri"/>
                          <a:cs typeface="Calibri"/>
                          <a:sym typeface="Calibri"/>
                        </a:rPr>
                        <a:t>{</a:t>
                      </a:r>
                    </a:p>
                    <a:p>
                      <a:pPr marL="0" lvl="0" indent="0" algn="l" rtl="0">
                        <a:spcBef>
                          <a:spcPts val="0"/>
                        </a:spcBef>
                        <a:spcAft>
                          <a:spcPts val="0"/>
                        </a:spcAft>
                        <a:buNone/>
                      </a:pPr>
                      <a:r>
                        <a:rPr lang="es-ES" sz="550">
                          <a:solidFill>
                            <a:srgbClr val="4F81BD"/>
                          </a:solidFill>
                          <a:latin typeface="Calibri"/>
                          <a:ea typeface="Calibri"/>
                          <a:cs typeface="Calibri"/>
                          <a:sym typeface="Calibri"/>
                        </a:rPr>
                        <a:t>    public static class AdministradorToken</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private static readonly TimeSpan TIEMPO_EXPIRACION = TimeSpan.FromMinutes(30);</a:t>
                      </a:r>
                    </a:p>
                    <a:p>
                      <a:pPr marL="0" lvl="0" indent="0" algn="l" rtl="0">
                        <a:spcBef>
                          <a:spcPts val="0"/>
                        </a:spcBef>
                        <a:spcAft>
                          <a:spcPts val="0"/>
                        </a:spcAft>
                        <a:buNone/>
                      </a:pPr>
                      <a:r>
                        <a:rPr lang="es-ES" sz="550">
                          <a:solidFill>
                            <a:srgbClr val="4F81BD"/>
                          </a:solidFill>
                          <a:latin typeface="Calibri"/>
                          <a:ea typeface="Calibri"/>
                          <a:cs typeface="Calibri"/>
                          <a:sym typeface="Calibri"/>
                        </a:rPr>
                        <a:t>        private static readonly ConcurrentDictionary&lt;string, DateTime&gt; TOKENS_ACTIVOS = new ConcurrentDictionary&lt;string, DateTime&gt;();</a:t>
                      </a:r>
                    </a:p>
                    <a:p>
                      <a:pPr marL="0" lvl="0" indent="0" algn="l" rtl="0">
                        <a:spcBef>
                          <a:spcPts val="0"/>
                        </a:spcBef>
                        <a:spcAft>
                          <a:spcPts val="0"/>
                        </a:spcAft>
                        <a:buNone/>
                      </a:pPr>
                      <a:endParaRPr lang="es-ES" sz="550">
                        <a:solidFill>
                          <a:srgbClr val="4F81BD"/>
                        </a:solidFill>
                        <a:latin typeface="Calibri"/>
                        <a:ea typeface="Calibri"/>
                        <a:cs typeface="Calibri"/>
                        <a:sym typeface="Calibri"/>
                      </a:endParaRPr>
                    </a:p>
                    <a:p>
                      <a:pPr marL="0" lvl="0" indent="0" algn="l" rtl="0">
                        <a:spcBef>
                          <a:spcPts val="0"/>
                        </a:spcBef>
                        <a:spcAft>
                          <a:spcPts val="0"/>
                        </a:spcAft>
                        <a:buNone/>
                      </a:pPr>
                      <a:r>
                        <a:rPr lang="es-ES" sz="550">
                          <a:solidFill>
                            <a:srgbClr val="4F81BD"/>
                          </a:solidFill>
                          <a:latin typeface="Calibri"/>
                          <a:ea typeface="Calibri"/>
                          <a:cs typeface="Calibri"/>
                          <a:sym typeface="Calibri"/>
                        </a:rPr>
                        <a:t>        public static string GenerarToken()</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string token = Guid.NewGuid().ToString("N");</a:t>
                      </a:r>
                    </a:p>
                    <a:p>
                      <a:pPr marL="0" lvl="0" indent="0" algn="l" rtl="0">
                        <a:spcBef>
                          <a:spcPts val="0"/>
                        </a:spcBef>
                        <a:spcAft>
                          <a:spcPts val="0"/>
                        </a:spcAft>
                        <a:buNone/>
                      </a:pPr>
                      <a:r>
                        <a:rPr lang="es-ES" sz="550">
                          <a:solidFill>
                            <a:srgbClr val="4F81BD"/>
                          </a:solidFill>
                          <a:latin typeface="Calibri"/>
                          <a:ea typeface="Calibri"/>
                          <a:cs typeface="Calibri"/>
                          <a:sym typeface="Calibri"/>
                        </a:rPr>
                        <a:t>            TOKENS_ACTIVOS[token] = DateTime.UtcNow;</a:t>
                      </a:r>
                    </a:p>
                    <a:p>
                      <a:pPr marL="0" lvl="0" indent="0" algn="l" rtl="0">
                        <a:spcBef>
                          <a:spcPts val="0"/>
                        </a:spcBef>
                        <a:spcAft>
                          <a:spcPts val="0"/>
                        </a:spcAft>
                        <a:buNone/>
                      </a:pPr>
                      <a:r>
                        <a:rPr lang="es-ES" sz="550">
                          <a:solidFill>
                            <a:srgbClr val="4F81BD"/>
                          </a:solidFill>
                          <a:latin typeface="Calibri"/>
                          <a:ea typeface="Calibri"/>
                          <a:cs typeface="Calibri"/>
                          <a:sym typeface="Calibri"/>
                        </a:rPr>
                        <a:t>            return token;</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endParaRPr lang="es-ES" sz="550">
                        <a:solidFill>
                          <a:srgbClr val="4F81BD"/>
                        </a:solidFill>
                        <a:latin typeface="Calibri"/>
                        <a:ea typeface="Calibri"/>
                        <a:cs typeface="Calibri"/>
                        <a:sym typeface="Calibri"/>
                      </a:endParaRPr>
                    </a:p>
                    <a:p>
                      <a:pPr marL="0" lvl="0" indent="0" algn="l" rtl="0">
                        <a:spcBef>
                          <a:spcPts val="0"/>
                        </a:spcBef>
                        <a:spcAft>
                          <a:spcPts val="0"/>
                        </a:spcAft>
                        <a:buNone/>
                      </a:pPr>
                      <a:r>
                        <a:rPr lang="es-ES" sz="550">
                          <a:solidFill>
                            <a:srgbClr val="4F81BD"/>
                          </a:solidFill>
                          <a:latin typeface="Calibri"/>
                          <a:ea typeface="Calibri"/>
                          <a:cs typeface="Calibri"/>
                          <a:sym typeface="Calibri"/>
                        </a:rPr>
                        <a:t>        public static bool ValidarToken(string token)</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if (string.IsNullOrWhiteSpace(token))</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return false;</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endParaRPr lang="es-ES" sz="550">
                        <a:solidFill>
                          <a:srgbClr val="4F81BD"/>
                        </a:solidFill>
                        <a:latin typeface="Calibri"/>
                        <a:ea typeface="Calibri"/>
                        <a:cs typeface="Calibri"/>
                        <a:sym typeface="Calibri"/>
                      </a:endParaRPr>
                    </a:p>
                    <a:p>
                      <a:pPr marL="0" lvl="0" indent="0" algn="l" rtl="0">
                        <a:spcBef>
                          <a:spcPts val="0"/>
                        </a:spcBef>
                        <a:spcAft>
                          <a:spcPts val="0"/>
                        </a:spcAft>
                        <a:buNone/>
                      </a:pPr>
                      <a:r>
                        <a:rPr lang="es-ES" sz="550">
                          <a:solidFill>
                            <a:srgbClr val="4F81BD"/>
                          </a:solidFill>
                          <a:latin typeface="Calibri"/>
                          <a:ea typeface="Calibri"/>
                          <a:cs typeface="Calibri"/>
                          <a:sym typeface="Calibri"/>
                        </a:rPr>
                        <a:t>            string tokenLimpio = token.Trim();</a:t>
                      </a:r>
                    </a:p>
                    <a:p>
                      <a:pPr marL="0" lvl="0" indent="0" algn="l" rtl="0">
                        <a:spcBef>
                          <a:spcPts val="0"/>
                        </a:spcBef>
                        <a:spcAft>
                          <a:spcPts val="0"/>
                        </a:spcAft>
                        <a:buNone/>
                      </a:pPr>
                      <a:r>
                        <a:rPr lang="es-ES" sz="550">
                          <a:solidFill>
                            <a:srgbClr val="4F81BD"/>
                          </a:solidFill>
                          <a:latin typeface="Calibri"/>
                          <a:ea typeface="Calibri"/>
                          <a:cs typeface="Calibri"/>
                          <a:sym typeface="Calibri"/>
                        </a:rPr>
                        <a:t>            if (!TOKENS_ACTIVOS.TryGetValue(tokenLimpio, out DateTime fechaCreacion))</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return false;</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endParaRPr lang="es-ES" sz="550">
                        <a:solidFill>
                          <a:srgbClr val="4F81BD"/>
                        </a:solidFill>
                        <a:latin typeface="Calibri"/>
                        <a:ea typeface="Calibri"/>
                        <a:cs typeface="Calibri"/>
                        <a:sym typeface="Calibri"/>
                      </a:endParaRPr>
                    </a:p>
                    <a:p>
                      <a:pPr marL="0" lvl="0" indent="0" algn="l" rtl="0">
                        <a:spcBef>
                          <a:spcPts val="0"/>
                        </a:spcBef>
                        <a:spcAft>
                          <a:spcPts val="0"/>
                        </a:spcAft>
                        <a:buNone/>
                      </a:pPr>
                      <a:r>
                        <a:rPr lang="es-ES" sz="550">
                          <a:solidFill>
                            <a:srgbClr val="4F81BD"/>
                          </a:solidFill>
                          <a:latin typeface="Calibri"/>
                          <a:ea typeface="Calibri"/>
                          <a:cs typeface="Calibri"/>
                          <a:sym typeface="Calibri"/>
                        </a:rPr>
                        <a:t>            if (DateTime.UtcNow - fechaCreacion &gt; TIEMPO_EXPIRACION)</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TOKENS_ACTIVOS.TryRemove(tokenLimpio, out _);</a:t>
                      </a:r>
                    </a:p>
                    <a:p>
                      <a:pPr marL="0" lvl="0" indent="0" algn="l" rtl="0">
                        <a:spcBef>
                          <a:spcPts val="0"/>
                        </a:spcBef>
                        <a:spcAft>
                          <a:spcPts val="0"/>
                        </a:spcAft>
                        <a:buNone/>
                      </a:pPr>
                      <a:r>
                        <a:rPr lang="es-ES" sz="550">
                          <a:solidFill>
                            <a:srgbClr val="4F81BD"/>
                          </a:solidFill>
                          <a:latin typeface="Calibri"/>
                          <a:ea typeface="Calibri"/>
                          <a:cs typeface="Calibri"/>
                          <a:sym typeface="Calibri"/>
                        </a:rPr>
                        <a:t>                return false;</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endParaRPr lang="es-ES" sz="550">
                        <a:solidFill>
                          <a:srgbClr val="4F81BD"/>
                        </a:solidFill>
                        <a:latin typeface="Calibri"/>
                        <a:ea typeface="Calibri"/>
                        <a:cs typeface="Calibri"/>
                        <a:sym typeface="Calibri"/>
                      </a:endParaRPr>
                    </a:p>
                    <a:p>
                      <a:pPr marL="0" lvl="0" indent="0" algn="l" rtl="0">
                        <a:spcBef>
                          <a:spcPts val="0"/>
                        </a:spcBef>
                        <a:spcAft>
                          <a:spcPts val="0"/>
                        </a:spcAft>
                        <a:buNone/>
                      </a:pPr>
                      <a:r>
                        <a:rPr lang="es-ES" sz="550">
                          <a:solidFill>
                            <a:srgbClr val="4F81BD"/>
                          </a:solidFill>
                          <a:latin typeface="Calibri"/>
                          <a:ea typeface="Calibri"/>
                          <a:cs typeface="Calibri"/>
                          <a:sym typeface="Calibri"/>
                        </a:rPr>
                        <a:t>            return true;</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endParaRPr lang="es-ES" sz="550">
                        <a:solidFill>
                          <a:srgbClr val="4F81BD"/>
                        </a:solidFill>
                        <a:latin typeface="Calibri"/>
                        <a:ea typeface="Calibri"/>
                        <a:cs typeface="Calibri"/>
                        <a:sym typeface="Calibri"/>
                      </a:endParaRPr>
                    </a:p>
                    <a:p>
                      <a:pPr marL="0" lvl="0" indent="0" algn="l" rtl="0">
                        <a:spcBef>
                          <a:spcPts val="0"/>
                        </a:spcBef>
                        <a:spcAft>
                          <a:spcPts val="0"/>
                        </a:spcAft>
                        <a:buNone/>
                      </a:pPr>
                      <a:r>
                        <a:rPr lang="es-ES" sz="550">
                          <a:solidFill>
                            <a:srgbClr val="4F81BD"/>
                          </a:solidFill>
                          <a:latin typeface="Calibri"/>
                          <a:ea typeface="Calibri"/>
                          <a:cs typeface="Calibri"/>
                          <a:sym typeface="Calibri"/>
                        </a:rPr>
                        <a:t>        public static void InvalidarToken(string token)</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if (!string.IsNullOrWhiteSpace(token))</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TOKENS_ACTIVOS.TryRemove(token.Trim(), out _);</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endParaRPr lang="es-ES" sz="550">
                        <a:solidFill>
                          <a:srgbClr val="4F81BD"/>
                        </a:solidFill>
                        <a:latin typeface="Calibri"/>
                        <a:ea typeface="Calibri"/>
                        <a:cs typeface="Calibri"/>
                        <a:sym typeface="Calibri"/>
                      </a:endParaRPr>
                    </a:p>
                    <a:p>
                      <a:pPr marL="0" lvl="0" indent="0" algn="l" rtl="0">
                        <a:spcBef>
                          <a:spcPts val="0"/>
                        </a:spcBef>
                        <a:spcAft>
                          <a:spcPts val="0"/>
                        </a:spcAft>
                        <a:buNone/>
                      </a:pPr>
                      <a:r>
                        <a:rPr lang="es-ES" sz="550">
                          <a:solidFill>
                            <a:srgbClr val="4F81BD"/>
                          </a:solidFill>
                          <a:latin typeface="Calibri"/>
                          <a:ea typeface="Calibri"/>
                          <a:cs typeface="Calibri"/>
                          <a:sym typeface="Calibri"/>
                        </a:rPr>
                        <a:t>        public static void Limpiar()</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TOKENS_ACTIVOS.Clear();</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    }</a:t>
                      </a:r>
                    </a:p>
                    <a:p>
                      <a:pPr marL="0" lvl="0" indent="0" algn="l" rtl="0">
                        <a:spcBef>
                          <a:spcPts val="0"/>
                        </a:spcBef>
                        <a:spcAft>
                          <a:spcPts val="0"/>
                        </a:spcAft>
                        <a:buNone/>
                      </a:pPr>
                      <a:r>
                        <a:rPr lang="es-ES" sz="550">
                          <a:solidFill>
                            <a:srgbClr val="4F81BD"/>
                          </a:solidFill>
                          <a:latin typeface="Calibri"/>
                          <a:ea typeface="Calibri"/>
                          <a:cs typeface="Calibri"/>
                          <a:sym typeface="Calibri"/>
                        </a:rPr>
                        <a:t>}</a:t>
                      </a:r>
                      <a:endParaRPr sz="55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12202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8" name="Google Shape;238;p30"/>
          <p:cNvSpPr txBox="1">
            <a:spLocks noGrp="1"/>
          </p:cNvSpPr>
          <p:nvPr>
            <p:ph type="body" idx="1"/>
          </p:nvPr>
        </p:nvSpPr>
        <p:spPr>
          <a:xfrm>
            <a:off x="0" y="1936278"/>
            <a:ext cx="2930013"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err="1">
                <a:latin typeface="Cambria"/>
                <a:ea typeface="Cambria"/>
                <a:cs typeface="Cambria"/>
                <a:sym typeface="Cambria"/>
              </a:rPr>
              <a:t>AdministradorCredenciales</a:t>
            </a:r>
            <a:r>
              <a:rPr lang="es-ES" sz="1400" dirty="0">
                <a:latin typeface="Cambria"/>
                <a:ea typeface="Cambria"/>
                <a:cs typeface="Cambria"/>
                <a:sym typeface="Cambria"/>
              </a:rPr>
              <a:t> mantiene la credencial quemada en código y permite validar el usuario y cambiar la contraseña.</a:t>
            </a:r>
            <a:endParaRPr sz="1400" dirty="0">
              <a:latin typeface="Cambria"/>
              <a:ea typeface="Cambria"/>
              <a:cs typeface="Cambria"/>
              <a:sym typeface="Cambria"/>
            </a:endParaRPr>
          </a:p>
        </p:txBody>
      </p:sp>
      <p:sp>
        <p:nvSpPr>
          <p:cNvPr id="239" name="Google Shape;239;p3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40" name="Google Shape;240;p30"/>
          <p:cNvGraphicFramePr/>
          <p:nvPr>
            <p:extLst>
              <p:ext uri="{D42A27DB-BD31-4B8C-83A1-F6EECF244321}">
                <p14:modId xmlns:p14="http://schemas.microsoft.com/office/powerpoint/2010/main" val="4102238500"/>
              </p:ext>
            </p:extLst>
          </p:nvPr>
        </p:nvGraphicFramePr>
        <p:xfrm>
          <a:off x="3064604" y="2508928"/>
          <a:ext cx="6062675" cy="35560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951625">
                <a:tc>
                  <a:txBody>
                    <a:bodyPr/>
                    <a:lstStyle/>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public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const</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USUARIO_DEFAULT = "Monster";</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public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const</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CONTRASENIA_DEFAULT = "Monster9";</a:t>
                      </a:r>
                    </a:p>
                    <a:p>
                      <a:pPr marL="0" lvl="0" indent="0" algn="l" rtl="0">
                        <a:spcBef>
                          <a:spcPts val="0"/>
                        </a:spcBef>
                        <a:spcAft>
                          <a:spcPts val="0"/>
                        </a:spcAft>
                        <a:buNone/>
                      </a:pPr>
                      <a:endParaRPr lang="es-ES" sz="750" dirty="0">
                        <a:solidFill>
                          <a:srgbClr val="4F81BD"/>
                        </a:solidFill>
                        <a:latin typeface="Calibri"/>
                        <a:ea typeface="Calibri"/>
                        <a:cs typeface="Calibri"/>
                        <a:sym typeface="Calibri"/>
                      </a:endParaRP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public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static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bool</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ValidarUsuario</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usuario, </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contrasenia</a:t>
                      </a:r>
                      <a:r>
                        <a:rPr lang="es-ES" sz="750" dirty="0">
                          <a:solidFill>
                            <a:srgbClr val="4F81BD"/>
                          </a:solidFill>
                          <a:latin typeface="Calibri"/>
                          <a:ea typeface="Calibri"/>
                          <a:cs typeface="Calibri"/>
                          <a:sym typeface="Calibri"/>
                        </a:rPr>
                        <a:t>)</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if</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string.IsNullOrWhiteSpace</a:t>
                      </a:r>
                      <a:r>
                        <a:rPr lang="es-ES" sz="750" dirty="0">
                          <a:solidFill>
                            <a:srgbClr val="4F81BD"/>
                          </a:solidFill>
                          <a:latin typeface="Calibri"/>
                          <a:ea typeface="Calibri"/>
                          <a:cs typeface="Calibri"/>
                          <a:sym typeface="Calibri"/>
                        </a:rPr>
                        <a:t>(usuario) || </a:t>
                      </a:r>
                      <a:r>
                        <a:rPr lang="es-ES" sz="750" dirty="0" err="1">
                          <a:solidFill>
                            <a:srgbClr val="4F81BD"/>
                          </a:solidFill>
                          <a:latin typeface="Calibri"/>
                          <a:ea typeface="Calibri"/>
                          <a:cs typeface="Calibri"/>
                          <a:sym typeface="Calibri"/>
                        </a:rPr>
                        <a:t>string.IsNullOrEmpty</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contrasenia</a:t>
                      </a:r>
                      <a:r>
                        <a:rPr lang="es-ES" sz="750" dirty="0">
                          <a:solidFill>
                            <a:srgbClr val="4F81BD"/>
                          </a:solidFill>
                          <a:latin typeface="Calibri"/>
                          <a:ea typeface="Calibri"/>
                          <a:cs typeface="Calibri"/>
                          <a:sym typeface="Calibri"/>
                        </a:rPr>
                        <a:t>))</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return</a:t>
                      </a:r>
                      <a:r>
                        <a:rPr lang="es-ES" sz="75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750" dirty="0">
                        <a:solidFill>
                          <a:srgbClr val="4F81BD"/>
                        </a:solidFill>
                        <a:latin typeface="Calibri"/>
                        <a:ea typeface="Calibri"/>
                        <a:cs typeface="Calibri"/>
                        <a:sym typeface="Calibri"/>
                      </a:endParaRP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userKey</a:t>
                      </a:r>
                      <a:r>
                        <a:rPr lang="es-ES" sz="750" dirty="0">
                          <a:solidFill>
                            <a:srgbClr val="4F81BD"/>
                          </a:solidFill>
                          <a:latin typeface="Calibri"/>
                          <a:ea typeface="Calibri"/>
                          <a:cs typeface="Calibri"/>
                          <a:sym typeface="Calibri"/>
                        </a:rPr>
                        <a:t> = </a:t>
                      </a:r>
                      <a:r>
                        <a:rPr lang="es-ES" sz="750" dirty="0" err="1">
                          <a:solidFill>
                            <a:srgbClr val="4F81BD"/>
                          </a:solidFill>
                          <a:latin typeface="Calibri"/>
                          <a:ea typeface="Calibri"/>
                          <a:cs typeface="Calibri"/>
                          <a:sym typeface="Calibri"/>
                        </a:rPr>
                        <a:t>usuario.Trim</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ToLowerInvariant</a:t>
                      </a:r>
                      <a:r>
                        <a:rPr lang="es-ES" sz="750" dirty="0">
                          <a:solidFill>
                            <a:srgbClr val="4F81BD"/>
                          </a:solidFill>
                          <a:latin typeface="Calibri"/>
                          <a:ea typeface="Calibri"/>
                          <a:cs typeface="Calibri"/>
                          <a:sym typeface="Calibri"/>
                        </a:rPr>
                        <a:t>();</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if</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USUARIOS.TryGetValue</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userKey</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out</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claveAlmacenada</a:t>
                      </a:r>
                      <a:r>
                        <a:rPr lang="es-ES" sz="750" dirty="0">
                          <a:solidFill>
                            <a:srgbClr val="4F81BD"/>
                          </a:solidFill>
                          <a:latin typeface="Calibri"/>
                          <a:ea typeface="Calibri"/>
                          <a:cs typeface="Calibri"/>
                          <a:sym typeface="Calibri"/>
                        </a:rPr>
                        <a:t>))</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return</a:t>
                      </a:r>
                      <a:r>
                        <a:rPr lang="es-ES" sz="75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750" dirty="0">
                        <a:solidFill>
                          <a:srgbClr val="4F81BD"/>
                        </a:solidFill>
                        <a:latin typeface="Calibri"/>
                        <a:ea typeface="Calibri"/>
                        <a:cs typeface="Calibri"/>
                        <a:sym typeface="Calibri"/>
                      </a:endParaRP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if</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string.Equals</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claveAlmacenada</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contrasenia</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StringComparison.Ordinal</a:t>
                      </a:r>
                      <a:r>
                        <a:rPr lang="es-ES" sz="750" dirty="0">
                          <a:solidFill>
                            <a:srgbClr val="4F81BD"/>
                          </a:solidFill>
                          <a:latin typeface="Calibri"/>
                          <a:ea typeface="Calibri"/>
                          <a:cs typeface="Calibri"/>
                          <a:sym typeface="Calibri"/>
                        </a:rPr>
                        <a:t>))</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return</a:t>
                      </a:r>
                      <a:r>
                        <a:rPr lang="es-ES" sz="750" dirty="0">
                          <a:solidFill>
                            <a:srgbClr val="4F81BD"/>
                          </a:solidFill>
                          <a:latin typeface="Calibri"/>
                          <a:ea typeface="Calibri"/>
                          <a:cs typeface="Calibri"/>
                          <a:sym typeface="Calibri"/>
                        </a:rPr>
                        <a:t> true;</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750" dirty="0">
                        <a:solidFill>
                          <a:srgbClr val="4F81BD"/>
                        </a:solidFill>
                        <a:latin typeface="Calibri"/>
                        <a:ea typeface="Calibri"/>
                        <a:cs typeface="Calibri"/>
                        <a:sym typeface="Calibri"/>
                      </a:endParaRP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if</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string.Equals</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claveAlmacenada</a:t>
                      </a:r>
                      <a:r>
                        <a:rPr lang="es-ES" sz="750" dirty="0">
                          <a:solidFill>
                            <a:srgbClr val="4F81BD"/>
                          </a:solidFill>
                          <a:latin typeface="Calibri"/>
                          <a:ea typeface="Calibri"/>
                          <a:cs typeface="Calibri"/>
                          <a:sym typeface="Calibri"/>
                        </a:rPr>
                        <a:t>, CONTRASENIA_DEFAULT, </a:t>
                      </a:r>
                      <a:r>
                        <a:rPr lang="es-ES" sz="750" dirty="0" err="1">
                          <a:solidFill>
                            <a:srgbClr val="4F81BD"/>
                          </a:solidFill>
                          <a:latin typeface="Calibri"/>
                          <a:ea typeface="Calibri"/>
                          <a:cs typeface="Calibri"/>
                          <a:sym typeface="Calibri"/>
                        </a:rPr>
                        <a:t>StringComparison.OrdinalIgnoreCase</a:t>
                      </a:r>
                      <a:r>
                        <a:rPr lang="es-ES" sz="750" dirty="0">
                          <a:solidFill>
                            <a:srgbClr val="4F81BD"/>
                          </a:solidFill>
                          <a:latin typeface="Calibri"/>
                          <a:ea typeface="Calibri"/>
                          <a:cs typeface="Calibri"/>
                          <a:sym typeface="Calibri"/>
                        </a:rPr>
                        <a:t>) &amp;&amp;</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string.Equals</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contrasenia</a:t>
                      </a:r>
                      <a:r>
                        <a:rPr lang="es-ES" sz="750" dirty="0">
                          <a:solidFill>
                            <a:srgbClr val="4F81BD"/>
                          </a:solidFill>
                          <a:latin typeface="Calibri"/>
                          <a:ea typeface="Calibri"/>
                          <a:cs typeface="Calibri"/>
                          <a:sym typeface="Calibri"/>
                        </a:rPr>
                        <a:t>, "Monster9", </a:t>
                      </a:r>
                      <a:r>
                        <a:rPr lang="es-ES" sz="750" dirty="0" err="1">
                          <a:solidFill>
                            <a:srgbClr val="4F81BD"/>
                          </a:solidFill>
                          <a:latin typeface="Calibri"/>
                          <a:ea typeface="Calibri"/>
                          <a:cs typeface="Calibri"/>
                          <a:sym typeface="Calibri"/>
                        </a:rPr>
                        <a:t>StringComparison.Ordinal</a:t>
                      </a:r>
                      <a:r>
                        <a:rPr lang="es-ES" sz="7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string.Equals</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contrasenia</a:t>
                      </a:r>
                      <a:r>
                        <a:rPr lang="es-ES" sz="750" dirty="0">
                          <a:solidFill>
                            <a:srgbClr val="4F81BD"/>
                          </a:solidFill>
                          <a:latin typeface="Calibri"/>
                          <a:ea typeface="Calibri"/>
                          <a:cs typeface="Calibri"/>
                          <a:sym typeface="Calibri"/>
                        </a:rPr>
                        <a:t>, "MONSTER9", </a:t>
                      </a:r>
                      <a:r>
                        <a:rPr lang="es-ES" sz="750" dirty="0" err="1">
                          <a:solidFill>
                            <a:srgbClr val="4F81BD"/>
                          </a:solidFill>
                          <a:latin typeface="Calibri"/>
                          <a:ea typeface="Calibri"/>
                          <a:cs typeface="Calibri"/>
                          <a:sym typeface="Calibri"/>
                        </a:rPr>
                        <a:t>StringComparison.Ordinal</a:t>
                      </a:r>
                      <a:r>
                        <a:rPr lang="es-ES" sz="750" dirty="0">
                          <a:solidFill>
                            <a:srgbClr val="4F81BD"/>
                          </a:solidFill>
                          <a:latin typeface="Calibri"/>
                          <a:ea typeface="Calibri"/>
                          <a:cs typeface="Calibri"/>
                          <a:sym typeface="Calibri"/>
                        </a:rPr>
                        <a:t>)))</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return</a:t>
                      </a:r>
                      <a:r>
                        <a:rPr lang="es-ES" sz="750" dirty="0">
                          <a:solidFill>
                            <a:srgbClr val="4F81BD"/>
                          </a:solidFill>
                          <a:latin typeface="Calibri"/>
                          <a:ea typeface="Calibri"/>
                          <a:cs typeface="Calibri"/>
                          <a:sym typeface="Calibri"/>
                        </a:rPr>
                        <a:t> true;</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750" dirty="0">
                        <a:solidFill>
                          <a:srgbClr val="4F81BD"/>
                        </a:solidFill>
                        <a:latin typeface="Calibri"/>
                        <a:ea typeface="Calibri"/>
                        <a:cs typeface="Calibri"/>
                        <a:sym typeface="Calibri"/>
                      </a:endParaRP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return</a:t>
                      </a:r>
                      <a:r>
                        <a:rPr lang="es-ES" sz="75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750" dirty="0">
                          <a:solidFill>
                            <a:srgbClr val="4F81BD"/>
                          </a:solidFill>
                          <a:latin typeface="Calibri"/>
                          <a:ea typeface="Calibri"/>
                          <a:cs typeface="Calibri"/>
                          <a:sym typeface="Calibri"/>
                        </a:rPr>
                        <a:t>        }</a:t>
                      </a:r>
                      <a:endParaRPr sz="75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262640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txBox="1">
            <a:spLocks noGrp="1"/>
          </p:cNvSpPr>
          <p:nvPr>
            <p:ph type="body" idx="1"/>
          </p:nvPr>
        </p:nvSpPr>
        <p:spPr>
          <a:xfrm>
            <a:off x="581192" y="2545562"/>
            <a:ext cx="2240658" cy="3245638"/>
          </a:xfrm>
          <a:prstGeom prst="rect">
            <a:avLst/>
          </a:prstGeom>
          <a:noFill/>
          <a:ln>
            <a:noFill/>
          </a:ln>
        </p:spPr>
        <p:txBody>
          <a:bodyPr spcFirstLastPara="1" wrap="square" lIns="91425" tIns="45700" rIns="91425" bIns="45700" anchor="ctr" anchorCtr="0">
            <a:normAutofit fontScale="77500" lnSpcReduction="20000"/>
          </a:bodyPr>
          <a:lstStyle/>
          <a:p>
            <a:pPr marL="342900" lvl="0" indent="-342900" algn="just" rtl="0">
              <a:lnSpc>
                <a:spcPct val="107000"/>
              </a:lnSpc>
              <a:spcBef>
                <a:spcPts val="0"/>
              </a:spcBef>
              <a:spcAft>
                <a:spcPts val="0"/>
              </a:spcAft>
              <a:buSzPts val="1785"/>
              <a:buChar char="∙"/>
            </a:pPr>
            <a:r>
              <a:rPr lang="es-ES" sz="1929" b="1" dirty="0">
                <a:latin typeface="Cambria"/>
                <a:ea typeface="Cambria"/>
                <a:cs typeface="Cambria"/>
                <a:sym typeface="Cambria"/>
              </a:rPr>
              <a:t>1.2.5	Lógica</a:t>
            </a:r>
            <a:endParaRPr dirty="0">
              <a:latin typeface="Cambria"/>
              <a:ea typeface="Cambria"/>
              <a:cs typeface="Cambria"/>
              <a:sym typeface="Cambria"/>
            </a:endParaRPr>
          </a:p>
          <a:p>
            <a:pPr marL="0" lvl="0" indent="0" algn="just" rtl="0">
              <a:lnSpc>
                <a:spcPct val="107000"/>
              </a:lnSpc>
              <a:spcBef>
                <a:spcPts val="0"/>
              </a:spcBef>
              <a:spcAft>
                <a:spcPts val="0"/>
              </a:spcAft>
              <a:buNone/>
            </a:pPr>
            <a:endParaRPr sz="1200" dirty="0">
              <a:latin typeface="Cambria"/>
              <a:ea typeface="Cambria"/>
              <a:cs typeface="Cambria"/>
              <a:sym typeface="Cambria"/>
            </a:endParaRPr>
          </a:p>
          <a:p>
            <a:pPr marL="0" lvl="0" indent="0" algn="just" rtl="0">
              <a:lnSpc>
                <a:spcPct val="107000"/>
              </a:lnSpc>
              <a:spcBef>
                <a:spcPts val="0"/>
              </a:spcBef>
              <a:spcAft>
                <a:spcPts val="0"/>
              </a:spcAft>
              <a:buNone/>
            </a:pPr>
            <a:r>
              <a:rPr lang="es-ES"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dirty="0">
              <a:latin typeface="Cambria"/>
              <a:ea typeface="Cambria"/>
              <a:cs typeface="Cambria"/>
              <a:sym typeface="Cambria"/>
            </a:endParaRPr>
          </a:p>
        </p:txBody>
      </p:sp>
      <p:sp>
        <p:nvSpPr>
          <p:cNvPr id="247" name="Google Shape;247;p3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48" name="Google Shape;248;p31"/>
          <p:cNvGraphicFramePr/>
          <p:nvPr>
            <p:extLst>
              <p:ext uri="{D42A27DB-BD31-4B8C-83A1-F6EECF244321}">
                <p14:modId xmlns:p14="http://schemas.microsoft.com/office/powerpoint/2010/main" val="920460977"/>
              </p:ext>
            </p:extLst>
          </p:nvPr>
        </p:nvGraphicFramePr>
        <p:xfrm>
          <a:off x="3017311" y="3155390"/>
          <a:ext cx="6062675" cy="130048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namespace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ec.edu.monster.modelo.utilidades</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interface </a:t>
                      </a:r>
                      <a:r>
                        <a:rPr lang="es-ES" sz="1100" dirty="0" err="1">
                          <a:solidFill>
                            <a:srgbClr val="4F81BD"/>
                          </a:solidFill>
                          <a:latin typeface="Calibri"/>
                          <a:ea typeface="Calibri"/>
                          <a:cs typeface="Calibri"/>
                          <a:sym typeface="Calibri"/>
                        </a:rPr>
                        <a:t>IConversor</a:t>
                      </a:r>
                      <a:r>
                        <a:rPr lang="es-ES" sz="1100" dirty="0">
                          <a:solidFill>
                            <a:srgbClr val="4F81BD"/>
                          </a:solidFill>
                          <a:latin typeface="Calibri"/>
                          <a:ea typeface="Calibri"/>
                          <a:cs typeface="Calibri"/>
                          <a:sym typeface="Calibri"/>
                        </a:rPr>
                        <a:t>&lt;T&gt;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double</a:t>
                      </a:r>
                      <a:r>
                        <a:rPr lang="es-ES" sz="1100" dirty="0">
                          <a:solidFill>
                            <a:srgbClr val="4F81BD"/>
                          </a:solidFill>
                          <a:latin typeface="Calibri"/>
                          <a:ea typeface="Calibri"/>
                          <a:cs typeface="Calibri"/>
                          <a:sym typeface="Calibri"/>
                        </a:rPr>
                        <a:t> Convertir(</a:t>
                      </a:r>
                      <a:r>
                        <a:rPr lang="es-ES" sz="1100" dirty="0" err="1">
                          <a:solidFill>
                            <a:srgbClr val="4F81BD"/>
                          </a:solidFill>
                          <a:latin typeface="Calibri"/>
                          <a:ea typeface="Calibri"/>
                          <a:cs typeface="Calibri"/>
                          <a:sym typeface="Calibri"/>
                        </a:rPr>
                        <a:t>double</a:t>
                      </a:r>
                      <a:r>
                        <a:rPr lang="es-ES" sz="1100" dirty="0">
                          <a:solidFill>
                            <a:srgbClr val="4F81BD"/>
                          </a:solidFill>
                          <a:latin typeface="Calibri"/>
                          <a:ea typeface="Calibri"/>
                          <a:cs typeface="Calibri"/>
                          <a:sym typeface="Calibri"/>
                        </a:rPr>
                        <a:t> valor, T </a:t>
                      </a:r>
                      <a:r>
                        <a:rPr lang="es-ES" sz="1100" dirty="0" err="1">
                          <a:solidFill>
                            <a:srgbClr val="4F81BD"/>
                          </a:solidFill>
                          <a:latin typeface="Calibri"/>
                          <a:ea typeface="Calibri"/>
                          <a:cs typeface="Calibri"/>
                          <a:sym typeface="Calibri"/>
                        </a:rPr>
                        <a:t>unidadInicial</a:t>
                      </a:r>
                      <a:r>
                        <a:rPr lang="es-ES" sz="1100" dirty="0">
                          <a:solidFill>
                            <a:srgbClr val="4F81BD"/>
                          </a:solidFill>
                          <a:latin typeface="Calibri"/>
                          <a:ea typeface="Calibri"/>
                          <a:cs typeface="Calibri"/>
                          <a:sym typeface="Calibri"/>
                        </a:rPr>
                        <a:t>, T </a:t>
                      </a:r>
                      <a:r>
                        <a:rPr lang="es-ES" sz="1100" dirty="0" err="1">
                          <a:solidFill>
                            <a:srgbClr val="4F81BD"/>
                          </a:solidFill>
                          <a:latin typeface="Calibri"/>
                          <a:ea typeface="Calibri"/>
                          <a:cs typeface="Calibri"/>
                          <a:sym typeface="Calibri"/>
                        </a:rPr>
                        <a:t>unidadFinal</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15579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a:spLocks noGrp="1"/>
          </p:cNvSpPr>
          <p:nvPr>
            <p:ph type="body" idx="1"/>
          </p:nvPr>
        </p:nvSpPr>
        <p:spPr>
          <a:xfrm>
            <a:off x="581192" y="2585160"/>
            <a:ext cx="2309484" cy="3224963"/>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56" name="Google Shape;256;p32"/>
          <p:cNvGraphicFramePr/>
          <p:nvPr>
            <p:extLst>
              <p:ext uri="{D42A27DB-BD31-4B8C-83A1-F6EECF244321}">
                <p14:modId xmlns:p14="http://schemas.microsoft.com/office/powerpoint/2010/main" val="228467442"/>
              </p:ext>
            </p:extLst>
          </p:nvPr>
        </p:nvGraphicFramePr>
        <p:xfrm>
          <a:off x="3017313" y="1838175"/>
          <a:ext cx="6062675" cy="432562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950">
                          <a:solidFill>
                            <a:srgbClr val="4F81BD"/>
                          </a:solidFill>
                          <a:latin typeface="Calibri"/>
                          <a:ea typeface="Calibri"/>
                          <a:cs typeface="Calibri"/>
                          <a:sym typeface="Calibri"/>
                        </a:rPr>
                        <a:t>using System;</a:t>
                      </a:r>
                    </a:p>
                    <a:p>
                      <a:pPr marL="0" lvl="0" indent="0" algn="l" rtl="0">
                        <a:spcBef>
                          <a:spcPts val="0"/>
                        </a:spcBef>
                        <a:spcAft>
                          <a:spcPts val="0"/>
                        </a:spcAft>
                        <a:buNone/>
                      </a:pPr>
                      <a:r>
                        <a:rPr lang="es-ES" sz="950">
                          <a:solidFill>
                            <a:srgbClr val="4F81BD"/>
                          </a:solidFill>
                          <a:latin typeface="Calibri"/>
                          <a:ea typeface="Calibri"/>
                          <a:cs typeface="Calibri"/>
                          <a:sym typeface="Calibri"/>
                        </a:rPr>
                        <a:t>using System.Collections.Generic;</a:t>
                      </a:r>
                    </a:p>
                    <a:p>
                      <a:pPr marL="0" lvl="0" indent="0" algn="l" rtl="0">
                        <a:spcBef>
                          <a:spcPts val="0"/>
                        </a:spcBef>
                        <a:spcAft>
                          <a:spcPts val="0"/>
                        </a:spcAft>
                        <a:buNone/>
                      </a:pPr>
                      <a:r>
                        <a:rPr lang="es-ES" sz="950">
                          <a:solidFill>
                            <a:srgbClr val="4F81BD"/>
                          </a:solidFill>
                          <a:latin typeface="Calibri"/>
                          <a:ea typeface="Calibri"/>
                          <a:cs typeface="Calibri"/>
                          <a:sym typeface="Calibri"/>
                        </a:rPr>
                        <a:t>using ec.edu.monster.modelo.enums;</a:t>
                      </a:r>
                    </a:p>
                    <a:p>
                      <a:pPr marL="0" lvl="0" indent="0" algn="l" rtl="0">
                        <a:spcBef>
                          <a:spcPts val="0"/>
                        </a:spcBef>
                        <a:spcAft>
                          <a:spcPts val="0"/>
                        </a:spcAft>
                        <a:buNone/>
                      </a:pPr>
                      <a:endParaRPr lang="es-ES" sz="950">
                        <a:solidFill>
                          <a:srgbClr val="4F81BD"/>
                        </a:solidFill>
                        <a:latin typeface="Calibri"/>
                        <a:ea typeface="Calibri"/>
                        <a:cs typeface="Calibri"/>
                        <a:sym typeface="Calibri"/>
                      </a:endParaRPr>
                    </a:p>
                    <a:p>
                      <a:pPr marL="0" lvl="0" indent="0" algn="l" rtl="0">
                        <a:spcBef>
                          <a:spcPts val="0"/>
                        </a:spcBef>
                        <a:spcAft>
                          <a:spcPts val="0"/>
                        </a:spcAft>
                        <a:buNone/>
                      </a:pPr>
                      <a:r>
                        <a:rPr lang="es-ES" sz="950">
                          <a:solidFill>
                            <a:srgbClr val="4F81BD"/>
                          </a:solidFill>
                          <a:latin typeface="Calibri"/>
                          <a:ea typeface="Calibri"/>
                          <a:cs typeface="Calibri"/>
                          <a:sym typeface="Calibri"/>
                        </a:rPr>
                        <a:t>namespace ec.edu.monster.modelo.utilidades</a:t>
                      </a:r>
                    </a:p>
                    <a:p>
                      <a:pPr marL="0" lvl="0" indent="0" algn="l" rtl="0">
                        <a:spcBef>
                          <a:spcPts val="0"/>
                        </a:spcBef>
                        <a:spcAft>
                          <a:spcPts val="0"/>
                        </a:spcAft>
                        <a:buNone/>
                      </a:pPr>
                      <a:r>
                        <a:rPr lang="es-ES" sz="950">
                          <a:solidFill>
                            <a:srgbClr val="4F81BD"/>
                          </a:solidFill>
                          <a:latin typeface="Calibri"/>
                          <a:ea typeface="Calibri"/>
                          <a:cs typeface="Calibri"/>
                          <a:sym typeface="Calibri"/>
                        </a:rPr>
                        <a:t>{</a:t>
                      </a:r>
                    </a:p>
                    <a:p>
                      <a:pPr marL="0" lvl="0" indent="0" algn="l" rtl="0">
                        <a:spcBef>
                          <a:spcPts val="0"/>
                        </a:spcBef>
                        <a:spcAft>
                          <a:spcPts val="0"/>
                        </a:spcAft>
                        <a:buNone/>
                      </a:pPr>
                      <a:r>
                        <a:rPr lang="es-ES" sz="950">
                          <a:solidFill>
                            <a:srgbClr val="4F81BD"/>
                          </a:solidFill>
                          <a:latin typeface="Calibri"/>
                          <a:ea typeface="Calibri"/>
                          <a:cs typeface="Calibri"/>
                          <a:sym typeface="Calibri"/>
                        </a:rPr>
                        <a:t>    public class ConversorLongitud : IConversor&lt;UnidadLongitud&gt;</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        private readonly Dictionary&lt;UnidadLongitud, double&gt; factores = new Dictionary&lt;UnidadLongitud, double&gt;</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            { UnidadLongitud.MILIMETRO, 0.001 },</a:t>
                      </a:r>
                    </a:p>
                    <a:p>
                      <a:pPr marL="0" lvl="0" indent="0" algn="l" rtl="0">
                        <a:spcBef>
                          <a:spcPts val="0"/>
                        </a:spcBef>
                        <a:spcAft>
                          <a:spcPts val="0"/>
                        </a:spcAft>
                        <a:buNone/>
                      </a:pPr>
                      <a:r>
                        <a:rPr lang="es-ES" sz="950">
                          <a:solidFill>
                            <a:srgbClr val="4F81BD"/>
                          </a:solidFill>
                          <a:latin typeface="Calibri"/>
                          <a:ea typeface="Calibri"/>
                          <a:cs typeface="Calibri"/>
                          <a:sym typeface="Calibri"/>
                        </a:rPr>
                        <a:t>            { UnidadLongitud.CENTIMETRO, 0.01 },</a:t>
                      </a:r>
                    </a:p>
                    <a:p>
                      <a:pPr marL="0" lvl="0" indent="0" algn="l" rtl="0">
                        <a:spcBef>
                          <a:spcPts val="0"/>
                        </a:spcBef>
                        <a:spcAft>
                          <a:spcPts val="0"/>
                        </a:spcAft>
                        <a:buNone/>
                      </a:pPr>
                      <a:r>
                        <a:rPr lang="es-ES" sz="950">
                          <a:solidFill>
                            <a:srgbClr val="4F81BD"/>
                          </a:solidFill>
                          <a:latin typeface="Calibri"/>
                          <a:ea typeface="Calibri"/>
                          <a:cs typeface="Calibri"/>
                          <a:sym typeface="Calibri"/>
                        </a:rPr>
                        <a:t>            { UnidadLongitud.METRO, 1.0 },</a:t>
                      </a:r>
                    </a:p>
                    <a:p>
                      <a:pPr marL="0" lvl="0" indent="0" algn="l" rtl="0">
                        <a:spcBef>
                          <a:spcPts val="0"/>
                        </a:spcBef>
                        <a:spcAft>
                          <a:spcPts val="0"/>
                        </a:spcAft>
                        <a:buNone/>
                      </a:pPr>
                      <a:r>
                        <a:rPr lang="es-ES" sz="950">
                          <a:solidFill>
                            <a:srgbClr val="4F81BD"/>
                          </a:solidFill>
                          <a:latin typeface="Calibri"/>
                          <a:ea typeface="Calibri"/>
                          <a:cs typeface="Calibri"/>
                          <a:sym typeface="Calibri"/>
                        </a:rPr>
                        <a:t>            { UnidadLongitud.KILOMETRO, 1000.0 },</a:t>
                      </a:r>
                    </a:p>
                    <a:p>
                      <a:pPr marL="0" lvl="0" indent="0" algn="l" rtl="0">
                        <a:spcBef>
                          <a:spcPts val="0"/>
                        </a:spcBef>
                        <a:spcAft>
                          <a:spcPts val="0"/>
                        </a:spcAft>
                        <a:buNone/>
                      </a:pPr>
                      <a:r>
                        <a:rPr lang="es-ES" sz="950">
                          <a:solidFill>
                            <a:srgbClr val="4F81BD"/>
                          </a:solidFill>
                          <a:latin typeface="Calibri"/>
                          <a:ea typeface="Calibri"/>
                          <a:cs typeface="Calibri"/>
                          <a:sym typeface="Calibri"/>
                        </a:rPr>
                        <a:t>            { UnidadLongitud.YARDA, 0.9144 }</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endParaRPr lang="es-ES" sz="950">
                        <a:solidFill>
                          <a:srgbClr val="4F81BD"/>
                        </a:solidFill>
                        <a:latin typeface="Calibri"/>
                        <a:ea typeface="Calibri"/>
                        <a:cs typeface="Calibri"/>
                        <a:sym typeface="Calibri"/>
                      </a:endParaRPr>
                    </a:p>
                    <a:p>
                      <a:pPr marL="0" lvl="0" indent="0" algn="l" rtl="0">
                        <a:spcBef>
                          <a:spcPts val="0"/>
                        </a:spcBef>
                        <a:spcAft>
                          <a:spcPts val="0"/>
                        </a:spcAft>
                        <a:buNone/>
                      </a:pPr>
                      <a:r>
                        <a:rPr lang="es-ES" sz="950">
                          <a:solidFill>
                            <a:srgbClr val="4F81BD"/>
                          </a:solidFill>
                          <a:latin typeface="Calibri"/>
                          <a:ea typeface="Calibri"/>
                          <a:cs typeface="Calibri"/>
                          <a:sym typeface="Calibri"/>
                        </a:rPr>
                        <a:t>        public double Convertir(double valor, UnidadLongitud unidadOrigen, UnidadLongitud unidadFinal)</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            if (!factores.ContainsKey(unidadOrigen) || !factores.ContainsKey(unidadFinal))</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                throw new ArgumentException("Unidad de longitud no soportada");</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endParaRPr lang="es-ES" sz="950">
                        <a:solidFill>
                          <a:srgbClr val="4F81BD"/>
                        </a:solidFill>
                        <a:latin typeface="Calibri"/>
                        <a:ea typeface="Calibri"/>
                        <a:cs typeface="Calibri"/>
                        <a:sym typeface="Calibri"/>
                      </a:endParaRPr>
                    </a:p>
                    <a:p>
                      <a:pPr marL="0" lvl="0" indent="0" algn="l" rtl="0">
                        <a:spcBef>
                          <a:spcPts val="0"/>
                        </a:spcBef>
                        <a:spcAft>
                          <a:spcPts val="0"/>
                        </a:spcAft>
                        <a:buNone/>
                      </a:pPr>
                      <a:r>
                        <a:rPr lang="es-ES" sz="950">
                          <a:solidFill>
                            <a:srgbClr val="4F81BD"/>
                          </a:solidFill>
                          <a:latin typeface="Calibri"/>
                          <a:ea typeface="Calibri"/>
                          <a:cs typeface="Calibri"/>
                          <a:sym typeface="Calibri"/>
                        </a:rPr>
                        <a:t>            double valorEnBase = valor * factores[unidadOrigen];</a:t>
                      </a:r>
                    </a:p>
                    <a:p>
                      <a:pPr marL="0" lvl="0" indent="0" algn="l" rtl="0">
                        <a:spcBef>
                          <a:spcPts val="0"/>
                        </a:spcBef>
                        <a:spcAft>
                          <a:spcPts val="0"/>
                        </a:spcAft>
                        <a:buNone/>
                      </a:pPr>
                      <a:r>
                        <a:rPr lang="es-ES" sz="950">
                          <a:solidFill>
                            <a:srgbClr val="4F81BD"/>
                          </a:solidFill>
                          <a:latin typeface="Calibri"/>
                          <a:ea typeface="Calibri"/>
                          <a:cs typeface="Calibri"/>
                          <a:sym typeface="Calibri"/>
                        </a:rPr>
                        <a:t>            return valorEnBase / factores[unidadFinal];</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a:t>
                      </a:r>
                      <a:endParaRPr sz="95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05713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62" name="Google Shape;262;p33"/>
          <p:cNvSpPr txBox="1">
            <a:spLocks noGrp="1"/>
          </p:cNvSpPr>
          <p:nvPr>
            <p:ph type="body" idx="1"/>
          </p:nvPr>
        </p:nvSpPr>
        <p:spPr>
          <a:xfrm>
            <a:off x="581200" y="2418012"/>
            <a:ext cx="2319316" cy="3224963"/>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63" name="Google Shape;263;p3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64" name="Google Shape;264;p33"/>
          <p:cNvGraphicFramePr/>
          <p:nvPr>
            <p:extLst>
              <p:ext uri="{D42A27DB-BD31-4B8C-83A1-F6EECF244321}">
                <p14:modId xmlns:p14="http://schemas.microsoft.com/office/powerpoint/2010/main" val="2860214641"/>
              </p:ext>
            </p:extLst>
          </p:nvPr>
        </p:nvGraphicFramePr>
        <p:xfrm>
          <a:off x="3017313" y="1838175"/>
          <a:ext cx="6062675" cy="432562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950">
                          <a:solidFill>
                            <a:srgbClr val="4F81BD"/>
                          </a:solidFill>
                          <a:latin typeface="Calibri"/>
                          <a:ea typeface="Calibri"/>
                          <a:cs typeface="Calibri"/>
                          <a:sym typeface="Calibri"/>
                        </a:rPr>
                        <a:t>using System;</a:t>
                      </a:r>
                    </a:p>
                    <a:p>
                      <a:pPr marL="0" lvl="0" indent="0" algn="l" rtl="0">
                        <a:spcBef>
                          <a:spcPts val="0"/>
                        </a:spcBef>
                        <a:spcAft>
                          <a:spcPts val="0"/>
                        </a:spcAft>
                        <a:buNone/>
                      </a:pPr>
                      <a:r>
                        <a:rPr lang="es-ES" sz="950">
                          <a:solidFill>
                            <a:srgbClr val="4F81BD"/>
                          </a:solidFill>
                          <a:latin typeface="Calibri"/>
                          <a:ea typeface="Calibri"/>
                          <a:cs typeface="Calibri"/>
                          <a:sym typeface="Calibri"/>
                        </a:rPr>
                        <a:t>using System.Collections.Generic;</a:t>
                      </a:r>
                    </a:p>
                    <a:p>
                      <a:pPr marL="0" lvl="0" indent="0" algn="l" rtl="0">
                        <a:spcBef>
                          <a:spcPts val="0"/>
                        </a:spcBef>
                        <a:spcAft>
                          <a:spcPts val="0"/>
                        </a:spcAft>
                        <a:buNone/>
                      </a:pPr>
                      <a:r>
                        <a:rPr lang="es-ES" sz="950">
                          <a:solidFill>
                            <a:srgbClr val="4F81BD"/>
                          </a:solidFill>
                          <a:latin typeface="Calibri"/>
                          <a:ea typeface="Calibri"/>
                          <a:cs typeface="Calibri"/>
                          <a:sym typeface="Calibri"/>
                        </a:rPr>
                        <a:t>using ec.edu.monster.modelo.enums;</a:t>
                      </a:r>
                    </a:p>
                    <a:p>
                      <a:pPr marL="0" lvl="0" indent="0" algn="l" rtl="0">
                        <a:spcBef>
                          <a:spcPts val="0"/>
                        </a:spcBef>
                        <a:spcAft>
                          <a:spcPts val="0"/>
                        </a:spcAft>
                        <a:buNone/>
                      </a:pPr>
                      <a:endParaRPr lang="es-ES" sz="950">
                        <a:solidFill>
                          <a:srgbClr val="4F81BD"/>
                        </a:solidFill>
                        <a:latin typeface="Calibri"/>
                        <a:ea typeface="Calibri"/>
                        <a:cs typeface="Calibri"/>
                        <a:sym typeface="Calibri"/>
                      </a:endParaRPr>
                    </a:p>
                    <a:p>
                      <a:pPr marL="0" lvl="0" indent="0" algn="l" rtl="0">
                        <a:spcBef>
                          <a:spcPts val="0"/>
                        </a:spcBef>
                        <a:spcAft>
                          <a:spcPts val="0"/>
                        </a:spcAft>
                        <a:buNone/>
                      </a:pPr>
                      <a:r>
                        <a:rPr lang="es-ES" sz="950">
                          <a:solidFill>
                            <a:srgbClr val="4F81BD"/>
                          </a:solidFill>
                          <a:latin typeface="Calibri"/>
                          <a:ea typeface="Calibri"/>
                          <a:cs typeface="Calibri"/>
                          <a:sym typeface="Calibri"/>
                        </a:rPr>
                        <a:t>namespace ec.edu.monster.modelo.utilidades</a:t>
                      </a:r>
                    </a:p>
                    <a:p>
                      <a:pPr marL="0" lvl="0" indent="0" algn="l" rtl="0">
                        <a:spcBef>
                          <a:spcPts val="0"/>
                        </a:spcBef>
                        <a:spcAft>
                          <a:spcPts val="0"/>
                        </a:spcAft>
                        <a:buNone/>
                      </a:pPr>
                      <a:r>
                        <a:rPr lang="es-ES" sz="950">
                          <a:solidFill>
                            <a:srgbClr val="4F81BD"/>
                          </a:solidFill>
                          <a:latin typeface="Calibri"/>
                          <a:ea typeface="Calibri"/>
                          <a:cs typeface="Calibri"/>
                          <a:sym typeface="Calibri"/>
                        </a:rPr>
                        <a:t>{</a:t>
                      </a:r>
                    </a:p>
                    <a:p>
                      <a:pPr marL="0" lvl="0" indent="0" algn="l" rtl="0">
                        <a:spcBef>
                          <a:spcPts val="0"/>
                        </a:spcBef>
                        <a:spcAft>
                          <a:spcPts val="0"/>
                        </a:spcAft>
                        <a:buNone/>
                      </a:pPr>
                      <a:r>
                        <a:rPr lang="es-ES" sz="950">
                          <a:solidFill>
                            <a:srgbClr val="4F81BD"/>
                          </a:solidFill>
                          <a:latin typeface="Calibri"/>
                          <a:ea typeface="Calibri"/>
                          <a:cs typeface="Calibri"/>
                          <a:sym typeface="Calibri"/>
                        </a:rPr>
                        <a:t>    public class ConversorMasa : IConversor&lt;UnidadMasa&gt;</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        private readonly Dictionary&lt;UnidadMasa, double&gt; factores = new Dictionary&lt;UnidadMasa, double&gt;</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            { UnidadMasa.MILIGRAMO, 0.001 },</a:t>
                      </a:r>
                    </a:p>
                    <a:p>
                      <a:pPr marL="0" lvl="0" indent="0" algn="l" rtl="0">
                        <a:spcBef>
                          <a:spcPts val="0"/>
                        </a:spcBef>
                        <a:spcAft>
                          <a:spcPts val="0"/>
                        </a:spcAft>
                        <a:buNone/>
                      </a:pPr>
                      <a:r>
                        <a:rPr lang="es-ES" sz="950">
                          <a:solidFill>
                            <a:srgbClr val="4F81BD"/>
                          </a:solidFill>
                          <a:latin typeface="Calibri"/>
                          <a:ea typeface="Calibri"/>
                          <a:cs typeface="Calibri"/>
                          <a:sym typeface="Calibri"/>
                        </a:rPr>
                        <a:t>            { UnidadMasa.GRAMO, 1.0 },</a:t>
                      </a:r>
                    </a:p>
                    <a:p>
                      <a:pPr marL="0" lvl="0" indent="0" algn="l" rtl="0">
                        <a:spcBef>
                          <a:spcPts val="0"/>
                        </a:spcBef>
                        <a:spcAft>
                          <a:spcPts val="0"/>
                        </a:spcAft>
                        <a:buNone/>
                      </a:pPr>
                      <a:r>
                        <a:rPr lang="es-ES" sz="950">
                          <a:solidFill>
                            <a:srgbClr val="4F81BD"/>
                          </a:solidFill>
                          <a:latin typeface="Calibri"/>
                          <a:ea typeface="Calibri"/>
                          <a:cs typeface="Calibri"/>
                          <a:sym typeface="Calibri"/>
                        </a:rPr>
                        <a:t>            { UnidadMasa.KILOGRAMO, 1000.0 },</a:t>
                      </a:r>
                    </a:p>
                    <a:p>
                      <a:pPr marL="0" lvl="0" indent="0" algn="l" rtl="0">
                        <a:spcBef>
                          <a:spcPts val="0"/>
                        </a:spcBef>
                        <a:spcAft>
                          <a:spcPts val="0"/>
                        </a:spcAft>
                        <a:buNone/>
                      </a:pPr>
                      <a:r>
                        <a:rPr lang="es-ES" sz="950">
                          <a:solidFill>
                            <a:srgbClr val="4F81BD"/>
                          </a:solidFill>
                          <a:latin typeface="Calibri"/>
                          <a:ea typeface="Calibri"/>
                          <a:cs typeface="Calibri"/>
                          <a:sym typeface="Calibri"/>
                        </a:rPr>
                        <a:t>            { UnidadMasa.TONELADA, 1000000.0 },</a:t>
                      </a:r>
                    </a:p>
                    <a:p>
                      <a:pPr marL="0" lvl="0" indent="0" algn="l" rtl="0">
                        <a:spcBef>
                          <a:spcPts val="0"/>
                        </a:spcBef>
                        <a:spcAft>
                          <a:spcPts val="0"/>
                        </a:spcAft>
                        <a:buNone/>
                      </a:pPr>
                      <a:r>
                        <a:rPr lang="es-ES" sz="950">
                          <a:solidFill>
                            <a:srgbClr val="4F81BD"/>
                          </a:solidFill>
                          <a:latin typeface="Calibri"/>
                          <a:ea typeface="Calibri"/>
                          <a:cs typeface="Calibri"/>
                          <a:sym typeface="Calibri"/>
                        </a:rPr>
                        <a:t>            { UnidadMasa.ONZA, 28.349523125 }</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endParaRPr lang="es-ES" sz="950">
                        <a:solidFill>
                          <a:srgbClr val="4F81BD"/>
                        </a:solidFill>
                        <a:latin typeface="Calibri"/>
                        <a:ea typeface="Calibri"/>
                        <a:cs typeface="Calibri"/>
                        <a:sym typeface="Calibri"/>
                      </a:endParaRPr>
                    </a:p>
                    <a:p>
                      <a:pPr marL="0" lvl="0" indent="0" algn="l" rtl="0">
                        <a:spcBef>
                          <a:spcPts val="0"/>
                        </a:spcBef>
                        <a:spcAft>
                          <a:spcPts val="0"/>
                        </a:spcAft>
                        <a:buNone/>
                      </a:pPr>
                      <a:r>
                        <a:rPr lang="es-ES" sz="950">
                          <a:solidFill>
                            <a:srgbClr val="4F81BD"/>
                          </a:solidFill>
                          <a:latin typeface="Calibri"/>
                          <a:ea typeface="Calibri"/>
                          <a:cs typeface="Calibri"/>
                          <a:sym typeface="Calibri"/>
                        </a:rPr>
                        <a:t>        public double Convertir(double valor, UnidadMasa unidadOrigen, UnidadMasa unidadFinal)</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            if (!factores.ContainsKey(unidadOrigen) || !factores.ContainsKey(unidadFinal))</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                throw new ArgumentException("Unidad de masa no soportada");</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endParaRPr lang="es-ES" sz="950">
                        <a:solidFill>
                          <a:srgbClr val="4F81BD"/>
                        </a:solidFill>
                        <a:latin typeface="Calibri"/>
                        <a:ea typeface="Calibri"/>
                        <a:cs typeface="Calibri"/>
                        <a:sym typeface="Calibri"/>
                      </a:endParaRPr>
                    </a:p>
                    <a:p>
                      <a:pPr marL="0" lvl="0" indent="0" algn="l" rtl="0">
                        <a:spcBef>
                          <a:spcPts val="0"/>
                        </a:spcBef>
                        <a:spcAft>
                          <a:spcPts val="0"/>
                        </a:spcAft>
                        <a:buNone/>
                      </a:pPr>
                      <a:r>
                        <a:rPr lang="es-ES" sz="950">
                          <a:solidFill>
                            <a:srgbClr val="4F81BD"/>
                          </a:solidFill>
                          <a:latin typeface="Calibri"/>
                          <a:ea typeface="Calibri"/>
                          <a:cs typeface="Calibri"/>
                          <a:sym typeface="Calibri"/>
                        </a:rPr>
                        <a:t>            double valorEnBase = valor * factores[unidadOrigen];</a:t>
                      </a:r>
                    </a:p>
                    <a:p>
                      <a:pPr marL="0" lvl="0" indent="0" algn="l" rtl="0">
                        <a:spcBef>
                          <a:spcPts val="0"/>
                        </a:spcBef>
                        <a:spcAft>
                          <a:spcPts val="0"/>
                        </a:spcAft>
                        <a:buNone/>
                      </a:pPr>
                      <a:r>
                        <a:rPr lang="es-ES" sz="950">
                          <a:solidFill>
                            <a:srgbClr val="4F81BD"/>
                          </a:solidFill>
                          <a:latin typeface="Calibri"/>
                          <a:ea typeface="Calibri"/>
                          <a:cs typeface="Calibri"/>
                          <a:sym typeface="Calibri"/>
                        </a:rPr>
                        <a:t>            return valorEnBase / factores[unidadFinal];</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    }</a:t>
                      </a:r>
                    </a:p>
                    <a:p>
                      <a:pPr marL="0" lvl="0" indent="0" algn="l" rtl="0">
                        <a:spcBef>
                          <a:spcPts val="0"/>
                        </a:spcBef>
                        <a:spcAft>
                          <a:spcPts val="0"/>
                        </a:spcAft>
                        <a:buNone/>
                      </a:pPr>
                      <a:r>
                        <a:rPr lang="es-ES" sz="950">
                          <a:solidFill>
                            <a:srgbClr val="4F81BD"/>
                          </a:solidFill>
                          <a:latin typeface="Calibri"/>
                          <a:ea typeface="Calibri"/>
                          <a:cs typeface="Calibri"/>
                          <a:sym typeface="Calibri"/>
                        </a:rPr>
                        <a:t>}</a:t>
                      </a:r>
                      <a:endParaRPr sz="95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175399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0" name="Google Shape;270;p34"/>
          <p:cNvSpPr txBox="1">
            <a:spLocks noGrp="1"/>
          </p:cNvSpPr>
          <p:nvPr>
            <p:ph type="body" idx="1"/>
          </p:nvPr>
        </p:nvSpPr>
        <p:spPr>
          <a:xfrm>
            <a:off x="581192" y="2610898"/>
            <a:ext cx="2230826" cy="3352059"/>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71" name="Google Shape;271;p3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72" name="Google Shape;272;p34"/>
          <p:cNvGraphicFramePr/>
          <p:nvPr>
            <p:extLst>
              <p:ext uri="{D42A27DB-BD31-4B8C-83A1-F6EECF244321}">
                <p14:modId xmlns:p14="http://schemas.microsoft.com/office/powerpoint/2010/main" val="2097859013"/>
              </p:ext>
            </p:extLst>
          </p:nvPr>
        </p:nvGraphicFramePr>
        <p:xfrm>
          <a:off x="2891513" y="2209650"/>
          <a:ext cx="6062675" cy="43561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750">
                          <a:solidFill>
                            <a:srgbClr val="4F81BD"/>
                          </a:solidFill>
                          <a:latin typeface="Calibri"/>
                          <a:ea typeface="Calibri"/>
                          <a:cs typeface="Calibri"/>
                          <a:sym typeface="Calibri"/>
                        </a:rPr>
                        <a:t>    public class ConversorTemperatura : IConversor&lt;UnidadTemperatura&gt;</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r>
                        <a:rPr lang="es-ES" sz="750">
                          <a:solidFill>
                            <a:srgbClr val="4F81BD"/>
                          </a:solidFill>
                          <a:latin typeface="Calibri"/>
                          <a:ea typeface="Calibri"/>
                          <a:cs typeface="Calibri"/>
                          <a:sym typeface="Calibri"/>
                        </a:rPr>
                        <a:t>        public double Convertir(double valor, UnidadTemperatura origen, UnidadTemperatura destino)</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r>
                        <a:rPr lang="es-ES" sz="750">
                          <a:solidFill>
                            <a:srgbClr val="4F81BD"/>
                          </a:solidFill>
                          <a:latin typeface="Calibri"/>
                          <a:ea typeface="Calibri"/>
                          <a:cs typeface="Calibri"/>
                          <a:sym typeface="Calibri"/>
                        </a:rPr>
                        <a:t>            if (origen == destino)</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r>
                        <a:rPr lang="es-ES" sz="750">
                          <a:solidFill>
                            <a:srgbClr val="4F81BD"/>
                          </a:solidFill>
                          <a:latin typeface="Calibri"/>
                          <a:ea typeface="Calibri"/>
                          <a:cs typeface="Calibri"/>
                          <a:sym typeface="Calibri"/>
                        </a:rPr>
                        <a:t>                return valor;</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endParaRPr lang="es-ES" sz="750">
                        <a:solidFill>
                          <a:srgbClr val="4F81BD"/>
                        </a:solidFill>
                        <a:latin typeface="Calibri"/>
                        <a:ea typeface="Calibri"/>
                        <a:cs typeface="Calibri"/>
                        <a:sym typeface="Calibri"/>
                      </a:endParaRPr>
                    </a:p>
                    <a:p>
                      <a:pPr marL="0" lvl="0" indent="0" algn="l" rtl="0">
                        <a:spcBef>
                          <a:spcPts val="0"/>
                        </a:spcBef>
                        <a:spcAft>
                          <a:spcPts val="0"/>
                        </a:spcAft>
                        <a:buNone/>
                      </a:pPr>
                      <a:r>
                        <a:rPr lang="es-ES" sz="750">
                          <a:solidFill>
                            <a:srgbClr val="4F81BD"/>
                          </a:solidFill>
                          <a:latin typeface="Calibri"/>
                          <a:ea typeface="Calibri"/>
                          <a:cs typeface="Calibri"/>
                          <a:sym typeface="Calibri"/>
                        </a:rPr>
                        <a:t>            switch (origen)</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UnidadTemperatura.CELSIUS:</a:t>
                      </a:r>
                    </a:p>
                    <a:p>
                      <a:pPr marL="0" lvl="0" indent="0" algn="l" rtl="0">
                        <a:spcBef>
                          <a:spcPts val="0"/>
                        </a:spcBef>
                        <a:spcAft>
                          <a:spcPts val="0"/>
                        </a:spcAft>
                        <a:buNone/>
                      </a:pPr>
                      <a:r>
                        <a:rPr lang="es-ES" sz="750">
                          <a:solidFill>
                            <a:srgbClr val="4F81BD"/>
                          </a:solidFill>
                          <a:latin typeface="Calibri"/>
                          <a:ea typeface="Calibri"/>
                          <a:cs typeface="Calibri"/>
                          <a:sym typeface="Calibri"/>
                        </a:rPr>
                        <a:t>                    switch (destino)</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UnidadTemperatura.FAHRENHEIT: return (valor * 9.0 / 5.0) + 32.0;</a:t>
                      </a: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UnidadTemperatura.KELVIN: return valor + 273.15;</a:t>
                      </a: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UnidadTemperatura.RANKINE: return (valor + 273.15) * 9.0 / 5.0;</a:t>
                      </a:r>
                    </a:p>
                    <a:p>
                      <a:pPr marL="0" lvl="0" indent="0" algn="l" rtl="0">
                        <a:spcBef>
                          <a:spcPts val="0"/>
                        </a:spcBef>
                        <a:spcAft>
                          <a:spcPts val="0"/>
                        </a:spcAft>
                        <a:buNone/>
                      </a:pPr>
                      <a:r>
                        <a:rPr lang="es-ES" sz="750">
                          <a:solidFill>
                            <a:srgbClr val="4F81BD"/>
                          </a:solidFill>
                          <a:latin typeface="Calibri"/>
                          <a:ea typeface="Calibri"/>
                          <a:cs typeface="Calibri"/>
                          <a:sym typeface="Calibri"/>
                        </a:rPr>
                        <a:t>                        default: throw new ArgumentException("Conversión no soportada");</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endParaRPr lang="es-ES" sz="750">
                        <a:solidFill>
                          <a:srgbClr val="4F81BD"/>
                        </a:solidFill>
                        <a:latin typeface="Calibri"/>
                        <a:ea typeface="Calibri"/>
                        <a:cs typeface="Calibri"/>
                        <a:sym typeface="Calibri"/>
                      </a:endParaRP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UnidadTemperatura.FAHRENHEIT:</a:t>
                      </a:r>
                    </a:p>
                    <a:p>
                      <a:pPr marL="0" lvl="0" indent="0" algn="l" rtl="0">
                        <a:spcBef>
                          <a:spcPts val="0"/>
                        </a:spcBef>
                        <a:spcAft>
                          <a:spcPts val="0"/>
                        </a:spcAft>
                        <a:buNone/>
                      </a:pPr>
                      <a:r>
                        <a:rPr lang="es-ES" sz="750">
                          <a:solidFill>
                            <a:srgbClr val="4F81BD"/>
                          </a:solidFill>
                          <a:latin typeface="Calibri"/>
                          <a:ea typeface="Calibri"/>
                          <a:cs typeface="Calibri"/>
                          <a:sym typeface="Calibri"/>
                        </a:rPr>
                        <a:t>                    switch (destino)</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UnidadTemperatura.CELSIUS: return (valor - 32.0) * 5.0 / 9.0;</a:t>
                      </a: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UnidadTemperatura.KELVIN: return (valor - 32.0) * 5.0 / 9.0 + 273.15;</a:t>
                      </a: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UnidadTemperatura.RANKINE: return valor + 459.67;</a:t>
                      </a:r>
                    </a:p>
                    <a:p>
                      <a:pPr marL="0" lvl="0" indent="0" algn="l" rtl="0">
                        <a:spcBef>
                          <a:spcPts val="0"/>
                        </a:spcBef>
                        <a:spcAft>
                          <a:spcPts val="0"/>
                        </a:spcAft>
                        <a:buNone/>
                      </a:pPr>
                      <a:r>
                        <a:rPr lang="es-ES" sz="750">
                          <a:solidFill>
                            <a:srgbClr val="4F81BD"/>
                          </a:solidFill>
                          <a:latin typeface="Calibri"/>
                          <a:ea typeface="Calibri"/>
                          <a:cs typeface="Calibri"/>
                          <a:sym typeface="Calibri"/>
                        </a:rPr>
                        <a:t>                        default: throw new ArgumentException("Conversión no soportada");</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endParaRPr lang="es-ES" sz="750">
                        <a:solidFill>
                          <a:srgbClr val="4F81BD"/>
                        </a:solidFill>
                        <a:latin typeface="Calibri"/>
                        <a:ea typeface="Calibri"/>
                        <a:cs typeface="Calibri"/>
                        <a:sym typeface="Calibri"/>
                      </a:endParaRP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UnidadTemperatura.KELVIN:</a:t>
                      </a:r>
                    </a:p>
                    <a:p>
                      <a:pPr marL="0" lvl="0" indent="0" algn="l" rtl="0">
                        <a:spcBef>
                          <a:spcPts val="0"/>
                        </a:spcBef>
                        <a:spcAft>
                          <a:spcPts val="0"/>
                        </a:spcAft>
                        <a:buNone/>
                      </a:pPr>
                      <a:r>
                        <a:rPr lang="es-ES" sz="750">
                          <a:solidFill>
                            <a:srgbClr val="4F81BD"/>
                          </a:solidFill>
                          <a:latin typeface="Calibri"/>
                          <a:ea typeface="Calibri"/>
                          <a:cs typeface="Calibri"/>
                          <a:sym typeface="Calibri"/>
                        </a:rPr>
                        <a:t>                    switch (destino)</a:t>
                      </a:r>
                    </a:p>
                    <a:p>
                      <a:pPr marL="0" lvl="0" indent="0" algn="l" rtl="0">
                        <a:spcBef>
                          <a:spcPts val="0"/>
                        </a:spcBef>
                        <a:spcAft>
                          <a:spcPts val="0"/>
                        </a:spcAft>
                        <a:buNone/>
                      </a:pPr>
                      <a:r>
                        <a:rPr lang="es-ES" sz="750">
                          <a:solidFill>
                            <a:srgbClr val="4F81BD"/>
                          </a:solidFill>
                          <a:latin typeface="Calibri"/>
                          <a:ea typeface="Calibri"/>
                          <a:cs typeface="Calibri"/>
                          <a:sym typeface="Calibri"/>
                        </a:rPr>
                        <a:t>                    {</a:t>
                      </a: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UnidadTemperatura.CELSIUS: return valor - 273.15;</a:t>
                      </a: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UnidadTemperatura.FAHRENHEIT: return (valor - 273.15) * 9.0 / 5.0 + 32.0;</a:t>
                      </a:r>
                    </a:p>
                    <a:p>
                      <a:pPr marL="0" lvl="0" indent="0" algn="l" rtl="0">
                        <a:spcBef>
                          <a:spcPts val="0"/>
                        </a:spcBef>
                        <a:spcAft>
                          <a:spcPts val="0"/>
                        </a:spcAft>
                        <a:buNone/>
                      </a:pPr>
                      <a:r>
                        <a:rPr lang="es-ES" sz="750">
                          <a:solidFill>
                            <a:srgbClr val="4F81BD"/>
                          </a:solidFill>
                          <a:latin typeface="Calibri"/>
                          <a:ea typeface="Calibri"/>
                          <a:cs typeface="Calibri"/>
                          <a:sym typeface="Calibri"/>
                        </a:rPr>
                        <a:t>                        case UnidadTemperatura.RANKINE: return valor * 9.0 / 5.0;</a:t>
                      </a:r>
                    </a:p>
                    <a:p>
                      <a:pPr marL="0" lvl="0" indent="0" algn="l" rtl="0">
                        <a:spcBef>
                          <a:spcPts val="0"/>
                        </a:spcBef>
                        <a:spcAft>
                          <a:spcPts val="0"/>
                        </a:spcAft>
                        <a:buNone/>
                      </a:pPr>
                      <a:r>
                        <a:rPr lang="es-ES" sz="750">
                          <a:solidFill>
                            <a:srgbClr val="4F81BD"/>
                          </a:solidFill>
                          <a:latin typeface="Calibri"/>
                          <a:ea typeface="Calibri"/>
                          <a:cs typeface="Calibri"/>
                          <a:sym typeface="Calibri"/>
                        </a:rPr>
                        <a:t>                        default: throw new ArgumentException("Conversión no soportada");</a:t>
                      </a:r>
                    </a:p>
                    <a:p>
                      <a:pPr marL="0" lvl="0" indent="0" algn="l" rtl="0">
                        <a:spcBef>
                          <a:spcPts val="0"/>
                        </a:spcBef>
                        <a:spcAft>
                          <a:spcPts val="0"/>
                        </a:spcAft>
                        <a:buNone/>
                      </a:pPr>
                      <a:r>
                        <a:rPr lang="es-ES" sz="750">
                          <a:solidFill>
                            <a:srgbClr val="4F81BD"/>
                          </a:solidFill>
                          <a:latin typeface="Calibri"/>
                          <a:ea typeface="Calibri"/>
                          <a:cs typeface="Calibri"/>
                          <a:sym typeface="Calibri"/>
                        </a:rPr>
                        <a:t>    // ...</a:t>
                      </a:r>
                      <a:endParaRPr sz="75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900570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8" name="Google Shape;278;p35"/>
          <p:cNvSpPr txBox="1">
            <a:spLocks noGrp="1"/>
          </p:cNvSpPr>
          <p:nvPr>
            <p:ph type="body" idx="1"/>
          </p:nvPr>
        </p:nvSpPr>
        <p:spPr>
          <a:xfrm>
            <a:off x="581192" y="2636637"/>
            <a:ext cx="2230826" cy="3519207"/>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79" name="Google Shape;279;p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80" name="Google Shape;280;p35"/>
          <p:cNvGraphicFramePr/>
          <p:nvPr>
            <p:extLst>
              <p:ext uri="{D42A27DB-BD31-4B8C-83A1-F6EECF244321}">
                <p14:modId xmlns:p14="http://schemas.microsoft.com/office/powerpoint/2010/main" val="3807390292"/>
              </p:ext>
            </p:extLst>
          </p:nvPr>
        </p:nvGraphicFramePr>
        <p:xfrm>
          <a:off x="2891513" y="1838175"/>
          <a:ext cx="6062675" cy="463804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800">
                          <a:solidFill>
                            <a:srgbClr val="4F81BD"/>
                          </a:solidFill>
                          <a:latin typeface="Calibri"/>
                          <a:ea typeface="Calibri"/>
                          <a:cs typeface="Calibri"/>
                          <a:sym typeface="Calibri"/>
                        </a:rPr>
                        <a:t>    public static class UnidadMapper</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private static string Normalizar(string texto)</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if (string.IsNullOrWhiteSpace(texto))</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throw new ArgumentException("La unidad no puede estar vacía.");</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a:solidFill>
                          <a:srgbClr val="4F81BD"/>
                        </a:solidFill>
                        <a:latin typeface="Calibri"/>
                        <a:ea typeface="Calibri"/>
                        <a:cs typeface="Calibri"/>
                        <a:sym typeface="Calibri"/>
                      </a:endParaRPr>
                    </a:p>
                    <a:p>
                      <a:pPr marL="0" lvl="0" indent="0" algn="l" rtl="0">
                        <a:spcBef>
                          <a:spcPts val="0"/>
                        </a:spcBef>
                        <a:spcAft>
                          <a:spcPts val="0"/>
                        </a:spcAft>
                        <a:buNone/>
                      </a:pPr>
                      <a:r>
                        <a:rPr lang="es-ES" sz="800">
                          <a:solidFill>
                            <a:srgbClr val="4F81BD"/>
                          </a:solidFill>
                          <a:latin typeface="Calibri"/>
                          <a:ea typeface="Calibri"/>
                          <a:cs typeface="Calibri"/>
                          <a:sym typeface="Calibri"/>
                        </a:rPr>
                        <a:t>            string textoNormalizado = texto.Trim().Normalize(NormalizationForm.FormD);</a:t>
                      </a:r>
                    </a:p>
                    <a:p>
                      <a:pPr marL="0" lvl="0" indent="0" algn="l" rtl="0">
                        <a:spcBef>
                          <a:spcPts val="0"/>
                        </a:spcBef>
                        <a:spcAft>
                          <a:spcPts val="0"/>
                        </a:spcAft>
                        <a:buNone/>
                      </a:pPr>
                      <a:r>
                        <a:rPr lang="es-ES" sz="800">
                          <a:solidFill>
                            <a:srgbClr val="4F81BD"/>
                          </a:solidFill>
                          <a:latin typeface="Calibri"/>
                          <a:ea typeface="Calibri"/>
                          <a:cs typeface="Calibri"/>
                          <a:sym typeface="Calibri"/>
                        </a:rPr>
                        <a:t>            StringBuilder sb = new StringBuilder();</a:t>
                      </a:r>
                    </a:p>
                    <a:p>
                      <a:pPr marL="0" lvl="0" indent="0" algn="l" rtl="0">
                        <a:spcBef>
                          <a:spcPts val="0"/>
                        </a:spcBef>
                        <a:spcAft>
                          <a:spcPts val="0"/>
                        </a:spcAft>
                        <a:buNone/>
                      </a:pPr>
                      <a:endParaRPr lang="es-ES" sz="800">
                        <a:solidFill>
                          <a:srgbClr val="4F81BD"/>
                        </a:solidFill>
                        <a:latin typeface="Calibri"/>
                        <a:ea typeface="Calibri"/>
                        <a:cs typeface="Calibri"/>
                        <a:sym typeface="Calibri"/>
                      </a:endParaRPr>
                    </a:p>
                    <a:p>
                      <a:pPr marL="0" lvl="0" indent="0" algn="l" rtl="0">
                        <a:spcBef>
                          <a:spcPts val="0"/>
                        </a:spcBef>
                        <a:spcAft>
                          <a:spcPts val="0"/>
                        </a:spcAft>
                        <a:buNone/>
                      </a:pPr>
                      <a:r>
                        <a:rPr lang="es-ES" sz="800">
                          <a:solidFill>
                            <a:srgbClr val="4F81BD"/>
                          </a:solidFill>
                          <a:latin typeface="Calibri"/>
                          <a:ea typeface="Calibri"/>
                          <a:cs typeface="Calibri"/>
                          <a:sym typeface="Calibri"/>
                        </a:rPr>
                        <a:t>            foreach (char c in textoNormalizado)</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UnicodeCategory uc = CharUnicodeInfo.GetUnicodeCategory(c);</a:t>
                      </a:r>
                    </a:p>
                    <a:p>
                      <a:pPr marL="0" lvl="0" indent="0" algn="l" rtl="0">
                        <a:spcBef>
                          <a:spcPts val="0"/>
                        </a:spcBef>
                        <a:spcAft>
                          <a:spcPts val="0"/>
                        </a:spcAft>
                        <a:buNone/>
                      </a:pPr>
                      <a:r>
                        <a:rPr lang="es-ES" sz="800">
                          <a:solidFill>
                            <a:srgbClr val="4F81BD"/>
                          </a:solidFill>
                          <a:latin typeface="Calibri"/>
                          <a:ea typeface="Calibri"/>
                          <a:cs typeface="Calibri"/>
                          <a:sym typeface="Calibri"/>
                        </a:rPr>
                        <a:t>                if (uc != UnicodeCategory.NonSpacingMark)</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sb.Append(c);</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a:solidFill>
                          <a:srgbClr val="4F81BD"/>
                        </a:solidFill>
                        <a:latin typeface="Calibri"/>
                        <a:ea typeface="Calibri"/>
                        <a:cs typeface="Calibri"/>
                        <a:sym typeface="Calibri"/>
                      </a:endParaRPr>
                    </a:p>
                    <a:p>
                      <a:pPr marL="0" lvl="0" indent="0" algn="l" rtl="0">
                        <a:spcBef>
                          <a:spcPts val="0"/>
                        </a:spcBef>
                        <a:spcAft>
                          <a:spcPts val="0"/>
                        </a:spcAft>
                        <a:buNone/>
                      </a:pPr>
                      <a:r>
                        <a:rPr lang="es-ES" sz="800">
                          <a:solidFill>
                            <a:srgbClr val="4F81BD"/>
                          </a:solidFill>
                          <a:latin typeface="Calibri"/>
                          <a:ea typeface="Calibri"/>
                          <a:cs typeface="Calibri"/>
                          <a:sym typeface="Calibri"/>
                        </a:rPr>
                        <a:t>            return sb.ToString().Normalize(NormalizationForm.FormC).ToUpperInvariant();</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a:solidFill>
                          <a:srgbClr val="4F81BD"/>
                        </a:solidFill>
                        <a:latin typeface="Calibri"/>
                        <a:ea typeface="Calibri"/>
                        <a:cs typeface="Calibri"/>
                        <a:sym typeface="Calibri"/>
                      </a:endParaRPr>
                    </a:p>
                    <a:p>
                      <a:pPr marL="0" lvl="0" indent="0" algn="l" rtl="0">
                        <a:spcBef>
                          <a:spcPts val="0"/>
                        </a:spcBef>
                        <a:spcAft>
                          <a:spcPts val="0"/>
                        </a:spcAft>
                        <a:buNone/>
                      </a:pPr>
                      <a:r>
                        <a:rPr lang="es-ES" sz="800">
                          <a:solidFill>
                            <a:srgbClr val="4F81BD"/>
                          </a:solidFill>
                          <a:latin typeface="Calibri"/>
                          <a:ea typeface="Calibri"/>
                          <a:cs typeface="Calibri"/>
                          <a:sym typeface="Calibri"/>
                        </a:rPr>
                        <a:t>        public static UnidadLongitud ToLongitud(string valor)</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string u = Normalizar(valor);</a:t>
                      </a:r>
                    </a:p>
                    <a:p>
                      <a:pPr marL="0" lvl="0" indent="0" algn="l" rtl="0">
                        <a:spcBef>
                          <a:spcPts val="0"/>
                        </a:spcBef>
                        <a:spcAft>
                          <a:spcPts val="0"/>
                        </a:spcAft>
                        <a:buNone/>
                      </a:pPr>
                      <a:r>
                        <a:rPr lang="es-ES" sz="800">
                          <a:solidFill>
                            <a:srgbClr val="4F81BD"/>
                          </a:solidFill>
                          <a:latin typeface="Calibri"/>
                          <a:ea typeface="Calibri"/>
                          <a:cs typeface="Calibri"/>
                          <a:sym typeface="Calibri"/>
                        </a:rPr>
                        <a:t>            switch (u)</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case "MILIMETRO":</a:t>
                      </a:r>
                    </a:p>
                    <a:p>
                      <a:pPr marL="0" lvl="0" indent="0" algn="l" rtl="0">
                        <a:spcBef>
                          <a:spcPts val="0"/>
                        </a:spcBef>
                        <a:spcAft>
                          <a:spcPts val="0"/>
                        </a:spcAft>
                        <a:buNone/>
                      </a:pPr>
                      <a:r>
                        <a:rPr lang="es-ES" sz="800">
                          <a:solidFill>
                            <a:srgbClr val="4F81BD"/>
                          </a:solidFill>
                          <a:latin typeface="Calibri"/>
                          <a:ea typeface="Calibri"/>
                          <a:cs typeface="Calibri"/>
                          <a:sym typeface="Calibri"/>
                        </a:rPr>
                        <a:t>                case "MILIMETROS":</a:t>
                      </a:r>
                    </a:p>
                    <a:p>
                      <a:pPr marL="0" lvl="0" indent="0" algn="l" rtl="0">
                        <a:spcBef>
                          <a:spcPts val="0"/>
                        </a:spcBef>
                        <a:spcAft>
                          <a:spcPts val="0"/>
                        </a:spcAft>
                        <a:buNone/>
                      </a:pPr>
                      <a:r>
                        <a:rPr lang="es-ES" sz="800">
                          <a:solidFill>
                            <a:srgbClr val="4F81BD"/>
                          </a:solidFill>
                          <a:latin typeface="Calibri"/>
                          <a:ea typeface="Calibri"/>
                          <a:cs typeface="Calibri"/>
                          <a:sym typeface="Calibri"/>
                        </a:rPr>
                        <a:t>                case "MM":</a:t>
                      </a:r>
                    </a:p>
                    <a:p>
                      <a:pPr marL="0" lvl="0" indent="0" algn="l" rtl="0">
                        <a:spcBef>
                          <a:spcPts val="0"/>
                        </a:spcBef>
                        <a:spcAft>
                          <a:spcPts val="0"/>
                        </a:spcAft>
                        <a:buNone/>
                      </a:pPr>
                      <a:r>
                        <a:rPr lang="es-ES" sz="800">
                          <a:solidFill>
                            <a:srgbClr val="4F81BD"/>
                          </a:solidFill>
                          <a:latin typeface="Calibri"/>
                          <a:ea typeface="Calibri"/>
                          <a:cs typeface="Calibri"/>
                          <a:sym typeface="Calibri"/>
                        </a:rPr>
                        <a:t>                    return UnidadLongitud.MILIMETRO;</a:t>
                      </a:r>
                    </a:p>
                    <a:p>
                      <a:pPr marL="0" lvl="0" indent="0" algn="l" rtl="0">
                        <a:spcBef>
                          <a:spcPts val="0"/>
                        </a:spcBef>
                        <a:spcAft>
                          <a:spcPts val="0"/>
                        </a:spcAft>
                        <a:buNone/>
                      </a:pPr>
                      <a:r>
                        <a:rPr lang="es-ES" sz="800">
                          <a:solidFill>
                            <a:srgbClr val="4F81BD"/>
                          </a:solidFill>
                          <a:latin typeface="Calibri"/>
                          <a:ea typeface="Calibri"/>
                          <a:cs typeface="Calibri"/>
                          <a:sym typeface="Calibri"/>
                        </a:rPr>
                        <a:t>                case "CENTIMETRO":</a:t>
                      </a:r>
                    </a:p>
                    <a:p>
                      <a:pPr marL="0" lvl="0" indent="0" algn="l" rtl="0">
                        <a:spcBef>
                          <a:spcPts val="0"/>
                        </a:spcBef>
                        <a:spcAft>
                          <a:spcPts val="0"/>
                        </a:spcAft>
                        <a:buNone/>
                      </a:pPr>
                      <a:r>
                        <a:rPr lang="es-ES" sz="800">
                          <a:solidFill>
                            <a:srgbClr val="4F81BD"/>
                          </a:solidFill>
                          <a:latin typeface="Calibri"/>
                          <a:ea typeface="Calibri"/>
                          <a:cs typeface="Calibri"/>
                          <a:sym typeface="Calibri"/>
                        </a:rPr>
                        <a:t>                case "CENTIMETROS":</a:t>
                      </a:r>
                    </a:p>
                    <a:p>
                      <a:pPr marL="0" lvl="0" indent="0" algn="l" rtl="0">
                        <a:spcBef>
                          <a:spcPts val="0"/>
                        </a:spcBef>
                        <a:spcAft>
                          <a:spcPts val="0"/>
                        </a:spcAft>
                        <a:buNone/>
                      </a:pPr>
                      <a:r>
                        <a:rPr lang="es-ES" sz="800">
                          <a:solidFill>
                            <a:srgbClr val="4F81BD"/>
                          </a:solidFill>
                          <a:latin typeface="Calibri"/>
                          <a:ea typeface="Calibri"/>
                          <a:cs typeface="Calibri"/>
                          <a:sym typeface="Calibri"/>
                        </a:rPr>
                        <a:t>                case "CM":</a:t>
                      </a:r>
                    </a:p>
                    <a:p>
                      <a:pPr marL="0" lvl="0" indent="0" algn="l" rtl="0">
                        <a:spcBef>
                          <a:spcPts val="0"/>
                        </a:spcBef>
                        <a:spcAft>
                          <a:spcPts val="0"/>
                        </a:spcAft>
                        <a:buNone/>
                      </a:pPr>
                      <a:r>
                        <a:rPr lang="es-ES" sz="800">
                          <a:solidFill>
                            <a:srgbClr val="4F81BD"/>
                          </a:solidFill>
                          <a:latin typeface="Calibri"/>
                          <a:ea typeface="Calibri"/>
                          <a:cs typeface="Calibri"/>
                          <a:sym typeface="Calibri"/>
                        </a:rPr>
                        <a:t>    // ...</a:t>
                      </a:r>
                      <a:endParaRPr sz="8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31295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86" name="Google Shape;286;p36"/>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Aplicando una interfaz con el fin de hacer que el servicio pueda inyectar cualquier tipo de conversión sin limitarse a uno en concreto como se puede ver en la Tabla del Servicio</a:t>
            </a:r>
            <a:endParaRPr sz="1400" dirty="0">
              <a:latin typeface="Cambria"/>
              <a:ea typeface="Cambria"/>
              <a:cs typeface="Cambria"/>
              <a:sym typeface="Cambria"/>
            </a:endParaRPr>
          </a:p>
        </p:txBody>
      </p:sp>
      <p:sp>
        <p:nvSpPr>
          <p:cNvPr id="287" name="Google Shape;287;p3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288" name="Google Shape;288;p36"/>
          <p:cNvGraphicFramePr/>
          <p:nvPr>
            <p:extLst>
              <p:ext uri="{D42A27DB-BD31-4B8C-83A1-F6EECF244321}">
                <p14:modId xmlns:p14="http://schemas.microsoft.com/office/powerpoint/2010/main" val="3419426862"/>
              </p:ext>
            </p:extLst>
          </p:nvPr>
        </p:nvGraphicFramePr>
        <p:xfrm>
          <a:off x="2891513" y="2557313"/>
          <a:ext cx="6062675" cy="364744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100">
                          <a:solidFill>
                            <a:srgbClr val="4F81BD"/>
                          </a:solidFill>
                          <a:latin typeface="Calibri"/>
                          <a:ea typeface="Calibri"/>
                          <a:cs typeface="Calibri"/>
                          <a:sym typeface="Calibri"/>
                        </a:rPr>
                        <a:t>using System;</a:t>
                      </a:r>
                    </a:p>
                    <a:p>
                      <a:pPr marL="0" lvl="0" indent="0" algn="l" rtl="0">
                        <a:spcBef>
                          <a:spcPts val="0"/>
                        </a:spcBef>
                        <a:spcAft>
                          <a:spcPts val="0"/>
                        </a:spcAft>
                        <a:buNone/>
                      </a:pPr>
                      <a:r>
                        <a:rPr lang="es-ES" sz="1100">
                          <a:solidFill>
                            <a:srgbClr val="4F81BD"/>
                          </a:solidFill>
                          <a:latin typeface="Calibri"/>
                          <a:ea typeface="Calibri"/>
                          <a:cs typeface="Calibri"/>
                          <a:sym typeface="Calibri"/>
                        </a:rPr>
                        <a:t>using ec.edu.monster.modelo.utilidades;</a:t>
                      </a:r>
                    </a:p>
                    <a:p>
                      <a:pPr marL="0" lvl="0" indent="0" algn="l" rtl="0">
                        <a:spcBef>
                          <a:spcPts val="0"/>
                        </a:spcBef>
                        <a:spcAft>
                          <a:spcPts val="0"/>
                        </a:spcAft>
                        <a:buNone/>
                      </a:pPr>
                      <a:endParaRPr lang="es-ES"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namespace ec.edu.monster.servicio</a:t>
                      </a:r>
                    </a:p>
                    <a:p>
                      <a:pPr marL="0" lvl="0" indent="0" algn="l" rtl="0">
                        <a:spcBef>
                          <a:spcPts val="0"/>
                        </a:spcBef>
                        <a:spcAft>
                          <a:spcPts val="0"/>
                        </a:spcAft>
                        <a:buNone/>
                      </a:pPr>
                      <a:r>
                        <a:rPr lang="es-ES" sz="1100">
                          <a:solidFill>
                            <a:srgbClr val="4F81BD"/>
                          </a:solidFill>
                          <a:latin typeface="Calibri"/>
                          <a:ea typeface="Calibri"/>
                          <a:cs typeface="Calibri"/>
                          <a:sym typeface="Calibri"/>
                        </a:rPr>
                        <a:t>{</a:t>
                      </a:r>
                    </a:p>
                    <a:p>
                      <a:pPr marL="0" lvl="0" indent="0" algn="l" rtl="0">
                        <a:spcBef>
                          <a:spcPts val="0"/>
                        </a:spcBef>
                        <a:spcAft>
                          <a:spcPts val="0"/>
                        </a:spcAft>
                        <a:buNone/>
                      </a:pPr>
                      <a:r>
                        <a:rPr lang="es-ES" sz="1100">
                          <a:solidFill>
                            <a:srgbClr val="4F81BD"/>
                          </a:solidFill>
                          <a:latin typeface="Calibri"/>
                          <a:ea typeface="Calibri"/>
                          <a:cs typeface="Calibri"/>
                          <a:sym typeface="Calibri"/>
                        </a:rPr>
                        <a:t>    public class ServicioConversor&lt;T&gt;</a:t>
                      </a:r>
                    </a:p>
                    <a:p>
                      <a:pPr marL="0" lvl="0" indent="0" algn="l" rtl="0">
                        <a:spcBef>
                          <a:spcPts val="0"/>
                        </a:spcBef>
                        <a:spcAft>
                          <a:spcPts val="0"/>
                        </a:spcAft>
                        <a:buNone/>
                      </a:pPr>
                      <a:r>
                        <a:rPr lang="es-ES" sz="1100">
                          <a:solidFill>
                            <a:srgbClr val="4F81BD"/>
                          </a:solidFill>
                          <a:latin typeface="Calibri"/>
                          <a:ea typeface="Calibri"/>
                          <a:cs typeface="Calibri"/>
                          <a:sym typeface="Calibri"/>
                        </a:rPr>
                        <a:t>    {</a:t>
                      </a:r>
                    </a:p>
                    <a:p>
                      <a:pPr marL="0" lvl="0" indent="0" algn="l" rtl="0">
                        <a:spcBef>
                          <a:spcPts val="0"/>
                        </a:spcBef>
                        <a:spcAft>
                          <a:spcPts val="0"/>
                        </a:spcAft>
                        <a:buNone/>
                      </a:pPr>
                      <a:r>
                        <a:rPr lang="es-ES" sz="1100">
                          <a:solidFill>
                            <a:srgbClr val="4F81BD"/>
                          </a:solidFill>
                          <a:latin typeface="Calibri"/>
                          <a:ea typeface="Calibri"/>
                          <a:cs typeface="Calibri"/>
                          <a:sym typeface="Calibri"/>
                        </a:rPr>
                        <a:t>        private readonly IConversor&lt;T&gt; conversor;</a:t>
                      </a:r>
                    </a:p>
                    <a:p>
                      <a:pPr marL="0" lvl="0" indent="0" algn="l" rtl="0">
                        <a:spcBef>
                          <a:spcPts val="0"/>
                        </a:spcBef>
                        <a:spcAft>
                          <a:spcPts val="0"/>
                        </a:spcAft>
                        <a:buNone/>
                      </a:pPr>
                      <a:endParaRPr lang="es-ES"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ServicioConversor(IConversor&lt;T&gt; conversor)</a:t>
                      </a:r>
                    </a:p>
                    <a:p>
                      <a:pPr marL="0" lvl="0" indent="0" algn="l" rtl="0">
                        <a:spcBef>
                          <a:spcPts val="0"/>
                        </a:spcBef>
                        <a:spcAft>
                          <a:spcPts val="0"/>
                        </a:spcAft>
                        <a:buNone/>
                      </a:pPr>
                      <a:r>
                        <a:rPr lang="es-ES" sz="1100">
                          <a:solidFill>
                            <a:srgbClr val="4F81BD"/>
                          </a:solidFill>
                          <a:latin typeface="Calibri"/>
                          <a:ea typeface="Calibri"/>
                          <a:cs typeface="Calibri"/>
                          <a:sym typeface="Calibri"/>
                        </a:rPr>
                        <a:t>        {</a:t>
                      </a:r>
                    </a:p>
                    <a:p>
                      <a:pPr marL="0" lvl="0" indent="0" algn="l" rtl="0">
                        <a:spcBef>
                          <a:spcPts val="0"/>
                        </a:spcBef>
                        <a:spcAft>
                          <a:spcPts val="0"/>
                        </a:spcAft>
                        <a:buNone/>
                      </a:pPr>
                      <a:r>
                        <a:rPr lang="es-ES" sz="1100">
                          <a:solidFill>
                            <a:srgbClr val="4F81BD"/>
                          </a:solidFill>
                          <a:latin typeface="Calibri"/>
                          <a:ea typeface="Calibri"/>
                          <a:cs typeface="Calibri"/>
                          <a:sym typeface="Calibri"/>
                        </a:rPr>
                        <a:t>            this.conversor = conversor ?? throw new ArgumentNullException(nameof(conversor), "Conversor no especificado");</a:t>
                      </a:r>
                    </a:p>
                    <a:p>
                      <a:pPr marL="0" lvl="0" indent="0" algn="l" rtl="0">
                        <a:spcBef>
                          <a:spcPts val="0"/>
                        </a:spcBef>
                        <a:spcAft>
                          <a:spcPts val="0"/>
                        </a:spcAft>
                        <a:buNone/>
                      </a:pPr>
                      <a:r>
                        <a:rPr lang="es-ES" sz="110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a:solidFill>
                          <a:srgbClr val="4F81BD"/>
                        </a:solidFill>
                        <a:latin typeface="Calibri"/>
                        <a:ea typeface="Calibri"/>
                        <a:cs typeface="Calibri"/>
                        <a:sym typeface="Calibri"/>
                      </a:endParaRPr>
                    </a:p>
                    <a:p>
                      <a:pPr marL="0" lvl="0" indent="0" algn="l" rtl="0">
                        <a:spcBef>
                          <a:spcPts val="0"/>
                        </a:spcBef>
                        <a:spcAft>
                          <a:spcPts val="0"/>
                        </a:spcAft>
                        <a:buNone/>
                      </a:pPr>
                      <a:r>
                        <a:rPr lang="es-ES" sz="1100">
                          <a:solidFill>
                            <a:srgbClr val="4F81BD"/>
                          </a:solidFill>
                          <a:latin typeface="Calibri"/>
                          <a:ea typeface="Calibri"/>
                          <a:cs typeface="Calibri"/>
                          <a:sym typeface="Calibri"/>
                        </a:rPr>
                        <a:t>        public double Convertir(double valor, T origen, T destino)</a:t>
                      </a:r>
                    </a:p>
                    <a:p>
                      <a:pPr marL="0" lvl="0" indent="0" algn="l" rtl="0">
                        <a:spcBef>
                          <a:spcPts val="0"/>
                        </a:spcBef>
                        <a:spcAft>
                          <a:spcPts val="0"/>
                        </a:spcAft>
                        <a:buNone/>
                      </a:pPr>
                      <a:r>
                        <a:rPr lang="es-ES" sz="1100">
                          <a:solidFill>
                            <a:srgbClr val="4F81BD"/>
                          </a:solidFill>
                          <a:latin typeface="Calibri"/>
                          <a:ea typeface="Calibri"/>
                          <a:cs typeface="Calibri"/>
                          <a:sym typeface="Calibri"/>
                        </a:rPr>
                        <a:t>        {</a:t>
                      </a:r>
                    </a:p>
                    <a:p>
                      <a:pPr marL="0" lvl="0" indent="0" algn="l" rtl="0">
                        <a:spcBef>
                          <a:spcPts val="0"/>
                        </a:spcBef>
                        <a:spcAft>
                          <a:spcPts val="0"/>
                        </a:spcAft>
                        <a:buNone/>
                      </a:pPr>
                      <a:r>
                        <a:rPr lang="es-ES" sz="1100">
                          <a:solidFill>
                            <a:srgbClr val="4F81BD"/>
                          </a:solidFill>
                          <a:latin typeface="Calibri"/>
                          <a:ea typeface="Calibri"/>
                          <a:cs typeface="Calibri"/>
                          <a:sym typeface="Calibri"/>
                        </a:rPr>
                        <a:t>            return conversor.Convertir(valor, origen, destino);</a:t>
                      </a:r>
                    </a:p>
                    <a:p>
                      <a:pPr marL="0" lvl="0" indent="0" algn="l" rtl="0">
                        <a:spcBef>
                          <a:spcPts val="0"/>
                        </a:spcBef>
                        <a:spcAft>
                          <a:spcPts val="0"/>
                        </a:spcAft>
                        <a:buNone/>
                      </a:pPr>
                      <a:r>
                        <a:rPr lang="es-ES" sz="1100">
                          <a:solidFill>
                            <a:srgbClr val="4F81BD"/>
                          </a:solidFill>
                          <a:latin typeface="Calibri"/>
                          <a:ea typeface="Calibri"/>
                          <a:cs typeface="Calibri"/>
                          <a:sym typeface="Calibri"/>
                        </a:rPr>
                        <a:t>        }</a:t>
                      </a:r>
                    </a:p>
                    <a:p>
                      <a:pPr marL="0" lvl="0" indent="0" algn="l" rtl="0">
                        <a:spcBef>
                          <a:spcPts val="0"/>
                        </a:spcBef>
                        <a:spcAft>
                          <a:spcPts val="0"/>
                        </a:spcAft>
                        <a:buNone/>
                      </a:pPr>
                      <a:r>
                        <a:rPr lang="es-ES" sz="1100">
                          <a:solidFill>
                            <a:srgbClr val="4F81BD"/>
                          </a:solidFill>
                          <a:latin typeface="Calibri"/>
                          <a:ea typeface="Calibri"/>
                          <a:cs typeface="Calibri"/>
                          <a:sym typeface="Calibri"/>
                        </a:rPr>
                        <a:t>    }</a:t>
                      </a:r>
                    </a:p>
                    <a:p>
                      <a:pPr marL="0" lvl="0" indent="0" algn="l" rtl="0">
                        <a:spcBef>
                          <a:spcPts val="0"/>
                        </a:spcBef>
                        <a:spcAft>
                          <a:spcPts val="0"/>
                        </a:spcAft>
                        <a:buNone/>
                      </a:pPr>
                      <a:r>
                        <a:rPr lang="es-ES" sz="1100">
                          <a:solidFill>
                            <a:srgbClr val="4F81BD"/>
                          </a:solidFill>
                          <a:latin typeface="Calibri"/>
                          <a:ea typeface="Calibri"/>
                          <a:cs typeface="Calibri"/>
                          <a:sym typeface="Calibri"/>
                        </a:rPr>
                        <a:t>}</a:t>
                      </a:r>
                      <a:endParaRPr sz="11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61880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a:spLocks noGrp="1"/>
          </p:cNvSpPr>
          <p:nvPr>
            <p:ph type="body" idx="1"/>
          </p:nvPr>
        </p:nvSpPr>
        <p:spPr>
          <a:xfrm>
            <a:off x="581200" y="2018775"/>
            <a:ext cx="3046904" cy="4558800"/>
          </a:xfrm>
          <a:prstGeom prst="rect">
            <a:avLst/>
          </a:prstGeom>
          <a:noFill/>
          <a:ln>
            <a:noFill/>
          </a:ln>
        </p:spPr>
        <p:txBody>
          <a:bodyPr spcFirstLastPara="1" wrap="square" lIns="91425" tIns="45700" rIns="91425" bIns="45700" anchor="ctr" anchorCtr="0">
            <a:normAutofit/>
          </a:bodyPr>
          <a:lstStyle/>
          <a:p>
            <a:pPr marL="342900" marR="0" lvl="0" indent="-342900" rtl="0">
              <a:lnSpc>
                <a:spcPct val="107000"/>
              </a:lnSpc>
              <a:spcBef>
                <a:spcPts val="0"/>
              </a:spcBef>
              <a:spcAft>
                <a:spcPts val="0"/>
              </a:spcAft>
              <a:buSzPts val="1785"/>
              <a:buChar char="∙"/>
            </a:pPr>
            <a:r>
              <a:rPr lang="es-ES" sz="1929" b="1" dirty="0">
                <a:latin typeface="Cambria"/>
                <a:ea typeface="Cambria"/>
                <a:cs typeface="Cambria"/>
                <a:sym typeface="Cambria"/>
              </a:rPr>
              <a:t>1.2.6 Ejecución en Servidor</a:t>
            </a:r>
            <a:endParaRPr dirty="0">
              <a:latin typeface="Cambria"/>
              <a:ea typeface="Cambria"/>
              <a:cs typeface="Cambria"/>
              <a:sym typeface="Cambria"/>
            </a:endParaRPr>
          </a:p>
          <a:p>
            <a:pPr marL="342900" marR="0" lvl="0" indent="-323850" algn="just" rtl="0">
              <a:lnSpc>
                <a:spcPct val="107000"/>
              </a:lnSpc>
              <a:spcBef>
                <a:spcPts val="0"/>
              </a:spcBef>
              <a:spcAft>
                <a:spcPts val="0"/>
              </a:spcAft>
              <a:buSzPts val="1356"/>
              <a:buFont typeface="Cambria"/>
              <a:buChar char="∙"/>
            </a:pPr>
            <a:r>
              <a:rPr lang="es-ES" sz="1500" dirty="0">
                <a:latin typeface="Cambria"/>
                <a:ea typeface="Cambria"/>
                <a:cs typeface="Cambria"/>
                <a:sym typeface="Cambria"/>
              </a:rPr>
              <a:t>Se ejecuta el proyecto con IIS Express desde Visual Studio y se comprueba que el servicio responde en la ruta: http://localhost:63281/ServicioWebRest.svc/conversor/unidades</a:t>
            </a:r>
            <a:endParaRPr sz="1500"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95" name="Google Shape;295;p3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SERVIDOR REST</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4" name="Captura GR04">
            <a:extLst>
              <a:ext uri="{FF2B5EF4-FFF2-40B4-BE49-F238E27FC236}">
                <a16:creationId xmlns:a16="http://schemas.microsoft.com/office/drawing/2014/main" id="{00825A91-90E2-ACF3-E364-CD3368E5CE34}"/>
              </a:ext>
            </a:extLst>
          </p:cNvPr>
          <p:cNvPicPr>
            <a:picLocks/>
          </p:cNvPicPr>
          <p:nvPr/>
        </p:nvPicPr>
        <p:blipFill>
          <a:blip r:embed="rId3"/>
          <a:stretch>
            <a:fillRect/>
          </a:stretch>
        </p:blipFill>
        <p:spPr>
          <a:xfrm>
            <a:off x="3728750" y="3529721"/>
            <a:ext cx="5192894" cy="1536910"/>
          </a:xfrm>
          <a:prstGeom prst="rect">
            <a:avLst/>
          </a:prstGeom>
        </p:spPr>
      </p:pic>
    </p:spTree>
    <p:extLst>
      <p:ext uri="{BB962C8B-B14F-4D97-AF65-F5344CB8AC3E}">
        <p14:creationId xmlns:p14="http://schemas.microsoft.com/office/powerpoint/2010/main" val="20117450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OBJETIVO</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SERVIDOR REST</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ESCRITORIO</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WEB</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MOVIL</a:t>
            </a:r>
            <a:endParaRPr sz="1400" b="0" i="0" u="none" strike="noStrike" cap="none">
              <a:solidFill>
                <a:srgbClr val="FFFFFF"/>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CONCLUSIONES</a:t>
            </a:r>
            <a:endParaRPr sz="1400" b="0" i="0" u="none" strike="noStrike" cap="none">
              <a:solidFill>
                <a:srgbClr val="FFFFFF"/>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RECOMENDACIONES</a:t>
            </a:r>
            <a:endParaRPr sz="1400" b="0" i="0" u="none" strike="noStrike" cap="none">
              <a:solidFill>
                <a:srgbClr val="FFFFFF"/>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3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03" name="Google Shape;303;p38"/>
          <p:cNvSpPr txBox="1">
            <a:spLocks noGrp="1"/>
          </p:cNvSpPr>
          <p:nvPr>
            <p:ph type="body" idx="1"/>
          </p:nvPr>
        </p:nvSpPr>
        <p:spPr>
          <a:xfrm>
            <a:off x="581200" y="1983000"/>
            <a:ext cx="8581500" cy="21495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ct val="70332"/>
              <a:buFont typeface="Arial"/>
              <a:buNone/>
            </a:pPr>
            <a:r>
              <a:rPr lang="es-ES" b="1" dirty="0">
                <a:latin typeface="Cambria"/>
                <a:ea typeface="Cambria"/>
                <a:cs typeface="Cambria"/>
                <a:sym typeface="Cambria"/>
              </a:rPr>
              <a:t>1.3 	CREACIÓN DEL PROYECTO CLIENTE CONSOLA</a:t>
            </a:r>
          </a:p>
          <a:p>
            <a:pPr marL="0" lvl="0" indent="0" algn="l" rtl="0">
              <a:lnSpc>
                <a:spcPct val="115000"/>
              </a:lnSpc>
              <a:spcBef>
                <a:spcPts val="1200"/>
              </a:spcBef>
              <a:spcAft>
                <a:spcPts val="0"/>
              </a:spcAft>
              <a:buClr>
                <a:schemeClr val="dk1"/>
              </a:buClr>
              <a:buSzPct val="70332"/>
              <a:buFont typeface="Arial"/>
              <a:buNone/>
            </a:pPr>
            <a:endParaRPr sz="1564" b="1" dirty="0">
              <a:latin typeface="Cambria"/>
              <a:ea typeface="Cambria"/>
              <a:cs typeface="Cambria"/>
              <a:sym typeface="Cambria"/>
            </a:endParaRPr>
          </a:p>
          <a:p>
            <a:pPr marL="457200" lvl="0" indent="-320524" algn="l" rtl="0">
              <a:lnSpc>
                <a:spcPct val="115000"/>
              </a:lnSpc>
              <a:spcBef>
                <a:spcPts val="0"/>
              </a:spcBef>
              <a:spcAft>
                <a:spcPts val="0"/>
              </a:spcAft>
              <a:buSzPct val="100064"/>
              <a:buFont typeface="Arial" panose="020B0604020202020204" pitchFamily="34" charset="0"/>
              <a:buChar char="•"/>
            </a:pPr>
            <a:r>
              <a:rPr lang="es-ES" dirty="0">
                <a:latin typeface="Cambria"/>
                <a:ea typeface="Cambria"/>
                <a:cs typeface="Cambria"/>
                <a:sym typeface="Cambria"/>
              </a:rPr>
              <a:t>Para el cliente consola se usó Visual Studio con la plantilla Console App (.NET 8).</a:t>
            </a:r>
            <a:endParaRPr dirty="0">
              <a:latin typeface="Cambria"/>
              <a:ea typeface="Cambria"/>
              <a:cs typeface="Cambria"/>
              <a:sym typeface="Cambria"/>
            </a:endParaRPr>
          </a:p>
          <a:p>
            <a:pPr marL="457200" lvl="0" indent="-320465" algn="l" rtl="0">
              <a:lnSpc>
                <a:spcPct val="115000"/>
              </a:lnSpc>
              <a:spcBef>
                <a:spcPts val="0"/>
              </a:spcBef>
              <a:spcAft>
                <a:spcPts val="0"/>
              </a:spcAft>
              <a:buSzPct val="100000"/>
              <a:buFont typeface="Arial" panose="020B0604020202020204" pitchFamily="34" charset="0"/>
              <a:buChar char="•"/>
            </a:pPr>
            <a:r>
              <a:rPr lang="es-ES" dirty="0">
                <a:latin typeface="Cambria"/>
                <a:ea typeface="Cambria"/>
                <a:cs typeface="Cambria"/>
                <a:sym typeface="Cambria"/>
              </a:rPr>
              <a:t>El cliente consume el servicio REST con </a:t>
            </a:r>
            <a:r>
              <a:rPr lang="es-ES" dirty="0" err="1">
                <a:latin typeface="Cambria"/>
                <a:ea typeface="Cambria"/>
                <a:cs typeface="Cambria"/>
                <a:sym typeface="Cambria"/>
              </a:rPr>
              <a:t>HttpClient</a:t>
            </a:r>
            <a:r>
              <a:rPr lang="es-ES" dirty="0">
                <a:latin typeface="Cambria"/>
                <a:ea typeface="Cambria"/>
                <a:cs typeface="Cambria"/>
                <a:sym typeface="Cambria"/>
              </a:rPr>
              <a:t> (</a:t>
            </a:r>
            <a:r>
              <a:rPr lang="es-ES" dirty="0" err="1">
                <a:latin typeface="Cambria"/>
                <a:ea typeface="Cambria"/>
                <a:cs typeface="Cambria"/>
                <a:sym typeface="Cambria"/>
              </a:rPr>
              <a:t>ConversorService</a:t>
            </a:r>
            <a:r>
              <a:rPr lang="es-ES" dirty="0">
                <a:latin typeface="Cambria"/>
                <a:ea typeface="Cambria"/>
                <a:cs typeface="Cambria"/>
                <a:sym typeface="Cambria"/>
              </a:rPr>
              <a:t>) y se organizan las carpetas controlador, modelo y vista.</a:t>
            </a:r>
            <a:endParaRPr dirty="0">
              <a:latin typeface="Cambria"/>
              <a:ea typeface="Cambria"/>
              <a:cs typeface="Cambria"/>
              <a:sym typeface="Cambria"/>
            </a:endParaRPr>
          </a:p>
          <a:p>
            <a:pPr marL="0" lvl="0" indent="0" algn="l" rtl="0">
              <a:lnSpc>
                <a:spcPct val="115000"/>
              </a:lnSpc>
              <a:spcBef>
                <a:spcPts val="1200"/>
              </a:spcBef>
              <a:spcAft>
                <a:spcPts val="1200"/>
              </a:spcAft>
              <a:buSzPct val="99162"/>
              <a:buNone/>
            </a:pPr>
            <a:endParaRPr sz="1670" dirty="0">
              <a:latin typeface="Cambria"/>
              <a:ea typeface="Cambria"/>
              <a:cs typeface="Cambria"/>
              <a:sym typeface="Cambria"/>
            </a:endParaRPr>
          </a:p>
        </p:txBody>
      </p:sp>
      <p:pic>
        <p:nvPicPr>
          <p:cNvPr id="4" name="Captura GR04">
            <a:extLst>
              <a:ext uri="{FF2B5EF4-FFF2-40B4-BE49-F238E27FC236}">
                <a16:creationId xmlns:a16="http://schemas.microsoft.com/office/drawing/2014/main" id="{5F7F2FAA-CC6A-8458-A227-EF675BC85EB7}"/>
              </a:ext>
            </a:extLst>
          </p:cNvPr>
          <p:cNvPicPr>
            <a:picLocks/>
          </p:cNvPicPr>
          <p:nvPr/>
        </p:nvPicPr>
        <p:blipFill>
          <a:blip r:embed="rId3"/>
          <a:stretch>
            <a:fillRect/>
          </a:stretch>
        </p:blipFill>
        <p:spPr>
          <a:xfrm>
            <a:off x="2920988" y="3966358"/>
            <a:ext cx="3704150" cy="2393130"/>
          </a:xfrm>
          <a:prstGeom prst="rect">
            <a:avLst/>
          </a:prstGeom>
        </p:spPr>
      </p:pic>
    </p:spTree>
    <p:extLst>
      <p:ext uri="{BB962C8B-B14F-4D97-AF65-F5344CB8AC3E}">
        <p14:creationId xmlns:p14="http://schemas.microsoft.com/office/powerpoint/2010/main" val="3242353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OBJETIVO</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SERVIDOR REST</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CREACIÓN DEL PROYECTO – CLIENTE CONSOLA</a:t>
            </a:r>
            <a:endParaRPr sz="1200" b="1" i="0" u="none" strike="noStrike" cap="none">
              <a:solidFill>
                <a:srgbClr val="FFFF00"/>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ESCRITORIO</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WEB</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MOVIL</a:t>
            </a:r>
            <a:endParaRPr sz="1400" b="0" i="0" u="none" strike="noStrike" cap="none">
              <a:solidFill>
                <a:srgbClr val="FFFFFF"/>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CONCLUSIONES</a:t>
            </a:r>
            <a:endParaRPr sz="1400" b="0" i="0" u="none" strike="noStrike" cap="none">
              <a:solidFill>
                <a:srgbClr val="FFFFFF"/>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RECOMENDACIONES</a:t>
            </a:r>
            <a:endParaRPr sz="1400" b="0" i="0" u="none" strike="noStrike" cap="none">
              <a:solidFill>
                <a:srgbClr val="FFFFFF"/>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3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a:spLocks noGrp="1"/>
          </p:cNvSpPr>
          <p:nvPr>
            <p:ph type="body" idx="1"/>
          </p:nvPr>
        </p:nvSpPr>
        <p:spPr>
          <a:xfrm>
            <a:off x="581200" y="1983000"/>
            <a:ext cx="8581500" cy="2149500"/>
          </a:xfrm>
          <a:prstGeom prst="rect">
            <a:avLst/>
          </a:prstGeom>
          <a:noFill/>
          <a:ln>
            <a:noFill/>
          </a:ln>
        </p:spPr>
        <p:txBody>
          <a:bodyPr spcFirstLastPara="1" wrap="square" lIns="91425" tIns="45700" rIns="91425" bIns="45700" anchor="ctr" anchorCtr="0">
            <a:normAutofit/>
          </a:bodyPr>
          <a:lstStyle/>
          <a:p>
            <a:pPr marL="0" lvl="0" indent="0" algn="l" rtl="0">
              <a:lnSpc>
                <a:spcPct val="115000"/>
              </a:lnSpc>
              <a:spcBef>
                <a:spcPts val="1200"/>
              </a:spcBef>
              <a:spcAft>
                <a:spcPts val="0"/>
              </a:spcAft>
              <a:buClr>
                <a:schemeClr val="dk1"/>
              </a:buClr>
              <a:buSzPts val="1100"/>
              <a:buFont typeface="Arial"/>
              <a:buNone/>
            </a:pPr>
            <a:r>
              <a:rPr lang="es-ES" b="1" dirty="0">
                <a:latin typeface="Cambria"/>
                <a:ea typeface="Cambria"/>
                <a:cs typeface="Cambria"/>
                <a:sym typeface="Cambria"/>
              </a:rPr>
              <a:t>1.3 	CREACIÓN DEL PROYECTO CLIENTE CONSOLA</a:t>
            </a:r>
            <a:endParaRPr b="1" dirty="0">
              <a:latin typeface="Cambria"/>
              <a:ea typeface="Cambria"/>
              <a:cs typeface="Cambria"/>
              <a:sym typeface="Cambria"/>
            </a:endParaRPr>
          </a:p>
          <a:p>
            <a:pPr marL="0" lvl="0" indent="0" algn="l" rtl="0">
              <a:lnSpc>
                <a:spcPct val="115000"/>
              </a:lnSpc>
              <a:spcBef>
                <a:spcPts val="1200"/>
              </a:spcBef>
              <a:spcAft>
                <a:spcPts val="0"/>
              </a:spcAft>
              <a:buClr>
                <a:schemeClr val="dk1"/>
              </a:buClr>
              <a:buSzPts val="1100"/>
              <a:buFont typeface="Arial"/>
              <a:buNone/>
            </a:pPr>
            <a:endParaRPr sz="1564" b="1" dirty="0">
              <a:latin typeface="Cambria"/>
              <a:ea typeface="Cambria"/>
              <a:cs typeface="Cambria"/>
              <a:sym typeface="Cambria"/>
            </a:endParaRPr>
          </a:p>
          <a:p>
            <a:pPr marL="457200" lvl="0" indent="-327914" algn="l" rtl="0">
              <a:lnSpc>
                <a:spcPct val="115000"/>
              </a:lnSpc>
              <a:spcBef>
                <a:spcPts val="0"/>
              </a:spcBef>
              <a:spcAft>
                <a:spcPts val="0"/>
              </a:spcAft>
              <a:buSzPts val="1564"/>
              <a:buFont typeface="Arial" panose="020B0604020202020204" pitchFamily="34" charset="0"/>
              <a:buChar char="•"/>
            </a:pPr>
            <a:r>
              <a:rPr lang="es-ES" dirty="0">
                <a:latin typeface="Cambria"/>
                <a:ea typeface="Cambria"/>
                <a:cs typeface="Cambria"/>
                <a:sym typeface="Cambria"/>
              </a:rPr>
              <a:t>Una vez que se creó el proyecto se debe generar los diferentes paquetes, donde se colocarán los archivos con código fuente.</a:t>
            </a:r>
            <a:endParaRPr dirty="0">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dirty="0">
              <a:latin typeface="Cambria"/>
              <a:ea typeface="Cambria"/>
              <a:cs typeface="Cambria"/>
              <a:sym typeface="Cambria"/>
            </a:endParaRPr>
          </a:p>
        </p:txBody>
      </p:sp>
      <p:pic>
        <p:nvPicPr>
          <p:cNvPr id="3" name="Captura GR04">
            <a:extLst>
              <a:ext uri="{FF2B5EF4-FFF2-40B4-BE49-F238E27FC236}">
                <a16:creationId xmlns:a16="http://schemas.microsoft.com/office/drawing/2014/main" id="{67DDA39D-235F-43F5-51D6-620A4EA2D278}"/>
              </a:ext>
            </a:extLst>
          </p:cNvPr>
          <p:cNvPicPr>
            <a:picLocks/>
          </p:cNvPicPr>
          <p:nvPr/>
        </p:nvPicPr>
        <p:blipFill>
          <a:blip r:embed="rId3"/>
          <a:stretch>
            <a:fillRect/>
          </a:stretch>
        </p:blipFill>
        <p:spPr>
          <a:xfrm>
            <a:off x="3146855" y="3950625"/>
            <a:ext cx="2787364" cy="2409825"/>
          </a:xfrm>
          <a:prstGeom prst="rect">
            <a:avLst/>
          </a:prstGeom>
        </p:spPr>
      </p:pic>
    </p:spTree>
    <p:extLst>
      <p:ext uri="{BB962C8B-B14F-4D97-AF65-F5344CB8AC3E}">
        <p14:creationId xmlns:p14="http://schemas.microsoft.com/office/powerpoint/2010/main" val="774713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a:spLocks noGrp="1"/>
          </p:cNvSpPr>
          <p:nvPr>
            <p:ph type="body" idx="1"/>
          </p:nvPr>
        </p:nvSpPr>
        <p:spPr>
          <a:xfrm>
            <a:off x="654027" y="2649960"/>
            <a:ext cx="2132400" cy="3273936"/>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21" name="Google Shape;321;p40"/>
          <p:cNvGraphicFramePr/>
          <p:nvPr>
            <p:extLst>
              <p:ext uri="{D42A27DB-BD31-4B8C-83A1-F6EECF244321}">
                <p14:modId xmlns:p14="http://schemas.microsoft.com/office/powerpoint/2010/main" val="2277548880"/>
              </p:ext>
            </p:extLst>
          </p:nvPr>
        </p:nvGraphicFramePr>
        <p:xfrm>
          <a:off x="2964625" y="1876275"/>
          <a:ext cx="6062675" cy="471424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using ec.edu.monster.controlador;</a:t>
                      </a:r>
                    </a:p>
                    <a:p>
                      <a:pPr marL="0" lvl="0" indent="0" algn="l" rtl="0">
                        <a:spcBef>
                          <a:spcPts val="0"/>
                        </a:spcBef>
                        <a:spcAft>
                          <a:spcPts val="0"/>
                        </a:spcAft>
                        <a:buClr>
                          <a:schemeClr val="dk1"/>
                        </a:buClr>
                        <a:buSzPts val="1100"/>
                        <a:buFont typeface="Arial"/>
                        <a:buNone/>
                      </a:pPr>
                      <a:endParaRPr lang="es-ES" sz="7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namespace ec.edu.monster</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internal class Program</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static void Main(string[] args)</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ConsolaControlador controlador = new ConsolaControlador();</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controlador.Iniciar();</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endParaRPr lang="es-ES" sz="7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public class AppControlador</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private readonly ConversorService service = new ConversorService();</a:t>
                      </a:r>
                    </a:p>
                    <a:p>
                      <a:pPr marL="0" lvl="0" indent="0" algn="l" rtl="0">
                        <a:spcBef>
                          <a:spcPts val="0"/>
                        </a:spcBef>
                        <a:spcAft>
                          <a:spcPts val="0"/>
                        </a:spcAft>
                        <a:buClr>
                          <a:schemeClr val="dk1"/>
                        </a:buClr>
                        <a:buSzPts val="1100"/>
                        <a:buFont typeface="Arial"/>
                        <a:buNone/>
                      </a:pPr>
                      <a:endParaRPr lang="es-ES" sz="7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public string Login(string usuario, string contrasenia)</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return service.Login(usuario, contrasenia);</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7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public double ConvertirLongitud(double n1, string unidadInicial, string unidadFinal)</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return service.ConvertirLongitud(n1, unidadInicial, unidadFinal);</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7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public double ConvertirLogintud(double n1, string unidadInicial, string unidadFinal)</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return ConvertirLongitud(n1, unidadInicial, unidadFinal);</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7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public double ConvertirMasa(double n1, string unidadInicial, string unidadFinal)</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return service.ConvertirMasa(n1, unidadInicial, unidadFinal);</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70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public double ConvertirTemperatura(double n1, string unidadInicial, string unidadFinal)</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return service.ConvertirTemperatura(n1, unidadInicial, unidadFinal);</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700">
                          <a:solidFill>
                            <a:srgbClr val="4F81BD"/>
                          </a:solidFill>
                          <a:latin typeface="Calibri"/>
                          <a:ea typeface="Calibri"/>
                          <a:cs typeface="Calibri"/>
                          <a:sym typeface="Calibri"/>
                        </a:rPr>
                        <a:t>    }</a:t>
                      </a:r>
                      <a:endParaRPr sz="7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954145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28" name="Google Shape;328;p4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29" name="Google Shape;329;p41"/>
          <p:cNvGraphicFramePr/>
          <p:nvPr>
            <p:extLst>
              <p:ext uri="{D42A27DB-BD31-4B8C-83A1-F6EECF244321}">
                <p14:modId xmlns:p14="http://schemas.microsoft.com/office/powerpoint/2010/main" val="4016604404"/>
              </p:ext>
            </p:extLst>
          </p:nvPr>
        </p:nvGraphicFramePr>
        <p:xfrm>
          <a:off x="2964625" y="1876275"/>
          <a:ext cx="6062675" cy="46609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850">
                          <a:solidFill>
                            <a:srgbClr val="4F81BD"/>
                          </a:solidFill>
                          <a:latin typeface="Calibri"/>
                          <a:ea typeface="Calibri"/>
                          <a:cs typeface="Calibri"/>
                          <a:sym typeface="Calibri"/>
                        </a:rPr>
                        <a:t>        public void Iniciar()</a:t>
                      </a:r>
                    </a:p>
                    <a:p>
                      <a:pPr marL="0" lvl="0" indent="0" algn="l" rtl="0">
                        <a:spcBef>
                          <a:spcPts val="0"/>
                        </a:spcBef>
                        <a:spcAft>
                          <a:spcPts val="0"/>
                        </a:spcAft>
                        <a:buNone/>
                      </a:pPr>
                      <a:r>
                        <a:rPr lang="es-ES" sz="850">
                          <a:solidFill>
                            <a:srgbClr val="4F81BD"/>
                          </a:solidFill>
                          <a:latin typeface="Calibri"/>
                          <a:ea typeface="Calibri"/>
                          <a:cs typeface="Calibri"/>
                          <a:sym typeface="Calibri"/>
                        </a:rPr>
                        <a:t>        {</a:t>
                      </a:r>
                    </a:p>
                    <a:p>
                      <a:pPr marL="0" lvl="0" indent="0" algn="l" rtl="0">
                        <a:spcBef>
                          <a:spcPts val="0"/>
                        </a:spcBef>
                        <a:spcAft>
                          <a:spcPts val="0"/>
                        </a:spcAft>
                        <a:buNone/>
                      </a:pPr>
                      <a:r>
                        <a:rPr lang="es-ES" sz="850">
                          <a:solidFill>
                            <a:srgbClr val="4F81BD"/>
                          </a:solidFill>
                          <a:latin typeface="Calibri"/>
                          <a:ea typeface="Calibri"/>
                          <a:cs typeface="Calibri"/>
                          <a:sym typeface="Calibri"/>
                        </a:rPr>
                        <a:t>            vista.MostrarBanner();</a:t>
                      </a:r>
                    </a:p>
                    <a:p>
                      <a:pPr marL="0" lvl="0" indent="0" algn="l" rtl="0">
                        <a:spcBef>
                          <a:spcPts val="0"/>
                        </a:spcBef>
                        <a:spcAft>
                          <a:spcPts val="0"/>
                        </a:spcAft>
                        <a:buNone/>
                      </a:pPr>
                      <a:endParaRPr lang="es-ES" sz="850">
                        <a:solidFill>
                          <a:srgbClr val="4F81BD"/>
                        </a:solidFill>
                        <a:latin typeface="Calibri"/>
                        <a:ea typeface="Calibri"/>
                        <a:cs typeface="Calibri"/>
                        <a:sym typeface="Calibri"/>
                      </a:endParaRPr>
                    </a:p>
                    <a:p>
                      <a:pPr marL="0" lvl="0" indent="0" algn="l" rtl="0">
                        <a:spcBef>
                          <a:spcPts val="0"/>
                        </a:spcBef>
                        <a:spcAft>
                          <a:spcPts val="0"/>
                        </a:spcAft>
                        <a:buNone/>
                      </a:pPr>
                      <a:r>
                        <a:rPr lang="es-ES" sz="850">
                          <a:solidFill>
                            <a:srgbClr val="4F81BD"/>
                          </a:solidFill>
                          <a:latin typeface="Calibri"/>
                          <a:ea typeface="Calibri"/>
                          <a:cs typeface="Calibri"/>
                          <a:sym typeface="Calibri"/>
                        </a:rPr>
                        <a:t>            if (!RealizarLogin())</a:t>
                      </a:r>
                    </a:p>
                    <a:p>
                      <a:pPr marL="0" lvl="0" indent="0" algn="l" rtl="0">
                        <a:spcBef>
                          <a:spcPts val="0"/>
                        </a:spcBef>
                        <a:spcAft>
                          <a:spcPts val="0"/>
                        </a:spcAft>
                        <a:buNone/>
                      </a:pPr>
                      <a:r>
                        <a:rPr lang="es-ES" sz="850">
                          <a:solidFill>
                            <a:srgbClr val="4F81BD"/>
                          </a:solidFill>
                          <a:latin typeface="Calibri"/>
                          <a:ea typeface="Calibri"/>
                          <a:cs typeface="Calibri"/>
                          <a:sym typeface="Calibri"/>
                        </a:rPr>
                        <a:t>            {</a:t>
                      </a:r>
                    </a:p>
                    <a:p>
                      <a:pPr marL="0" lvl="0" indent="0" algn="l" rtl="0">
                        <a:spcBef>
                          <a:spcPts val="0"/>
                        </a:spcBef>
                        <a:spcAft>
                          <a:spcPts val="0"/>
                        </a:spcAft>
                        <a:buNone/>
                      </a:pPr>
                      <a:r>
                        <a:rPr lang="es-ES" sz="850">
                          <a:solidFill>
                            <a:srgbClr val="4F81BD"/>
                          </a:solidFill>
                          <a:latin typeface="Calibri"/>
                          <a:ea typeface="Calibri"/>
                          <a:cs typeface="Calibri"/>
                          <a:sym typeface="Calibri"/>
                        </a:rPr>
                        <a:t>                vista.MostrarMensaje("Acceso cancelado. Finalizando programa.");</a:t>
                      </a:r>
                    </a:p>
                    <a:p>
                      <a:pPr marL="0" lvl="0" indent="0" algn="l" rtl="0">
                        <a:spcBef>
                          <a:spcPts val="0"/>
                        </a:spcBef>
                        <a:spcAft>
                          <a:spcPts val="0"/>
                        </a:spcAft>
                        <a:buNone/>
                      </a:pPr>
                      <a:r>
                        <a:rPr lang="es-ES" sz="850">
                          <a:solidFill>
                            <a:srgbClr val="4F81BD"/>
                          </a:solidFill>
                          <a:latin typeface="Calibri"/>
                          <a:ea typeface="Calibri"/>
                          <a:cs typeface="Calibri"/>
                          <a:sym typeface="Calibri"/>
                        </a:rPr>
                        <a:t>                return;</a:t>
                      </a:r>
                    </a:p>
                    <a:p>
                      <a:pPr marL="0" lvl="0" indent="0" algn="l" rtl="0">
                        <a:spcBef>
                          <a:spcPts val="0"/>
                        </a:spcBef>
                        <a:spcAft>
                          <a:spcPts val="0"/>
                        </a:spcAft>
                        <a:buNone/>
                      </a:pPr>
                      <a:r>
                        <a:rPr lang="es-ES" sz="850">
                          <a:solidFill>
                            <a:srgbClr val="4F81BD"/>
                          </a:solidFill>
                          <a:latin typeface="Calibri"/>
                          <a:ea typeface="Calibri"/>
                          <a:cs typeface="Calibri"/>
                          <a:sym typeface="Calibri"/>
                        </a:rPr>
                        <a:t>            }</a:t>
                      </a:r>
                    </a:p>
                    <a:p>
                      <a:pPr marL="0" lvl="0" indent="0" algn="l" rtl="0">
                        <a:spcBef>
                          <a:spcPts val="0"/>
                        </a:spcBef>
                        <a:spcAft>
                          <a:spcPts val="0"/>
                        </a:spcAft>
                        <a:buNone/>
                      </a:pPr>
                      <a:endParaRPr lang="es-ES" sz="850">
                        <a:solidFill>
                          <a:srgbClr val="4F81BD"/>
                        </a:solidFill>
                        <a:latin typeface="Calibri"/>
                        <a:ea typeface="Calibri"/>
                        <a:cs typeface="Calibri"/>
                        <a:sym typeface="Calibri"/>
                      </a:endParaRPr>
                    </a:p>
                    <a:p>
                      <a:pPr marL="0" lvl="0" indent="0" algn="l" rtl="0">
                        <a:spcBef>
                          <a:spcPts val="0"/>
                        </a:spcBef>
                        <a:spcAft>
                          <a:spcPts val="0"/>
                        </a:spcAft>
                        <a:buNone/>
                      </a:pPr>
                      <a:r>
                        <a:rPr lang="es-ES" sz="850">
                          <a:solidFill>
                            <a:srgbClr val="4F81BD"/>
                          </a:solidFill>
                          <a:latin typeface="Calibri"/>
                          <a:ea typeface="Calibri"/>
                          <a:cs typeface="Calibri"/>
                          <a:sym typeface="Calibri"/>
                        </a:rPr>
                        <a:t>            BucleMenuPrincipal();</a:t>
                      </a:r>
                    </a:p>
                    <a:p>
                      <a:pPr marL="0" lvl="0" indent="0" algn="l" rtl="0">
                        <a:spcBef>
                          <a:spcPts val="0"/>
                        </a:spcBef>
                        <a:spcAft>
                          <a:spcPts val="0"/>
                        </a:spcAft>
                        <a:buNone/>
                      </a:pPr>
                      <a:r>
                        <a:rPr lang="es-ES" sz="850">
                          <a:solidFill>
                            <a:srgbClr val="4F81BD"/>
                          </a:solidFill>
                          <a:latin typeface="Calibri"/>
                          <a:ea typeface="Calibri"/>
                          <a:cs typeface="Calibri"/>
                          <a:sym typeface="Calibri"/>
                        </a:rPr>
                        <a:t>        }</a:t>
                      </a:r>
                    </a:p>
                    <a:p>
                      <a:pPr marL="0" lvl="0" indent="0" algn="l" rtl="0">
                        <a:spcBef>
                          <a:spcPts val="0"/>
                        </a:spcBef>
                        <a:spcAft>
                          <a:spcPts val="0"/>
                        </a:spcAft>
                        <a:buNone/>
                      </a:pPr>
                      <a:endParaRPr lang="es-ES" sz="850">
                        <a:solidFill>
                          <a:srgbClr val="4F81BD"/>
                        </a:solidFill>
                        <a:latin typeface="Calibri"/>
                        <a:ea typeface="Calibri"/>
                        <a:cs typeface="Calibri"/>
                        <a:sym typeface="Calibri"/>
                      </a:endParaRPr>
                    </a:p>
                    <a:p>
                      <a:pPr marL="0" lvl="0" indent="0" algn="l" rtl="0">
                        <a:spcBef>
                          <a:spcPts val="0"/>
                        </a:spcBef>
                        <a:spcAft>
                          <a:spcPts val="0"/>
                        </a:spcAft>
                        <a:buNone/>
                      </a:pPr>
                      <a:r>
                        <a:rPr lang="es-ES" sz="850">
                          <a:solidFill>
                            <a:srgbClr val="4F81BD"/>
                          </a:solidFill>
                          <a:latin typeface="Calibri"/>
                          <a:ea typeface="Calibri"/>
                          <a:cs typeface="Calibri"/>
                          <a:sym typeface="Calibri"/>
                        </a:rPr>
                        <a:t>        private bool RealizarLogin()</a:t>
                      </a:r>
                    </a:p>
                    <a:p>
                      <a:pPr marL="0" lvl="0" indent="0" algn="l" rtl="0">
                        <a:spcBef>
                          <a:spcPts val="0"/>
                        </a:spcBef>
                        <a:spcAft>
                          <a:spcPts val="0"/>
                        </a:spcAft>
                        <a:buNone/>
                      </a:pPr>
                      <a:r>
                        <a:rPr lang="es-ES" sz="850">
                          <a:solidFill>
                            <a:srgbClr val="4F81BD"/>
                          </a:solidFill>
                          <a:latin typeface="Calibri"/>
                          <a:ea typeface="Calibri"/>
                          <a:cs typeface="Calibri"/>
                          <a:sym typeface="Calibri"/>
                        </a:rPr>
                        <a:t>        {</a:t>
                      </a:r>
                    </a:p>
                    <a:p>
                      <a:pPr marL="0" lvl="0" indent="0" algn="l" rtl="0">
                        <a:spcBef>
                          <a:spcPts val="0"/>
                        </a:spcBef>
                        <a:spcAft>
                          <a:spcPts val="0"/>
                        </a:spcAft>
                        <a:buNone/>
                      </a:pPr>
                      <a:r>
                        <a:rPr lang="es-ES" sz="850">
                          <a:solidFill>
                            <a:srgbClr val="4F81BD"/>
                          </a:solidFill>
                          <a:latin typeface="Calibri"/>
                          <a:ea typeface="Calibri"/>
                          <a:cs typeface="Calibri"/>
                          <a:sym typeface="Calibri"/>
                        </a:rPr>
                        <a:t>            Console.WriteLine("\n--- INICIO DE SESIÓN ---");</a:t>
                      </a:r>
                    </a:p>
                    <a:p>
                      <a:pPr marL="0" lvl="0" indent="0" algn="l" rtl="0">
                        <a:spcBef>
                          <a:spcPts val="0"/>
                        </a:spcBef>
                        <a:spcAft>
                          <a:spcPts val="0"/>
                        </a:spcAft>
                        <a:buNone/>
                      </a:pPr>
                      <a:r>
                        <a:rPr lang="es-ES" sz="850">
                          <a:solidFill>
                            <a:srgbClr val="4F81BD"/>
                          </a:solidFill>
                          <a:latin typeface="Calibri"/>
                          <a:ea typeface="Calibri"/>
                          <a:cs typeface="Calibri"/>
                          <a:sym typeface="Calibri"/>
                        </a:rPr>
                        <a:t>            Console.WriteLine("(Credenciales oficiales: Monster / Monster9)");</a:t>
                      </a:r>
                    </a:p>
                    <a:p>
                      <a:pPr marL="0" lvl="0" indent="0" algn="l" rtl="0">
                        <a:spcBef>
                          <a:spcPts val="0"/>
                        </a:spcBef>
                        <a:spcAft>
                          <a:spcPts val="0"/>
                        </a:spcAft>
                        <a:buNone/>
                      </a:pPr>
                      <a:endParaRPr lang="es-ES" sz="850">
                        <a:solidFill>
                          <a:srgbClr val="4F81BD"/>
                        </a:solidFill>
                        <a:latin typeface="Calibri"/>
                        <a:ea typeface="Calibri"/>
                        <a:cs typeface="Calibri"/>
                        <a:sym typeface="Calibri"/>
                      </a:endParaRPr>
                    </a:p>
                    <a:p>
                      <a:pPr marL="0" lvl="0" indent="0" algn="l" rtl="0">
                        <a:spcBef>
                          <a:spcPts val="0"/>
                        </a:spcBef>
                        <a:spcAft>
                          <a:spcPts val="0"/>
                        </a:spcAft>
                        <a:buNone/>
                      </a:pPr>
                      <a:r>
                        <a:rPr lang="es-ES" sz="850">
                          <a:solidFill>
                            <a:srgbClr val="4F81BD"/>
                          </a:solidFill>
                          <a:latin typeface="Calibri"/>
                          <a:ea typeface="Calibri"/>
                          <a:cs typeface="Calibri"/>
                          <a:sym typeface="Calibri"/>
                        </a:rPr>
                        <a:t>            while (true)</a:t>
                      </a:r>
                    </a:p>
                    <a:p>
                      <a:pPr marL="0" lvl="0" indent="0" algn="l" rtl="0">
                        <a:spcBef>
                          <a:spcPts val="0"/>
                        </a:spcBef>
                        <a:spcAft>
                          <a:spcPts val="0"/>
                        </a:spcAft>
                        <a:buNone/>
                      </a:pPr>
                      <a:r>
                        <a:rPr lang="es-ES" sz="850">
                          <a:solidFill>
                            <a:srgbClr val="4F81BD"/>
                          </a:solidFill>
                          <a:latin typeface="Calibri"/>
                          <a:ea typeface="Calibri"/>
                          <a:cs typeface="Calibri"/>
                          <a:sym typeface="Calibri"/>
                        </a:rPr>
                        <a:t>            {</a:t>
                      </a:r>
                    </a:p>
                    <a:p>
                      <a:pPr marL="0" lvl="0" indent="0" algn="l" rtl="0">
                        <a:spcBef>
                          <a:spcPts val="0"/>
                        </a:spcBef>
                        <a:spcAft>
                          <a:spcPts val="0"/>
                        </a:spcAft>
                        <a:buNone/>
                      </a:pPr>
                      <a:r>
                        <a:rPr lang="es-ES" sz="850">
                          <a:solidFill>
                            <a:srgbClr val="4F81BD"/>
                          </a:solidFill>
                          <a:latin typeface="Calibri"/>
                          <a:ea typeface="Calibri"/>
                          <a:cs typeface="Calibri"/>
                          <a:sym typeface="Calibri"/>
                        </a:rPr>
                        <a:t>                string usuario = vista.LeerTexto("Usuario");</a:t>
                      </a:r>
                    </a:p>
                    <a:p>
                      <a:pPr marL="0" lvl="0" indent="0" algn="l" rtl="0">
                        <a:spcBef>
                          <a:spcPts val="0"/>
                        </a:spcBef>
                        <a:spcAft>
                          <a:spcPts val="0"/>
                        </a:spcAft>
                        <a:buNone/>
                      </a:pPr>
                      <a:r>
                        <a:rPr lang="es-ES" sz="850">
                          <a:solidFill>
                            <a:srgbClr val="4F81BD"/>
                          </a:solidFill>
                          <a:latin typeface="Calibri"/>
                          <a:ea typeface="Calibri"/>
                          <a:cs typeface="Calibri"/>
                          <a:sym typeface="Calibri"/>
                        </a:rPr>
                        <a:t>                string contrasenia = vista.LeerContrasenia("Contraseña");</a:t>
                      </a:r>
                    </a:p>
                    <a:p>
                      <a:pPr marL="0" lvl="0" indent="0" algn="l" rtl="0">
                        <a:spcBef>
                          <a:spcPts val="0"/>
                        </a:spcBef>
                        <a:spcAft>
                          <a:spcPts val="0"/>
                        </a:spcAft>
                        <a:buNone/>
                      </a:pPr>
                      <a:endParaRPr lang="es-ES" sz="850">
                        <a:solidFill>
                          <a:srgbClr val="4F81BD"/>
                        </a:solidFill>
                        <a:latin typeface="Calibri"/>
                        <a:ea typeface="Calibri"/>
                        <a:cs typeface="Calibri"/>
                        <a:sym typeface="Calibri"/>
                      </a:endParaRPr>
                    </a:p>
                    <a:p>
                      <a:pPr marL="0" lvl="0" indent="0" algn="l" rtl="0">
                        <a:spcBef>
                          <a:spcPts val="0"/>
                        </a:spcBef>
                        <a:spcAft>
                          <a:spcPts val="0"/>
                        </a:spcAft>
                        <a:buNone/>
                      </a:pPr>
                      <a:r>
                        <a:rPr lang="es-ES" sz="850">
                          <a:solidFill>
                            <a:srgbClr val="4F81BD"/>
                          </a:solidFill>
                          <a:latin typeface="Calibri"/>
                          <a:ea typeface="Calibri"/>
                          <a:cs typeface="Calibri"/>
                          <a:sym typeface="Calibri"/>
                        </a:rPr>
                        <a:t>                if (string.IsNullOrEmpty(usuario) || string.IsNullOrEmpty(contrasenia))</a:t>
                      </a:r>
                    </a:p>
                    <a:p>
                      <a:pPr marL="0" lvl="0" indent="0" algn="l" rtl="0">
                        <a:spcBef>
                          <a:spcPts val="0"/>
                        </a:spcBef>
                        <a:spcAft>
                          <a:spcPts val="0"/>
                        </a:spcAft>
                        <a:buNone/>
                      </a:pPr>
                      <a:r>
                        <a:rPr lang="es-ES" sz="850">
                          <a:solidFill>
                            <a:srgbClr val="4F81BD"/>
                          </a:solidFill>
                          <a:latin typeface="Calibri"/>
                          <a:ea typeface="Calibri"/>
                          <a:cs typeface="Calibri"/>
                          <a:sym typeface="Calibri"/>
                        </a:rPr>
                        <a:t>                {</a:t>
                      </a:r>
                    </a:p>
                    <a:p>
                      <a:pPr marL="0" lvl="0" indent="0" algn="l" rtl="0">
                        <a:spcBef>
                          <a:spcPts val="0"/>
                        </a:spcBef>
                        <a:spcAft>
                          <a:spcPts val="0"/>
                        </a:spcAft>
                        <a:buNone/>
                      </a:pPr>
                      <a:r>
                        <a:rPr lang="es-ES" sz="850">
                          <a:solidFill>
                            <a:srgbClr val="4F81BD"/>
                          </a:solidFill>
                          <a:latin typeface="Calibri"/>
                          <a:ea typeface="Calibri"/>
                          <a:cs typeface="Calibri"/>
                          <a:sym typeface="Calibri"/>
                        </a:rPr>
                        <a:t>                    vista.MostrarMensaje("Por favor complete todos los campos.");</a:t>
                      </a:r>
                    </a:p>
                    <a:p>
                      <a:pPr marL="0" lvl="0" indent="0" algn="l" rtl="0">
                        <a:spcBef>
                          <a:spcPts val="0"/>
                        </a:spcBef>
                        <a:spcAft>
                          <a:spcPts val="0"/>
                        </a:spcAft>
                        <a:buNone/>
                      </a:pPr>
                      <a:r>
                        <a:rPr lang="es-ES" sz="850">
                          <a:solidFill>
                            <a:srgbClr val="4F81BD"/>
                          </a:solidFill>
                          <a:latin typeface="Calibri"/>
                          <a:ea typeface="Calibri"/>
                          <a:cs typeface="Calibri"/>
                          <a:sym typeface="Calibri"/>
                        </a:rPr>
                        <a:t>                    continue;</a:t>
                      </a:r>
                    </a:p>
                    <a:p>
                      <a:pPr marL="0" lvl="0" indent="0" algn="l" rtl="0">
                        <a:spcBef>
                          <a:spcPts val="0"/>
                        </a:spcBef>
                        <a:spcAft>
                          <a:spcPts val="0"/>
                        </a:spcAft>
                        <a:buNone/>
                      </a:pPr>
                      <a:r>
                        <a:rPr lang="es-ES" sz="850">
                          <a:solidFill>
                            <a:srgbClr val="4F81BD"/>
                          </a:solidFill>
                          <a:latin typeface="Calibri"/>
                          <a:ea typeface="Calibri"/>
                          <a:cs typeface="Calibri"/>
                          <a:sym typeface="Calibri"/>
                        </a:rPr>
                        <a:t>                }</a:t>
                      </a:r>
                    </a:p>
                    <a:p>
                      <a:pPr marL="0" lvl="0" indent="0" algn="l" rtl="0">
                        <a:spcBef>
                          <a:spcPts val="0"/>
                        </a:spcBef>
                        <a:spcAft>
                          <a:spcPts val="0"/>
                        </a:spcAft>
                        <a:buNone/>
                      </a:pPr>
                      <a:endParaRPr lang="es-ES" sz="850">
                        <a:solidFill>
                          <a:srgbClr val="4F81BD"/>
                        </a:solidFill>
                        <a:latin typeface="Calibri"/>
                        <a:ea typeface="Calibri"/>
                        <a:cs typeface="Calibri"/>
                        <a:sym typeface="Calibri"/>
                      </a:endParaRPr>
                    </a:p>
                    <a:p>
                      <a:pPr marL="0" lvl="0" indent="0" algn="l" rtl="0">
                        <a:spcBef>
                          <a:spcPts val="0"/>
                        </a:spcBef>
                        <a:spcAft>
                          <a:spcPts val="0"/>
                        </a:spcAft>
                        <a:buNone/>
                      </a:pPr>
                      <a:r>
                        <a:rPr lang="es-ES" sz="850">
                          <a:solidFill>
                            <a:srgbClr val="4F81BD"/>
                          </a:solidFill>
                          <a:latin typeface="Calibri"/>
                          <a:ea typeface="Calibri"/>
                          <a:cs typeface="Calibri"/>
                          <a:sym typeface="Calibri"/>
                        </a:rPr>
                        <a:t>                try</a:t>
                      </a:r>
                    </a:p>
                    <a:p>
                      <a:pPr marL="0" lvl="0" indent="0" algn="l" rtl="0">
                        <a:spcBef>
                          <a:spcPts val="0"/>
                        </a:spcBef>
                        <a:spcAft>
                          <a:spcPts val="0"/>
                        </a:spcAft>
                        <a:buNone/>
                      </a:pPr>
                      <a:r>
                        <a:rPr lang="es-ES" sz="850">
                          <a:solidFill>
                            <a:srgbClr val="4F81BD"/>
                          </a:solidFill>
                          <a:latin typeface="Calibri"/>
                          <a:ea typeface="Calibri"/>
                          <a:cs typeface="Calibri"/>
                          <a:sym typeface="Calibri"/>
                        </a:rPr>
                        <a:t>                {</a:t>
                      </a:r>
                    </a:p>
                    <a:p>
                      <a:pPr marL="0" lvl="0" indent="0" algn="l" rtl="0">
                        <a:spcBef>
                          <a:spcPts val="0"/>
                        </a:spcBef>
                        <a:spcAft>
                          <a:spcPts val="0"/>
                        </a:spcAft>
                        <a:buNone/>
                      </a:pPr>
                      <a:r>
                        <a:rPr lang="es-ES" sz="850">
                          <a:solidFill>
                            <a:srgbClr val="4F81BD"/>
                          </a:solidFill>
                          <a:latin typeface="Calibri"/>
                          <a:ea typeface="Calibri"/>
                          <a:cs typeface="Calibri"/>
                          <a:sym typeface="Calibri"/>
                        </a:rPr>
                        <a:t>                    string? token = appControlador.Login(usuario, contrasenia);</a:t>
                      </a:r>
                    </a:p>
                    <a:p>
                      <a:pPr marL="0" lvl="0" indent="0" algn="l" rtl="0">
                        <a:spcBef>
                          <a:spcPts val="0"/>
                        </a:spcBef>
                        <a:spcAft>
                          <a:spcPts val="0"/>
                        </a:spcAft>
                        <a:buNone/>
                      </a:pPr>
                      <a:r>
                        <a:rPr lang="es-ES" sz="850">
                          <a:solidFill>
                            <a:srgbClr val="4F81BD"/>
                          </a:solidFill>
                          <a:latin typeface="Calibri"/>
                          <a:ea typeface="Calibri"/>
                          <a:cs typeface="Calibri"/>
                          <a:sym typeface="Calibri"/>
                        </a:rPr>
                        <a:t>                    if (!string.IsNullOrWhiteSpace(token))</a:t>
                      </a:r>
                    </a:p>
                    <a:p>
                      <a:pPr marL="0" lvl="0" indent="0" algn="l" rtl="0">
                        <a:spcBef>
                          <a:spcPts val="0"/>
                        </a:spcBef>
                        <a:spcAft>
                          <a:spcPts val="0"/>
                        </a:spcAft>
                        <a:buNone/>
                      </a:pPr>
                      <a:r>
                        <a:rPr lang="es-ES" sz="850">
                          <a:solidFill>
                            <a:srgbClr val="4F81BD"/>
                          </a:solidFill>
                          <a:latin typeface="Calibri"/>
                          <a:ea typeface="Calibri"/>
                          <a:cs typeface="Calibri"/>
                          <a:sym typeface="Calibri"/>
                        </a:rPr>
                        <a:t>                    {</a:t>
                      </a:r>
                    </a:p>
                    <a:p>
                      <a:pPr marL="0" lvl="0" indent="0" algn="l" rtl="0">
                        <a:spcBef>
                          <a:spcPts val="0"/>
                        </a:spcBef>
                        <a:spcAft>
                          <a:spcPts val="0"/>
                        </a:spcAft>
                        <a:buNone/>
                      </a:pPr>
                      <a:r>
                        <a:rPr lang="es-ES" sz="850">
                          <a:solidFill>
                            <a:srgbClr val="4F81BD"/>
                          </a:solidFill>
                          <a:latin typeface="Calibri"/>
                          <a:ea typeface="Calibri"/>
                          <a:cs typeface="Calibri"/>
                          <a:sym typeface="Calibri"/>
                        </a:rPr>
                        <a:t>    // ...</a:t>
                      </a:r>
                      <a:endParaRPr sz="85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CED6D113-E7F7-1B95-5A12-613040811DF1}"/>
              </a:ext>
            </a:extLst>
          </p:cNvPr>
          <p:cNvSpPr txBox="1">
            <a:spLocks noGrp="1"/>
          </p:cNvSpPr>
          <p:nvPr>
            <p:ph type="body" idx="1"/>
          </p:nvPr>
        </p:nvSpPr>
        <p:spPr>
          <a:xfrm>
            <a:off x="654027" y="2649960"/>
            <a:ext cx="2132400" cy="3273936"/>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extLst>
      <p:ext uri="{BB962C8B-B14F-4D97-AF65-F5344CB8AC3E}">
        <p14:creationId xmlns:p14="http://schemas.microsoft.com/office/powerpoint/2010/main" val="4286851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36" name="Google Shape;336;p4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37" name="Google Shape;337;p42"/>
          <p:cNvGraphicFramePr/>
          <p:nvPr>
            <p:extLst>
              <p:ext uri="{D42A27DB-BD31-4B8C-83A1-F6EECF244321}">
                <p14:modId xmlns:p14="http://schemas.microsoft.com/office/powerpoint/2010/main" val="906990947"/>
              </p:ext>
            </p:extLst>
          </p:nvPr>
        </p:nvGraphicFramePr>
        <p:xfrm>
          <a:off x="3271558" y="2064657"/>
          <a:ext cx="5439425" cy="4241800"/>
        </p:xfrm>
        <a:graphic>
          <a:graphicData uri="http://schemas.openxmlformats.org/drawingml/2006/table">
            <a:tbl>
              <a:tblPr>
                <a:noFill/>
                <a:tableStyleId>{BF136021-7255-42B7-A7E7-87A8D8FFE9CA}</a:tableStyleId>
              </a:tblPr>
              <a:tblGrid>
                <a:gridCol w="5439425">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void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BucleMenuPrincipal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bool</a:t>
                      </a:r>
                      <a:r>
                        <a:rPr lang="es-ES" sz="1000" dirty="0">
                          <a:solidFill>
                            <a:srgbClr val="4F81BD"/>
                          </a:solidFill>
                          <a:latin typeface="Calibri"/>
                          <a:ea typeface="Calibri"/>
                          <a:cs typeface="Calibri"/>
                          <a:sym typeface="Calibri"/>
                        </a:rPr>
                        <a:t> continuar = true;</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while</a:t>
                      </a:r>
                      <a:r>
                        <a:rPr lang="es-ES" sz="1000" dirty="0">
                          <a:solidFill>
                            <a:srgbClr val="4F81BD"/>
                          </a:solidFill>
                          <a:latin typeface="Calibri"/>
                          <a:ea typeface="Calibri"/>
                          <a:cs typeface="Calibri"/>
                          <a:sym typeface="Calibri"/>
                        </a:rPr>
                        <a:t> (continuar)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vista.MostrarMenuPrincipal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opcion</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vista.LeerEntero</a:t>
                      </a:r>
                      <a:r>
                        <a:rPr lang="es-ES" sz="1000" dirty="0">
                          <a:solidFill>
                            <a:srgbClr val="4F81BD"/>
                          </a:solidFill>
                          <a:latin typeface="Calibri"/>
                          <a:ea typeface="Calibri"/>
                          <a:cs typeface="Calibri"/>
                          <a:sym typeface="Calibri"/>
                        </a:rPr>
                        <a:t>("Seleccione una opción", 1, 4);</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switch (</a:t>
                      </a:r>
                      <a:r>
                        <a:rPr lang="es-ES" sz="1000" dirty="0" err="1">
                          <a:solidFill>
                            <a:srgbClr val="4F81BD"/>
                          </a:solidFill>
                          <a:latin typeface="Calibri"/>
                          <a:ea typeface="Calibri"/>
                          <a:cs typeface="Calibri"/>
                          <a:sym typeface="Calibri"/>
                        </a:rPr>
                        <a:t>opcion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1:</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ProcesarLongitud</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break;</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2:</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ProcesarMasa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break;</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3:</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ProcesarTemperatura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break;</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case 4:</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continuar = false;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vista.MostrarMensaje</a:t>
                      </a:r>
                      <a:r>
                        <a:rPr lang="es-ES" sz="1000" dirty="0">
                          <a:solidFill>
                            <a:srgbClr val="4F81BD"/>
                          </a:solidFill>
                          <a:latin typeface="Calibri"/>
                          <a:ea typeface="Calibri"/>
                          <a:cs typeface="Calibri"/>
                          <a:sym typeface="Calibri"/>
                        </a:rPr>
                        <a:t>("¡Gracias por utilizar el WS Conversor </a:t>
                      </a:r>
                      <a:r>
                        <a:rPr lang="es-ES" sz="1000" dirty="0" err="1">
                          <a:solidFill>
                            <a:srgbClr val="4F81BD"/>
                          </a:solidFill>
                          <a:latin typeface="Calibri"/>
                          <a:ea typeface="Calibri"/>
                          <a:cs typeface="Calibri"/>
                          <a:sym typeface="Calibri"/>
                        </a:rPr>
                        <a:t>RESTful</a:t>
                      </a:r>
                      <a:r>
                        <a:rPr lang="es-ES" sz="1000" dirty="0">
                          <a:solidFill>
                            <a:srgbClr val="4F81BD"/>
                          </a:solidFill>
                          <a:latin typeface="Calibri"/>
                          <a:ea typeface="Calibri"/>
                          <a:cs typeface="Calibri"/>
                          <a:sym typeface="Calibri"/>
                        </a:rPr>
                        <a:t>! Hasta luego.");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break;</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6F07936C-4027-0402-CDFB-35604FBDE807}"/>
              </a:ext>
            </a:extLst>
          </p:cNvPr>
          <p:cNvSpPr txBox="1">
            <a:spLocks/>
          </p:cNvSpPr>
          <p:nvPr/>
        </p:nvSpPr>
        <p:spPr>
          <a:xfrm>
            <a:off x="654027" y="2649960"/>
            <a:ext cx="2132400" cy="3273936"/>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extLst>
      <p:ext uri="{BB962C8B-B14F-4D97-AF65-F5344CB8AC3E}">
        <p14:creationId xmlns:p14="http://schemas.microsoft.com/office/powerpoint/2010/main" val="14764247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44" name="Google Shape;344;p4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345" name="Google Shape;345;p43"/>
          <p:cNvGraphicFramePr/>
          <p:nvPr>
            <p:extLst>
              <p:ext uri="{D42A27DB-BD31-4B8C-83A1-F6EECF244321}">
                <p14:modId xmlns:p14="http://schemas.microsoft.com/office/powerpoint/2010/main" val="1500577820"/>
              </p:ext>
            </p:extLst>
          </p:nvPr>
        </p:nvGraphicFramePr>
        <p:xfrm>
          <a:off x="2043325" y="2041263"/>
          <a:ext cx="3522650" cy="448564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650" dirty="0" err="1">
                          <a:solidFill>
                            <a:srgbClr val="4F81BD"/>
                          </a:solidFill>
                          <a:latin typeface="Calibri"/>
                          <a:ea typeface="Calibri"/>
                          <a:cs typeface="Calibri"/>
                          <a:sym typeface="Calibri"/>
                        </a:rPr>
                        <a:t>public</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class</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ConversorService</a:t>
                      </a:r>
                      <a:endParaRPr lang="es-ES" sz="650" dirty="0">
                        <a:solidFill>
                          <a:srgbClr val="4F81BD"/>
                        </a:solidFill>
                        <a:latin typeface="Calibri"/>
                        <a:ea typeface="Calibri"/>
                        <a:cs typeface="Calibri"/>
                        <a:sym typeface="Calibri"/>
                      </a:endParaRPr>
                    </a:p>
                    <a:p>
                      <a:pPr marL="0" lvl="0" indent="0" algn="l" rtl="0">
                        <a:spcBef>
                          <a:spcPts val="0"/>
                        </a:spcBef>
                        <a:spcAft>
                          <a:spcPts val="0"/>
                        </a:spcAft>
                        <a:buNone/>
                      </a:pP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private</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static</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readonly</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HttpClient</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httpClient</a:t>
                      </a:r>
                      <a:r>
                        <a:rPr lang="es-ES" sz="650" dirty="0">
                          <a:solidFill>
                            <a:srgbClr val="4F81BD"/>
                          </a:solidFill>
                          <a:latin typeface="Calibri"/>
                          <a:ea typeface="Calibri"/>
                          <a:cs typeface="Calibri"/>
                          <a:sym typeface="Calibri"/>
                        </a:rPr>
                        <a:t> = new </a:t>
                      </a:r>
                      <a:r>
                        <a:rPr lang="es-ES" sz="650" dirty="0" err="1">
                          <a:solidFill>
                            <a:srgbClr val="4F81BD"/>
                          </a:solidFill>
                          <a:latin typeface="Calibri"/>
                          <a:ea typeface="Calibri"/>
                          <a:cs typeface="Calibri"/>
                          <a:sym typeface="Calibri"/>
                        </a:rPr>
                        <a:t>HttpClient</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Timeout</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TimeSpan.FromSeconds</a:t>
                      </a:r>
                      <a:r>
                        <a:rPr lang="es-ES" sz="650" dirty="0">
                          <a:solidFill>
                            <a:srgbClr val="4F81BD"/>
                          </a:solidFill>
                          <a:latin typeface="Calibri"/>
                          <a:ea typeface="Calibri"/>
                          <a:cs typeface="Calibri"/>
                          <a:sym typeface="Calibri"/>
                        </a:rPr>
                        <a:t>(8)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public</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static</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string</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BaseUrl</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get</a:t>
                      </a:r>
                      <a:r>
                        <a:rPr lang="es-ES" sz="650" dirty="0">
                          <a:solidFill>
                            <a:srgbClr val="4F81BD"/>
                          </a:solidFill>
                          <a:latin typeface="Calibri"/>
                          <a:ea typeface="Calibri"/>
                          <a:cs typeface="Calibri"/>
                          <a:sym typeface="Calibri"/>
                        </a:rPr>
                        <a:t>; set; } = "http://localhost:63281/</a:t>
                      </a:r>
                      <a:r>
                        <a:rPr lang="es-ES" sz="650" dirty="0" err="1">
                          <a:solidFill>
                            <a:srgbClr val="4F81BD"/>
                          </a:solidFill>
                          <a:latin typeface="Calibri"/>
                          <a:ea typeface="Calibri"/>
                          <a:cs typeface="Calibri"/>
                          <a:sym typeface="Calibri"/>
                        </a:rPr>
                        <a:t>ServicioWebRest.svc</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public</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static</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string</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TokenSesion</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get</a:t>
                      </a:r>
                      <a:r>
                        <a:rPr lang="es-ES" sz="650" dirty="0">
                          <a:solidFill>
                            <a:srgbClr val="4F81BD"/>
                          </a:solidFill>
                          <a:latin typeface="Calibri"/>
                          <a:ea typeface="Calibri"/>
                          <a:cs typeface="Calibri"/>
                          <a:sym typeface="Calibri"/>
                        </a:rPr>
                        <a:t>; set;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TokenSesion</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tokenProp.GetString</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string</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url</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BaseUrl</a:t>
                      </a:r>
                      <a:r>
                        <a:rPr lang="es-ES" sz="650" dirty="0">
                          <a:solidFill>
                            <a:srgbClr val="4F81BD"/>
                          </a:solidFill>
                          <a:latin typeface="Calibri"/>
                          <a:ea typeface="Calibri"/>
                          <a:cs typeface="Calibri"/>
                          <a:sym typeface="Calibri"/>
                        </a:rPr>
                        <a:t>}/conversor/{tipo}?valor={</a:t>
                      </a:r>
                      <a:r>
                        <a:rPr lang="es-ES" sz="650" dirty="0" err="1">
                          <a:solidFill>
                            <a:srgbClr val="4F81BD"/>
                          </a:solidFill>
                          <a:latin typeface="Calibri"/>
                          <a:ea typeface="Calibri"/>
                          <a:cs typeface="Calibri"/>
                          <a:sym typeface="Calibri"/>
                        </a:rPr>
                        <a:t>vStr</a:t>
                      </a:r>
                      <a:r>
                        <a:rPr lang="es-ES" sz="650" dirty="0">
                          <a:solidFill>
                            <a:srgbClr val="4F81BD"/>
                          </a:solidFill>
                          <a:latin typeface="Calibri"/>
                          <a:ea typeface="Calibri"/>
                          <a:cs typeface="Calibri"/>
                          <a:sym typeface="Calibri"/>
                        </a:rPr>
                        <a:t>}&amp;</a:t>
                      </a:r>
                      <a:r>
                        <a:rPr lang="es-ES" sz="650" dirty="0" err="1">
                          <a:solidFill>
                            <a:srgbClr val="4F81BD"/>
                          </a:solidFill>
                          <a:latin typeface="Calibri"/>
                          <a:ea typeface="Calibri"/>
                          <a:cs typeface="Calibri"/>
                          <a:sym typeface="Calibri"/>
                        </a:rPr>
                        <a:t>unidadInicial</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Uri.EscapeDataString</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unidadInicial</a:t>
                      </a:r>
                      <a:r>
                        <a:rPr lang="es-ES" sz="650" dirty="0">
                          <a:solidFill>
                            <a:srgbClr val="4F81BD"/>
                          </a:solidFill>
                          <a:latin typeface="Calibri"/>
                          <a:ea typeface="Calibri"/>
                          <a:cs typeface="Calibri"/>
                          <a:sym typeface="Calibri"/>
                        </a:rPr>
                        <a:t>)}&amp;</a:t>
                      </a:r>
                      <a:r>
                        <a:rPr lang="es-ES" sz="650" dirty="0" err="1">
                          <a:solidFill>
                            <a:srgbClr val="4F81BD"/>
                          </a:solidFill>
                          <a:latin typeface="Calibri"/>
                          <a:ea typeface="Calibri"/>
                          <a:cs typeface="Calibri"/>
                          <a:sym typeface="Calibri"/>
                        </a:rPr>
                        <a:t>unidadFinal</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Uri.EscapeDataString</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unidadFinal</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650" dirty="0">
                        <a:solidFill>
                          <a:srgbClr val="4F81BD"/>
                        </a:solidFill>
                        <a:latin typeface="Calibri"/>
                        <a:ea typeface="Calibri"/>
                        <a:cs typeface="Calibri"/>
                        <a:sym typeface="Calibri"/>
                      </a:endParaRPr>
                    </a:p>
                    <a:p>
                      <a:pPr marL="0" lvl="0" indent="0" algn="l" rtl="0">
                        <a:spcBef>
                          <a:spcPts val="0"/>
                        </a:spcBef>
                        <a:spcAft>
                          <a:spcPts val="0"/>
                        </a:spcAft>
                        <a:buNone/>
                      </a:pPr>
                      <a:endParaRPr lang="es-ES" sz="650" dirty="0">
                        <a:solidFill>
                          <a:srgbClr val="4F81BD"/>
                        </a:solidFill>
                        <a:latin typeface="Calibri"/>
                        <a:ea typeface="Calibri"/>
                        <a:cs typeface="Calibri"/>
                        <a:sym typeface="Calibri"/>
                      </a:endParaRP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public</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async</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Task</a:t>
                      </a:r>
                      <a:r>
                        <a:rPr lang="es-ES" sz="650" dirty="0">
                          <a:solidFill>
                            <a:srgbClr val="4F81BD"/>
                          </a:solidFill>
                          <a:latin typeface="Calibri"/>
                          <a:ea typeface="Calibri"/>
                          <a:cs typeface="Calibri"/>
                          <a:sym typeface="Calibri"/>
                        </a:rPr>
                        <a:t>&lt;</a:t>
                      </a:r>
                      <a:r>
                        <a:rPr lang="es-ES" sz="650" dirty="0" err="1">
                          <a:solidFill>
                            <a:srgbClr val="4F81BD"/>
                          </a:solidFill>
                          <a:latin typeface="Calibri"/>
                          <a:ea typeface="Calibri"/>
                          <a:cs typeface="Calibri"/>
                          <a:sym typeface="Calibri"/>
                        </a:rPr>
                        <a:t>string</a:t>
                      </a:r>
                      <a:r>
                        <a:rPr lang="es-ES" sz="650" dirty="0">
                          <a:solidFill>
                            <a:srgbClr val="4F81BD"/>
                          </a:solidFill>
                          <a:latin typeface="Calibri"/>
                          <a:ea typeface="Calibri"/>
                          <a:cs typeface="Calibri"/>
                          <a:sym typeface="Calibri"/>
                        </a:rPr>
                        <a:t>&gt; </a:t>
                      </a:r>
                      <a:r>
                        <a:rPr lang="es-ES" sz="650" dirty="0" err="1">
                          <a:solidFill>
                            <a:srgbClr val="4F81BD"/>
                          </a:solidFill>
                          <a:latin typeface="Calibri"/>
                          <a:ea typeface="Calibri"/>
                          <a:cs typeface="Calibri"/>
                          <a:sym typeface="Calibri"/>
                        </a:rPr>
                        <a:t>LoginAsync</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string</a:t>
                      </a:r>
                      <a:r>
                        <a:rPr lang="es-ES" sz="650" dirty="0">
                          <a:solidFill>
                            <a:srgbClr val="4F81BD"/>
                          </a:solidFill>
                          <a:latin typeface="Calibri"/>
                          <a:ea typeface="Calibri"/>
                          <a:cs typeface="Calibri"/>
                          <a:sym typeface="Calibri"/>
                        </a:rPr>
                        <a:t> usuario, </a:t>
                      </a:r>
                      <a:r>
                        <a:rPr lang="es-ES" sz="650" dirty="0" err="1">
                          <a:solidFill>
                            <a:srgbClr val="4F81BD"/>
                          </a:solidFill>
                          <a:latin typeface="Calibri"/>
                          <a:ea typeface="Calibri"/>
                          <a:cs typeface="Calibri"/>
                          <a:sym typeface="Calibri"/>
                        </a:rPr>
                        <a:t>string</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contrasenia</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try</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var</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payload</a:t>
                      </a:r>
                      <a:r>
                        <a:rPr lang="es-ES" sz="650" dirty="0">
                          <a:solidFill>
                            <a:srgbClr val="4F81BD"/>
                          </a:solidFill>
                          <a:latin typeface="Calibri"/>
                          <a:ea typeface="Calibri"/>
                          <a:cs typeface="Calibri"/>
                          <a:sym typeface="Calibri"/>
                        </a:rPr>
                        <a:t> = new { usuario, </a:t>
                      </a:r>
                      <a:r>
                        <a:rPr lang="es-ES" sz="650" dirty="0" err="1">
                          <a:solidFill>
                            <a:srgbClr val="4F81BD"/>
                          </a:solidFill>
                          <a:latin typeface="Calibri"/>
                          <a:ea typeface="Calibri"/>
                          <a:cs typeface="Calibri"/>
                          <a:sym typeface="Calibri"/>
                        </a:rPr>
                        <a:t>contrasenia</a:t>
                      </a: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var</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json</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JsonSerializer.Serialize</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payload</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using</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var</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content</a:t>
                      </a:r>
                      <a:r>
                        <a:rPr lang="es-ES" sz="650" dirty="0">
                          <a:solidFill>
                            <a:srgbClr val="4F81BD"/>
                          </a:solidFill>
                          <a:latin typeface="Calibri"/>
                          <a:ea typeface="Calibri"/>
                          <a:cs typeface="Calibri"/>
                          <a:sym typeface="Calibri"/>
                        </a:rPr>
                        <a:t> = new </a:t>
                      </a:r>
                      <a:r>
                        <a:rPr lang="es-ES" sz="650" dirty="0" err="1">
                          <a:solidFill>
                            <a:srgbClr val="4F81BD"/>
                          </a:solidFill>
                          <a:latin typeface="Calibri"/>
                          <a:ea typeface="Calibri"/>
                          <a:cs typeface="Calibri"/>
                          <a:sym typeface="Calibri"/>
                        </a:rPr>
                        <a:t>StringContent</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json</a:t>
                      </a:r>
                      <a:r>
                        <a:rPr lang="es-ES" sz="650" dirty="0">
                          <a:solidFill>
                            <a:srgbClr val="4F81BD"/>
                          </a:solidFill>
                          <a:latin typeface="Calibri"/>
                          <a:ea typeface="Calibri"/>
                          <a:cs typeface="Calibri"/>
                          <a:sym typeface="Calibri"/>
                        </a:rPr>
                        <a:t>, Encoding.UTF8, "</a:t>
                      </a:r>
                      <a:r>
                        <a:rPr lang="es-ES" sz="650" dirty="0" err="1">
                          <a:solidFill>
                            <a:srgbClr val="4F81BD"/>
                          </a:solidFill>
                          <a:latin typeface="Calibri"/>
                          <a:ea typeface="Calibri"/>
                          <a:cs typeface="Calibri"/>
                          <a:sym typeface="Calibri"/>
                        </a:rPr>
                        <a:t>application</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json</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650" dirty="0">
                        <a:solidFill>
                          <a:srgbClr val="4F81BD"/>
                        </a:solidFill>
                        <a:latin typeface="Calibri"/>
                        <a:ea typeface="Calibri"/>
                        <a:cs typeface="Calibri"/>
                        <a:sym typeface="Calibri"/>
                      </a:endParaRP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var</a:t>
                      </a:r>
                      <a:r>
                        <a:rPr lang="es-ES" sz="650" dirty="0">
                          <a:solidFill>
                            <a:srgbClr val="4F81BD"/>
                          </a:solidFill>
                          <a:latin typeface="Calibri"/>
                          <a:ea typeface="Calibri"/>
                          <a:cs typeface="Calibri"/>
                          <a:sym typeface="Calibri"/>
                        </a:rPr>
                        <a:t> response = </a:t>
                      </a:r>
                      <a:r>
                        <a:rPr lang="es-ES" sz="650" dirty="0" err="1">
                          <a:solidFill>
                            <a:srgbClr val="4F81BD"/>
                          </a:solidFill>
                          <a:latin typeface="Calibri"/>
                          <a:ea typeface="Calibri"/>
                          <a:cs typeface="Calibri"/>
                          <a:sym typeface="Calibri"/>
                        </a:rPr>
                        <a:t>await</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httpClient.PostAsync</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BaseUrl</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auth</a:t>
                      </a:r>
                      <a:r>
                        <a:rPr lang="es-ES" sz="650" dirty="0">
                          <a:solidFill>
                            <a:srgbClr val="4F81BD"/>
                          </a:solidFill>
                          <a:latin typeface="Calibri"/>
                          <a:ea typeface="Calibri"/>
                          <a:cs typeface="Calibri"/>
                          <a:sym typeface="Calibri"/>
                        </a:rPr>
                        <a:t>/login", </a:t>
                      </a:r>
                      <a:r>
                        <a:rPr lang="es-ES" sz="650" dirty="0" err="1">
                          <a:solidFill>
                            <a:srgbClr val="4F81BD"/>
                          </a:solidFill>
                          <a:latin typeface="Calibri"/>
                          <a:ea typeface="Calibri"/>
                          <a:cs typeface="Calibri"/>
                          <a:sym typeface="Calibri"/>
                        </a:rPr>
                        <a:t>content</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ConfigureAwait</a:t>
                      </a:r>
                      <a:r>
                        <a:rPr lang="es-ES" sz="650" dirty="0">
                          <a:solidFill>
                            <a:srgbClr val="4F81BD"/>
                          </a:solidFill>
                          <a:latin typeface="Calibri"/>
                          <a:ea typeface="Calibri"/>
                          <a:cs typeface="Calibri"/>
                          <a:sym typeface="Calibri"/>
                        </a:rPr>
                        <a:t>(false);</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var</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responseBody</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await</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response.Content.ReadAsStringAsync</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ConfigureAwait</a:t>
                      </a:r>
                      <a:r>
                        <a:rPr lang="es-ES" sz="650" dirty="0">
                          <a:solidFill>
                            <a:srgbClr val="4F81BD"/>
                          </a:solidFill>
                          <a:latin typeface="Calibri"/>
                          <a:ea typeface="Calibri"/>
                          <a:cs typeface="Calibri"/>
                          <a:sym typeface="Calibri"/>
                        </a:rPr>
                        <a:t>(false);</a:t>
                      </a:r>
                    </a:p>
                    <a:p>
                      <a:pPr marL="0" lvl="0" indent="0" algn="l" rtl="0">
                        <a:spcBef>
                          <a:spcPts val="0"/>
                        </a:spcBef>
                        <a:spcAft>
                          <a:spcPts val="0"/>
                        </a:spcAft>
                        <a:buNone/>
                      </a:pPr>
                      <a:endParaRPr lang="es-ES" sz="650" dirty="0">
                        <a:solidFill>
                          <a:srgbClr val="4F81BD"/>
                        </a:solidFill>
                        <a:latin typeface="Calibri"/>
                        <a:ea typeface="Calibri"/>
                        <a:cs typeface="Calibri"/>
                        <a:sym typeface="Calibri"/>
                      </a:endParaRP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using</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var</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doc</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JsonDocument.Parse</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responseBody</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var</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root</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doc.RootElement</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650" dirty="0">
                        <a:solidFill>
                          <a:srgbClr val="4F81BD"/>
                        </a:solidFill>
                        <a:latin typeface="Calibri"/>
                        <a:ea typeface="Calibri"/>
                        <a:cs typeface="Calibri"/>
                        <a:sym typeface="Calibri"/>
                      </a:endParaRP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if</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root.TryGetProperty</a:t>
                      </a:r>
                      <a:r>
                        <a:rPr lang="es-ES" sz="650" dirty="0">
                          <a:solidFill>
                            <a:srgbClr val="4F81BD"/>
                          </a:solidFill>
                          <a:latin typeface="Calibri"/>
                          <a:ea typeface="Calibri"/>
                          <a:cs typeface="Calibri"/>
                          <a:sym typeface="Calibri"/>
                        </a:rPr>
                        <a:t>("</a:t>
                      </a:r>
                      <a:r>
                        <a:rPr lang="es-ES" sz="650" dirty="0" err="1">
                          <a:solidFill>
                            <a:srgbClr val="4F81BD"/>
                          </a:solidFill>
                          <a:latin typeface="Calibri"/>
                          <a:ea typeface="Calibri"/>
                          <a:cs typeface="Calibri"/>
                          <a:sym typeface="Calibri"/>
                        </a:rPr>
                        <a:t>exito</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out</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var</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exitoProp</a:t>
                      </a:r>
                      <a:r>
                        <a:rPr lang="es-ES" sz="650" dirty="0">
                          <a:solidFill>
                            <a:srgbClr val="4F81BD"/>
                          </a:solidFill>
                          <a:latin typeface="Calibri"/>
                          <a:ea typeface="Calibri"/>
                          <a:cs typeface="Calibri"/>
                          <a:sym typeface="Calibri"/>
                        </a:rPr>
                        <a:t>) &amp;&amp; </a:t>
                      </a:r>
                      <a:r>
                        <a:rPr lang="es-ES" sz="650" dirty="0" err="1">
                          <a:solidFill>
                            <a:srgbClr val="4F81BD"/>
                          </a:solidFill>
                          <a:latin typeface="Calibri"/>
                          <a:ea typeface="Calibri"/>
                          <a:cs typeface="Calibri"/>
                          <a:sym typeface="Calibri"/>
                        </a:rPr>
                        <a:t>exitoProp.GetBoolean</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if</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root.TryGetProperty</a:t>
                      </a:r>
                      <a:r>
                        <a:rPr lang="es-ES" sz="650" dirty="0">
                          <a:solidFill>
                            <a:srgbClr val="4F81BD"/>
                          </a:solidFill>
                          <a:latin typeface="Calibri"/>
                          <a:ea typeface="Calibri"/>
                          <a:cs typeface="Calibri"/>
                          <a:sym typeface="Calibri"/>
                        </a:rPr>
                        <a:t>("token", </a:t>
                      </a:r>
                      <a:r>
                        <a:rPr lang="es-ES" sz="650" dirty="0" err="1">
                          <a:solidFill>
                            <a:srgbClr val="4F81BD"/>
                          </a:solidFill>
                          <a:latin typeface="Calibri"/>
                          <a:ea typeface="Calibri"/>
                          <a:cs typeface="Calibri"/>
                          <a:sym typeface="Calibri"/>
                        </a:rPr>
                        <a:t>out</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var</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tokenProp</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TokenSesion</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tokenProp.GetString</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return</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TokenSesion</a:t>
                      </a:r>
                      <a:r>
                        <a:rPr lang="es-ES" sz="650" dirty="0">
                          <a:solidFill>
                            <a:srgbClr val="4F81BD"/>
                          </a:solidFill>
                          <a:latin typeface="Calibri"/>
                          <a:ea typeface="Calibri"/>
                          <a:cs typeface="Calibri"/>
                          <a:sym typeface="Calibri"/>
                        </a:rPr>
                        <a:t> ?? </a:t>
                      </a:r>
                      <a:r>
                        <a:rPr lang="es-ES" sz="650" dirty="0" err="1">
                          <a:solidFill>
                            <a:srgbClr val="4F81BD"/>
                          </a:solidFill>
                          <a:latin typeface="Calibri"/>
                          <a:ea typeface="Calibri"/>
                          <a:cs typeface="Calibri"/>
                          <a:sym typeface="Calibri"/>
                        </a:rPr>
                        <a:t>string.Empty</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650" dirty="0">
                        <a:solidFill>
                          <a:srgbClr val="4F81BD"/>
                        </a:solidFill>
                        <a:latin typeface="Calibri"/>
                        <a:ea typeface="Calibri"/>
                        <a:cs typeface="Calibri"/>
                        <a:sym typeface="Calibri"/>
                      </a:endParaRP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return</a:t>
                      </a: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null</a:t>
                      </a:r>
                      <a:r>
                        <a:rPr lang="es-ES" sz="650" dirty="0">
                          <a:solidFill>
                            <a:srgbClr val="4F81BD"/>
                          </a:solidFill>
                          <a:latin typeface="Calibri"/>
                          <a:ea typeface="Calibri"/>
                          <a:cs typeface="Calibri"/>
                          <a:sym typeface="Calibri"/>
                        </a:rPr>
                        <a:t>;</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catch (</a:t>
                      </a:r>
                      <a:r>
                        <a:rPr lang="es-ES" sz="650" dirty="0" err="1">
                          <a:solidFill>
                            <a:srgbClr val="4F81BD"/>
                          </a:solidFill>
                          <a:latin typeface="Calibri"/>
                          <a:ea typeface="Calibri"/>
                          <a:cs typeface="Calibri"/>
                          <a:sym typeface="Calibri"/>
                        </a:rPr>
                        <a:t>Exception</a:t>
                      </a:r>
                      <a:r>
                        <a:rPr lang="es-ES" sz="650" dirty="0">
                          <a:solidFill>
                            <a:srgbClr val="4F81BD"/>
                          </a:solidFill>
                          <a:latin typeface="Calibri"/>
                          <a:ea typeface="Calibri"/>
                          <a:cs typeface="Calibri"/>
                          <a:sym typeface="Calibri"/>
                        </a:rPr>
                        <a:t> ex)</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r>
                        <a:rPr lang="es-ES" sz="650" dirty="0" err="1">
                          <a:solidFill>
                            <a:srgbClr val="4F81BD"/>
                          </a:solidFill>
                          <a:latin typeface="Calibri"/>
                          <a:ea typeface="Calibri"/>
                          <a:cs typeface="Calibri"/>
                          <a:sym typeface="Calibri"/>
                        </a:rPr>
                        <a:t>throw</a:t>
                      </a:r>
                      <a:r>
                        <a:rPr lang="es-ES" sz="650" dirty="0">
                          <a:solidFill>
                            <a:srgbClr val="4F81BD"/>
                          </a:solidFill>
                          <a:latin typeface="Calibri"/>
                          <a:ea typeface="Calibri"/>
                          <a:cs typeface="Calibri"/>
                          <a:sym typeface="Calibri"/>
                        </a:rPr>
                        <a:t> new </a:t>
                      </a:r>
                      <a:r>
                        <a:rPr lang="es-ES" sz="650" dirty="0" err="1">
                          <a:solidFill>
                            <a:srgbClr val="4F81BD"/>
                          </a:solidFill>
                          <a:latin typeface="Calibri"/>
                          <a:ea typeface="Calibri"/>
                          <a:cs typeface="Calibri"/>
                          <a:sym typeface="Calibri"/>
                        </a:rPr>
                        <a:t>InvalidOperationException</a:t>
                      </a:r>
                      <a:r>
                        <a:rPr lang="es-ES" sz="650" dirty="0">
                          <a:solidFill>
                            <a:srgbClr val="4F81BD"/>
                          </a:solidFill>
                          <a:latin typeface="Calibri"/>
                          <a:ea typeface="Calibri"/>
                          <a:cs typeface="Calibri"/>
                          <a:sym typeface="Calibri"/>
                        </a:rPr>
                        <a:t>("Error en Login REST: " + </a:t>
                      </a:r>
                      <a:r>
                        <a:rPr lang="es-ES" sz="650" dirty="0" err="1">
                          <a:solidFill>
                            <a:srgbClr val="4F81BD"/>
                          </a:solidFill>
                          <a:latin typeface="Calibri"/>
                          <a:ea typeface="Calibri"/>
                          <a:cs typeface="Calibri"/>
                          <a:sym typeface="Calibri"/>
                        </a:rPr>
                        <a:t>ex.Message</a:t>
                      </a:r>
                      <a:r>
                        <a:rPr lang="es-ES" sz="650" dirty="0">
                          <a:solidFill>
                            <a:srgbClr val="4F81BD"/>
                          </a:solidFill>
                          <a:latin typeface="Calibri"/>
                          <a:ea typeface="Calibri"/>
                          <a:cs typeface="Calibri"/>
                          <a:sym typeface="Calibri"/>
                        </a:rPr>
                        <a:t>, ex);</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650" dirty="0">
                          <a:solidFill>
                            <a:srgbClr val="4F81BD"/>
                          </a:solidFill>
                          <a:latin typeface="Calibri"/>
                          <a:ea typeface="Calibri"/>
                          <a:cs typeface="Calibri"/>
                          <a:sym typeface="Calibri"/>
                        </a:rPr>
                        <a:t>}</a:t>
                      </a:r>
                      <a:endParaRPr sz="65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46" name="Google Shape;346;p43"/>
          <p:cNvGraphicFramePr/>
          <p:nvPr>
            <p:extLst>
              <p:ext uri="{D42A27DB-BD31-4B8C-83A1-F6EECF244321}">
                <p14:modId xmlns:p14="http://schemas.microsoft.com/office/powerpoint/2010/main" val="3034438660"/>
              </p:ext>
            </p:extLst>
          </p:nvPr>
        </p:nvGraphicFramePr>
        <p:xfrm>
          <a:off x="5684675" y="2041263"/>
          <a:ext cx="3699025" cy="4394200"/>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800">
                          <a:solidFill>
                            <a:srgbClr val="4F81BD"/>
                          </a:solidFill>
                          <a:latin typeface="Calibri"/>
                          <a:ea typeface="Calibri"/>
                          <a:cs typeface="Calibri"/>
                          <a:sym typeface="Calibri"/>
                        </a:rPr>
                        <a:t>        public string LeerTexto(string etiqueta)</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Console.Write($"{etiqueta}: ");</a:t>
                      </a:r>
                    </a:p>
                    <a:p>
                      <a:pPr marL="0" lvl="0" indent="0" algn="l" rtl="0">
                        <a:spcBef>
                          <a:spcPts val="0"/>
                        </a:spcBef>
                        <a:spcAft>
                          <a:spcPts val="0"/>
                        </a:spcAft>
                        <a:buNone/>
                      </a:pPr>
                      <a:r>
                        <a:rPr lang="es-ES" sz="800">
                          <a:solidFill>
                            <a:srgbClr val="4F81BD"/>
                          </a:solidFill>
                          <a:latin typeface="Calibri"/>
                          <a:ea typeface="Calibri"/>
                          <a:cs typeface="Calibri"/>
                          <a:sym typeface="Calibri"/>
                        </a:rPr>
                        <a:t>            return Console.ReadLine()?.Trim() ?? string.Empty;</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a:solidFill>
                          <a:srgbClr val="4F81BD"/>
                        </a:solidFill>
                        <a:latin typeface="Calibri"/>
                        <a:ea typeface="Calibri"/>
                        <a:cs typeface="Calibri"/>
                        <a:sym typeface="Calibri"/>
                      </a:endParaRPr>
                    </a:p>
                    <a:p>
                      <a:pPr marL="0" lvl="0" indent="0" algn="l" rtl="0">
                        <a:spcBef>
                          <a:spcPts val="0"/>
                        </a:spcBef>
                        <a:spcAft>
                          <a:spcPts val="0"/>
                        </a:spcAft>
                        <a:buNone/>
                      </a:pPr>
                      <a:r>
                        <a:rPr lang="es-ES" sz="800">
                          <a:solidFill>
                            <a:srgbClr val="4F81BD"/>
                          </a:solidFill>
                          <a:latin typeface="Calibri"/>
                          <a:ea typeface="Calibri"/>
                          <a:cs typeface="Calibri"/>
                          <a:sym typeface="Calibri"/>
                        </a:rPr>
                        <a:t>        public double LeerDouble(string etiqueta)</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while (true)</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Console.Write($"{etiqueta}: ");</a:t>
                      </a:r>
                    </a:p>
                    <a:p>
                      <a:pPr marL="0" lvl="0" indent="0" algn="l" rtl="0">
                        <a:spcBef>
                          <a:spcPts val="0"/>
                        </a:spcBef>
                        <a:spcAft>
                          <a:spcPts val="0"/>
                        </a:spcAft>
                        <a:buNone/>
                      </a:pPr>
                      <a:r>
                        <a:rPr lang="es-ES" sz="800">
                          <a:solidFill>
                            <a:srgbClr val="4F81BD"/>
                          </a:solidFill>
                          <a:latin typeface="Calibri"/>
                          <a:ea typeface="Calibri"/>
                          <a:cs typeface="Calibri"/>
                          <a:sym typeface="Calibri"/>
                        </a:rPr>
                        <a:t>                string? input = Console.ReadLine()?.Trim();</a:t>
                      </a:r>
                    </a:p>
                    <a:p>
                      <a:pPr marL="0" lvl="0" indent="0" algn="l" rtl="0">
                        <a:spcBef>
                          <a:spcPts val="0"/>
                        </a:spcBef>
                        <a:spcAft>
                          <a:spcPts val="0"/>
                        </a:spcAft>
                        <a:buNone/>
                      </a:pPr>
                      <a:r>
                        <a:rPr lang="es-ES" sz="800">
                          <a:solidFill>
                            <a:srgbClr val="4F81BD"/>
                          </a:solidFill>
                          <a:latin typeface="Calibri"/>
                          <a:ea typeface="Calibri"/>
                          <a:cs typeface="Calibri"/>
                          <a:sym typeface="Calibri"/>
                        </a:rPr>
                        <a:t>                if (!string.IsNullOrEmpty(input))</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string normalizado = input.Replace(',', '.');</a:t>
                      </a:r>
                    </a:p>
                    <a:p>
                      <a:pPr marL="0" lvl="0" indent="0" algn="l" rtl="0">
                        <a:spcBef>
                          <a:spcPts val="0"/>
                        </a:spcBef>
                        <a:spcAft>
                          <a:spcPts val="0"/>
                        </a:spcAft>
                        <a:buNone/>
                      </a:pPr>
                      <a:r>
                        <a:rPr lang="es-ES" sz="800">
                          <a:solidFill>
                            <a:srgbClr val="4F81BD"/>
                          </a:solidFill>
                          <a:latin typeface="Calibri"/>
                          <a:ea typeface="Calibri"/>
                          <a:cs typeface="Calibri"/>
                          <a:sym typeface="Calibri"/>
                        </a:rPr>
                        <a:t>                    if (double.TryParse(normalizado, NumberStyles.Float, CultureInfo.InvariantCulture, out double valor))</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return valor;</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Console.WriteLine(" [!] Por favor ingrese un número válido.");</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a:solidFill>
                          <a:srgbClr val="4F81BD"/>
                        </a:solidFill>
                        <a:latin typeface="Calibri"/>
                        <a:ea typeface="Calibri"/>
                        <a:cs typeface="Calibri"/>
                        <a:sym typeface="Calibri"/>
                      </a:endParaRPr>
                    </a:p>
                    <a:p>
                      <a:pPr marL="0" lvl="0" indent="0" algn="l" rtl="0">
                        <a:spcBef>
                          <a:spcPts val="0"/>
                        </a:spcBef>
                        <a:spcAft>
                          <a:spcPts val="0"/>
                        </a:spcAft>
                        <a:buNone/>
                      </a:pPr>
                      <a:r>
                        <a:rPr lang="es-ES" sz="800">
                          <a:solidFill>
                            <a:srgbClr val="4F81BD"/>
                          </a:solidFill>
                          <a:latin typeface="Calibri"/>
                          <a:ea typeface="Calibri"/>
                          <a:cs typeface="Calibri"/>
                          <a:sym typeface="Calibri"/>
                        </a:rPr>
                        <a:t>        public void MostrarResultado(double resultado)</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p>
                    <a:p>
                      <a:pPr marL="0" lvl="0" indent="0" algn="l" rtl="0">
                        <a:spcBef>
                          <a:spcPts val="0"/>
                        </a:spcBef>
                        <a:spcAft>
                          <a:spcPts val="0"/>
                        </a:spcAft>
                        <a:buNone/>
                      </a:pPr>
                      <a:r>
                        <a:rPr lang="es-ES" sz="800">
                          <a:solidFill>
                            <a:srgbClr val="4F81BD"/>
                          </a:solidFill>
                          <a:latin typeface="Calibri"/>
                          <a:ea typeface="Calibri"/>
                          <a:cs typeface="Calibri"/>
                          <a:sym typeface="Calibri"/>
                        </a:rPr>
                        <a:t>            Console.WriteLine();</a:t>
                      </a:r>
                    </a:p>
                    <a:p>
                      <a:pPr marL="0" lvl="0" indent="0" algn="l" rtl="0">
                        <a:spcBef>
                          <a:spcPts val="0"/>
                        </a:spcBef>
                        <a:spcAft>
                          <a:spcPts val="0"/>
                        </a:spcAft>
                        <a:buNone/>
                      </a:pPr>
                      <a:r>
                        <a:rPr lang="es-ES" sz="800">
                          <a:solidFill>
                            <a:srgbClr val="4F81BD"/>
                          </a:solidFill>
                          <a:latin typeface="Calibri"/>
                          <a:ea typeface="Calibri"/>
                          <a:cs typeface="Calibri"/>
                          <a:sym typeface="Calibri"/>
                        </a:rPr>
                        <a:t>            Console.WriteLine("==================================================");</a:t>
                      </a:r>
                    </a:p>
                    <a:p>
                      <a:pPr marL="0" lvl="0" indent="0" algn="l" rtl="0">
                        <a:spcBef>
                          <a:spcPts val="0"/>
                        </a:spcBef>
                        <a:spcAft>
                          <a:spcPts val="0"/>
                        </a:spcAft>
                        <a:buNone/>
                      </a:pPr>
                      <a:r>
                        <a:rPr lang="es-ES" sz="800">
                          <a:solidFill>
                            <a:srgbClr val="4F81BD"/>
                          </a:solidFill>
                          <a:latin typeface="Calibri"/>
                          <a:ea typeface="Calibri"/>
                          <a:cs typeface="Calibri"/>
                          <a:sym typeface="Calibri"/>
                        </a:rPr>
                        <a:t>            Console.WriteLine($"Resultado: {resultado.ToString(CultureInfo.InvariantCulture)}");</a:t>
                      </a:r>
                    </a:p>
                    <a:p>
                      <a:pPr marL="0" lvl="0" indent="0" algn="l" rtl="0">
                        <a:spcBef>
                          <a:spcPts val="0"/>
                        </a:spcBef>
                        <a:spcAft>
                          <a:spcPts val="0"/>
                        </a:spcAft>
                        <a:buNone/>
                      </a:pPr>
                      <a:r>
                        <a:rPr lang="es-ES" sz="800">
                          <a:solidFill>
                            <a:srgbClr val="4F81BD"/>
                          </a:solidFill>
                          <a:latin typeface="Calibri"/>
                          <a:ea typeface="Calibri"/>
                          <a:cs typeface="Calibri"/>
                          <a:sym typeface="Calibri"/>
                        </a:rPr>
                        <a:t>            Console.WriteLine("==================================================");</a:t>
                      </a:r>
                    </a:p>
                    <a:p>
                      <a:pPr marL="0" lvl="0" indent="0" algn="l" rtl="0">
                        <a:spcBef>
                          <a:spcPts val="0"/>
                        </a:spcBef>
                        <a:spcAft>
                          <a:spcPts val="0"/>
                        </a:spcAft>
                        <a:buNone/>
                      </a:pPr>
                      <a:r>
                        <a:rPr lang="es-ES" sz="800">
                          <a:solidFill>
                            <a:srgbClr val="4F81BD"/>
                          </a:solidFill>
                          <a:latin typeface="Calibri"/>
                          <a:ea typeface="Calibri"/>
                          <a:cs typeface="Calibri"/>
                          <a:sym typeface="Calibri"/>
                        </a:rPr>
                        <a:t>        }</a:t>
                      </a:r>
                      <a:endParaRPr sz="8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1B957C72-7203-6722-839A-B1A51E5BB827}"/>
              </a:ext>
            </a:extLst>
          </p:cNvPr>
          <p:cNvSpPr txBox="1">
            <a:spLocks/>
          </p:cNvSpPr>
          <p:nvPr/>
        </p:nvSpPr>
        <p:spPr>
          <a:xfrm>
            <a:off x="0" y="2718786"/>
            <a:ext cx="2132400" cy="3273936"/>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extLst>
      <p:ext uri="{BB962C8B-B14F-4D97-AF65-F5344CB8AC3E}">
        <p14:creationId xmlns:p14="http://schemas.microsoft.com/office/powerpoint/2010/main" val="11681795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0" name="Google Shape;370;p46"/>
          <p:cNvSpPr txBox="1">
            <a:spLocks noGrp="1"/>
          </p:cNvSpPr>
          <p:nvPr>
            <p:ph type="body" idx="1"/>
          </p:nvPr>
        </p:nvSpPr>
        <p:spPr>
          <a:xfrm>
            <a:off x="122574" y="2429475"/>
            <a:ext cx="3004083"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Se puede verificar que el cliente funciona de forma correcta, se levanta y tiene comunicación </a:t>
            </a:r>
            <a:endParaRPr sz="1400" b="1" dirty="0">
              <a:solidFill>
                <a:srgbClr val="17365D"/>
              </a:solidFill>
              <a:latin typeface="Calibri"/>
              <a:ea typeface="Calibri"/>
              <a:cs typeface="Calibri"/>
              <a:sym typeface="Calibri"/>
            </a:endParaRPr>
          </a:p>
          <a:p>
            <a:pPr marL="457200" lvl="0" indent="-298450" algn="l" rtl="0">
              <a:lnSpc>
                <a:spcPct val="150000"/>
              </a:lnSpc>
              <a:spcBef>
                <a:spcPts val="0"/>
              </a:spcBef>
              <a:spcAft>
                <a:spcPts val="0"/>
              </a:spcAft>
              <a:buClr>
                <a:schemeClr val="dk1"/>
              </a:buClr>
              <a:buSzPts val="1100"/>
              <a:buFont typeface="Calibri"/>
              <a:buChar char="∙"/>
            </a:pP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
        <p:nvSpPr>
          <p:cNvPr id="371" name="Google Shape;371;p4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CONSOLA</a:t>
            </a:r>
            <a:endParaRPr sz="1200" b="1">
              <a:solidFill>
                <a:srgbClr val="FFFF00"/>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pic>
        <p:nvPicPr>
          <p:cNvPr id="3" name="Captura GR04">
            <a:extLst>
              <a:ext uri="{FF2B5EF4-FFF2-40B4-BE49-F238E27FC236}">
                <a16:creationId xmlns:a16="http://schemas.microsoft.com/office/drawing/2014/main" id="{ABDE455B-9BD6-F5B4-DA69-B550222BD034}"/>
              </a:ext>
            </a:extLst>
          </p:cNvPr>
          <p:cNvPicPr>
            <a:picLocks/>
          </p:cNvPicPr>
          <p:nvPr/>
        </p:nvPicPr>
        <p:blipFill>
          <a:blip r:embed="rId3"/>
          <a:stretch>
            <a:fillRect/>
          </a:stretch>
        </p:blipFill>
        <p:spPr>
          <a:xfrm>
            <a:off x="3372465" y="2794000"/>
            <a:ext cx="5102654" cy="2820219"/>
          </a:xfrm>
          <a:prstGeom prst="rect">
            <a:avLst/>
          </a:prstGeom>
        </p:spPr>
      </p:pic>
    </p:spTree>
    <p:extLst>
      <p:ext uri="{BB962C8B-B14F-4D97-AF65-F5344CB8AC3E}">
        <p14:creationId xmlns:p14="http://schemas.microsoft.com/office/powerpoint/2010/main" val="2090243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6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36" name="Google Shape;536;p66"/>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a:latin typeface="Cambria"/>
                <a:ea typeface="Cambria"/>
                <a:cs typeface="Cambria"/>
                <a:sym typeface="Cambria"/>
              </a:rPr>
              <a:t>Para el cliente de escritorio se creó en Visual Studio un proyecto Windows Forms (.NET 8) con arquitectura MVC (carpetas controlador, modelo y vista). El cliente consume el servicio REST con HttpClient y JSON (ConversorService).</a:t>
            </a:r>
            <a:endParaRPr>
              <a:latin typeface="Cambria"/>
              <a:ea typeface="Cambria"/>
              <a:cs typeface="Cambria"/>
              <a:sym typeface="Cambria"/>
            </a:endParaRPr>
          </a:p>
        </p:txBody>
      </p:sp>
      <p:graphicFrame>
        <p:nvGraphicFramePr>
          <p:cNvPr id="538" name="Google Shape;538;p66"/>
          <p:cNvGraphicFramePr/>
          <p:nvPr>
            <p:extLst>
              <p:ext uri="{D42A27DB-BD31-4B8C-83A1-F6EECF244321}">
                <p14:modId xmlns:p14="http://schemas.microsoft.com/office/powerpoint/2010/main" val="2277764538"/>
              </p:ext>
            </p:extLst>
          </p:nvPr>
        </p:nvGraphicFramePr>
        <p:xfrm>
          <a:off x="2332838" y="3073863"/>
          <a:ext cx="6484300" cy="3538411"/>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0">
                <a:tc>
                  <a:txBody>
                    <a:bodyPr/>
                    <a:lstStyle/>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using System;</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using System.Windows.Forms;</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using ec.edu.monster.vista;</a:t>
                      </a:r>
                    </a:p>
                    <a:p>
                      <a:pPr marL="0" lvl="0" indent="0" algn="l" rtl="0">
                        <a:lnSpc>
                          <a:spcPct val="144000"/>
                        </a:lnSpc>
                        <a:spcBef>
                          <a:spcPts val="0"/>
                        </a:spcBef>
                        <a:spcAft>
                          <a:spcPts val="0"/>
                        </a:spcAft>
                        <a:buClr>
                          <a:schemeClr val="dk1"/>
                        </a:buClr>
                        <a:buSzPts val="1100"/>
                        <a:buFont typeface="Arial"/>
                        <a:buNone/>
                      </a:pPr>
                      <a:endParaRPr lang="es-ES" sz="6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namespace WSConversorEscCliente</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internal static class Program</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[STAThread]</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static void Main()</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ApplicationConfiguration.Initialize();</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Application.Run(new LoginView());</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a:t>
                      </a:r>
                    </a:p>
                    <a:p>
                      <a:pPr marL="0" lvl="0" indent="0" algn="l" rtl="0">
                        <a:lnSpc>
                          <a:spcPct val="144000"/>
                        </a:lnSpc>
                        <a:spcBef>
                          <a:spcPts val="0"/>
                        </a:spcBef>
                        <a:spcAft>
                          <a:spcPts val="0"/>
                        </a:spcAft>
                        <a:buClr>
                          <a:schemeClr val="dk1"/>
                        </a:buClr>
                        <a:buSzPts val="1100"/>
                        <a:buFont typeface="Arial"/>
                        <a:buNone/>
                      </a:pPr>
                      <a:endParaRPr lang="es-ES" sz="6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public string Login(string usuario, string contrasenia)</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return service.Login(usuario, contrasenia);</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a:t>
                      </a:r>
                    </a:p>
                    <a:p>
                      <a:pPr marL="0" lvl="0" indent="0" algn="l" rtl="0">
                        <a:lnSpc>
                          <a:spcPct val="144000"/>
                        </a:lnSpc>
                        <a:spcBef>
                          <a:spcPts val="0"/>
                        </a:spcBef>
                        <a:spcAft>
                          <a:spcPts val="0"/>
                        </a:spcAft>
                        <a:buClr>
                          <a:schemeClr val="dk1"/>
                        </a:buClr>
                        <a:buSzPts val="1100"/>
                        <a:buFont typeface="Arial"/>
                        <a:buNone/>
                      </a:pPr>
                      <a:endParaRPr lang="es-ES" sz="600">
                        <a:solidFill>
                          <a:srgbClr val="4F81BD"/>
                        </a:solidFill>
                        <a:latin typeface="Calibri"/>
                        <a:ea typeface="Calibri"/>
                        <a:cs typeface="Calibri"/>
                        <a:sym typeface="Calibri"/>
                      </a:endParaRP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public double ConvertirLongitud(double n1, string unidadInicial, string unidadFinal)</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return service.ConvertirLongitud(n1, unidadInicial, unidadFinal);</a:t>
                      </a:r>
                    </a:p>
                    <a:p>
                      <a:pPr marL="0" lvl="0" indent="0" algn="l" rtl="0">
                        <a:lnSpc>
                          <a:spcPct val="144000"/>
                        </a:lnSpc>
                        <a:spcBef>
                          <a:spcPts val="0"/>
                        </a:spcBef>
                        <a:spcAft>
                          <a:spcPts val="0"/>
                        </a:spcAft>
                        <a:buClr>
                          <a:schemeClr val="dk1"/>
                        </a:buClr>
                        <a:buSzPts val="1100"/>
                        <a:buFont typeface="Arial"/>
                        <a:buNone/>
                      </a:pPr>
                      <a:r>
                        <a:rPr lang="es-ES" sz="600">
                          <a:solidFill>
                            <a:srgbClr val="4F81BD"/>
                          </a:solidFill>
                          <a:latin typeface="Calibri"/>
                          <a:ea typeface="Calibri"/>
                          <a:cs typeface="Calibri"/>
                          <a:sym typeface="Calibri"/>
                        </a:rPr>
                        <a:t>        }</a:t>
                      </a:r>
                      <a:endParaRPr sz="6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539" name="Google Shape;539;p66"/>
          <p:cNvSpPr txBox="1"/>
          <p:nvPr/>
        </p:nvSpPr>
        <p:spPr>
          <a:xfrm>
            <a:off x="122575" y="1715850"/>
            <a:ext cx="7232400" cy="777362"/>
          </a:xfrm>
          <a:prstGeom prst="rect">
            <a:avLst/>
          </a:prstGeom>
          <a:noFill/>
          <a:ln>
            <a:noFill/>
          </a:ln>
        </p:spPr>
        <p:txBody>
          <a:bodyPr spcFirstLastPara="1" wrap="square" lIns="91425" tIns="91425" rIns="91425" bIns="91425" anchor="t" anchorCtr="0">
            <a:spAutoFit/>
          </a:bodyPr>
          <a:lstStyle/>
          <a:p>
            <a:pPr marL="0" lvl="0" indent="0" algn="just" rtl="0">
              <a:lnSpc>
                <a:spcPct val="107000"/>
              </a:lnSpc>
              <a:spcBef>
                <a:spcPts val="0"/>
              </a:spcBef>
              <a:spcAft>
                <a:spcPts val="0"/>
              </a:spcAft>
              <a:buNone/>
            </a:pPr>
            <a:r>
              <a:rPr lang="es-ES" sz="1800" b="1" dirty="0">
                <a:solidFill>
                  <a:schemeClr val="dk2"/>
                </a:solidFill>
                <a:latin typeface="Cambria"/>
                <a:ea typeface="Cambria"/>
                <a:cs typeface="Cambria"/>
                <a:sym typeface="Cambria"/>
              </a:rPr>
              <a:t>1.4 	CREACIÓN DEL PROYECTO – CLIENTE ESCRITORIO</a:t>
            </a:r>
            <a:br>
              <a:rPr lang="es-ES" sz="1800" b="1" dirty="0">
                <a:solidFill>
                  <a:schemeClr val="dk2"/>
                </a:solidFill>
                <a:latin typeface="Cambria"/>
                <a:ea typeface="Cambria"/>
                <a:cs typeface="Cambria"/>
                <a:sym typeface="Cambria"/>
              </a:rPr>
            </a:br>
            <a:endParaRPr sz="1800" dirty="0">
              <a:solidFill>
                <a:schemeClr val="dk2"/>
              </a:solidFill>
              <a:latin typeface="Gill Sans"/>
              <a:ea typeface="Gill Sans"/>
              <a:cs typeface="Gill Sans"/>
              <a:sym typeface="Gill Sans"/>
            </a:endParaRPr>
          </a:p>
        </p:txBody>
      </p:sp>
      <p:sp>
        <p:nvSpPr>
          <p:cNvPr id="4" name="Google Shape;319;p40">
            <a:extLst>
              <a:ext uri="{FF2B5EF4-FFF2-40B4-BE49-F238E27FC236}">
                <a16:creationId xmlns:a16="http://schemas.microsoft.com/office/drawing/2014/main" id="{0F96B393-3A74-38DF-46E5-C8FFA62BBE96}"/>
              </a:ext>
            </a:extLst>
          </p:cNvPr>
          <p:cNvSpPr txBox="1">
            <a:spLocks/>
          </p:cNvSpPr>
          <p:nvPr/>
        </p:nvSpPr>
        <p:spPr>
          <a:xfrm>
            <a:off x="200438" y="3073863"/>
            <a:ext cx="2132400" cy="3273936"/>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extLst>
      <p:ext uri="{BB962C8B-B14F-4D97-AF65-F5344CB8AC3E}">
        <p14:creationId xmlns:p14="http://schemas.microsoft.com/office/powerpoint/2010/main" val="1470229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6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45" name="Google Shape;545;p6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47" name="Google Shape;547;p67"/>
          <p:cNvGraphicFramePr/>
          <p:nvPr>
            <p:extLst>
              <p:ext uri="{D42A27DB-BD31-4B8C-83A1-F6EECF244321}">
                <p14:modId xmlns:p14="http://schemas.microsoft.com/office/powerpoint/2010/main" val="1082312449"/>
              </p:ext>
            </p:extLst>
          </p:nvPr>
        </p:nvGraphicFramePr>
        <p:xfrm>
          <a:off x="2332838" y="2136238"/>
          <a:ext cx="6484300" cy="4326509"/>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15000"/>
                        </a:lnSpc>
                        <a:spcBef>
                          <a:spcPts val="0"/>
                        </a:spcBef>
                        <a:spcAft>
                          <a:spcPts val="0"/>
                        </a:spcAft>
                        <a:buNone/>
                      </a:pPr>
                      <a:r>
                        <a:rPr lang="en-US" sz="600" dirty="0">
                          <a:solidFill>
                            <a:schemeClr val="accent1">
                              <a:lumMod val="60000"/>
                              <a:lumOff val="40000"/>
                            </a:schemeClr>
                          </a:solidFill>
                        </a:rPr>
                        <a:t>public class </a:t>
                      </a:r>
                      <a:r>
                        <a:rPr lang="en-US" sz="600" dirty="0" err="1">
                          <a:solidFill>
                            <a:schemeClr val="accent1">
                              <a:lumMod val="60000"/>
                              <a:lumOff val="40000"/>
                            </a:schemeClr>
                          </a:solidFill>
                        </a:rPr>
                        <a:t>ConversorService</a:t>
                      </a:r>
                      <a:endParaRPr lang="en-US" sz="600" dirty="0">
                        <a:solidFill>
                          <a:schemeClr val="accent1">
                            <a:lumMod val="60000"/>
                            <a:lumOff val="40000"/>
                          </a:schemeClr>
                        </a:solidFill>
                      </a:endParaRPr>
                    </a:p>
                    <a:p>
                      <a:pPr marL="0" lvl="0" indent="0" algn="l" rtl="0">
                        <a:lnSpc>
                          <a:spcPct val="115000"/>
                        </a:lnSpc>
                        <a:spcBef>
                          <a:spcPts val="0"/>
                        </a:spcBef>
                        <a:spcAft>
                          <a:spcPts val="0"/>
                        </a:spcAft>
                        <a:buNone/>
                      </a:pPr>
                      <a:r>
                        <a:rPr lang="en-US" sz="600" dirty="0">
                          <a:solidFill>
                            <a:schemeClr val="accent1">
                              <a:lumMod val="60000"/>
                              <a:lumOff val="40000"/>
                            </a:schemeClr>
                          </a:solidFill>
                        </a:rPr>
                        <a:t>{</a:t>
                      </a:r>
                    </a:p>
                    <a:p>
                      <a:pPr marL="0" lvl="0" indent="0" algn="l" rtl="0">
                        <a:lnSpc>
                          <a:spcPct val="115000"/>
                        </a:lnSpc>
                        <a:spcBef>
                          <a:spcPts val="0"/>
                        </a:spcBef>
                        <a:spcAft>
                          <a:spcPts val="0"/>
                        </a:spcAft>
                        <a:buNone/>
                      </a:pPr>
                      <a:r>
                        <a:rPr lang="en-US" sz="600" dirty="0">
                          <a:solidFill>
                            <a:schemeClr val="accent1">
                              <a:lumMod val="60000"/>
                              <a:lumOff val="40000"/>
                            </a:schemeClr>
                          </a:solidFill>
                        </a:rPr>
                        <a:t>        private static </a:t>
                      </a:r>
                      <a:r>
                        <a:rPr lang="en-US" sz="600" dirty="0" err="1">
                          <a:solidFill>
                            <a:schemeClr val="accent1">
                              <a:lumMod val="60000"/>
                              <a:lumOff val="40000"/>
                            </a:schemeClr>
                          </a:solidFill>
                        </a:rPr>
                        <a:t>readonly</a:t>
                      </a:r>
                      <a:r>
                        <a:rPr lang="en-US" sz="600" dirty="0">
                          <a:solidFill>
                            <a:schemeClr val="accent1">
                              <a:lumMod val="60000"/>
                              <a:lumOff val="40000"/>
                            </a:schemeClr>
                          </a:solidFill>
                        </a:rPr>
                        <a:t> </a:t>
                      </a:r>
                      <a:r>
                        <a:rPr lang="en-US" sz="600" dirty="0" err="1">
                          <a:solidFill>
                            <a:schemeClr val="accent1">
                              <a:lumMod val="60000"/>
                              <a:lumOff val="40000"/>
                            </a:schemeClr>
                          </a:solidFill>
                        </a:rPr>
                        <a:t>HttpClient</a:t>
                      </a:r>
                      <a:r>
                        <a:rPr lang="en-US" sz="600" dirty="0">
                          <a:solidFill>
                            <a:schemeClr val="accent1">
                              <a:lumMod val="60000"/>
                              <a:lumOff val="40000"/>
                            </a:schemeClr>
                          </a:solidFill>
                        </a:rPr>
                        <a:t> </a:t>
                      </a:r>
                      <a:r>
                        <a:rPr lang="en-US" sz="600" dirty="0" err="1">
                          <a:solidFill>
                            <a:schemeClr val="accent1">
                              <a:lumMod val="60000"/>
                              <a:lumOff val="40000"/>
                            </a:schemeClr>
                          </a:solidFill>
                        </a:rPr>
                        <a:t>httpClient</a:t>
                      </a:r>
                      <a:r>
                        <a:rPr lang="en-US" sz="600" dirty="0">
                          <a:solidFill>
                            <a:schemeClr val="accent1">
                              <a:lumMod val="60000"/>
                              <a:lumOff val="40000"/>
                            </a:schemeClr>
                          </a:solidFill>
                        </a:rPr>
                        <a:t> = new </a:t>
                      </a:r>
                      <a:r>
                        <a:rPr lang="en-US" sz="600" dirty="0" err="1">
                          <a:solidFill>
                            <a:schemeClr val="accent1">
                              <a:lumMod val="60000"/>
                              <a:lumOff val="40000"/>
                            </a:schemeClr>
                          </a:solidFill>
                        </a:rPr>
                        <a:t>HttpClient</a:t>
                      </a:r>
                      <a:r>
                        <a:rPr lang="en-US" sz="600" dirty="0">
                          <a:solidFill>
                            <a:schemeClr val="accent1">
                              <a:lumMod val="60000"/>
                              <a:lumOff val="40000"/>
                            </a:schemeClr>
                          </a:solidFill>
                        </a:rPr>
                        <a:t> { Timeout = </a:t>
                      </a:r>
                      <a:r>
                        <a:rPr lang="en-US" sz="600" dirty="0" err="1">
                          <a:solidFill>
                            <a:schemeClr val="accent1">
                              <a:lumMod val="60000"/>
                              <a:lumOff val="40000"/>
                            </a:schemeClr>
                          </a:solidFill>
                        </a:rPr>
                        <a:t>TimeSpan.FromSeconds</a:t>
                      </a:r>
                      <a:r>
                        <a:rPr lang="en-US" sz="600" dirty="0">
                          <a:solidFill>
                            <a:schemeClr val="accent1">
                              <a:lumMod val="60000"/>
                              <a:lumOff val="40000"/>
                            </a:schemeClr>
                          </a:solidFill>
                        </a:rPr>
                        <a:t>(8) };</a:t>
                      </a:r>
                    </a:p>
                    <a:p>
                      <a:pPr marL="0" lvl="0" indent="0" algn="l" rtl="0">
                        <a:lnSpc>
                          <a:spcPct val="115000"/>
                        </a:lnSpc>
                        <a:spcBef>
                          <a:spcPts val="0"/>
                        </a:spcBef>
                        <a:spcAft>
                          <a:spcPts val="0"/>
                        </a:spcAft>
                        <a:buNone/>
                      </a:pPr>
                      <a:r>
                        <a:rPr lang="en-US" sz="600" dirty="0">
                          <a:solidFill>
                            <a:schemeClr val="accent1">
                              <a:lumMod val="60000"/>
                              <a:lumOff val="40000"/>
                            </a:schemeClr>
                          </a:solidFill>
                        </a:rPr>
                        <a:t>        public static string </a:t>
                      </a:r>
                      <a:r>
                        <a:rPr lang="en-US" sz="600" dirty="0" err="1">
                          <a:solidFill>
                            <a:schemeClr val="accent1">
                              <a:lumMod val="60000"/>
                              <a:lumOff val="40000"/>
                            </a:schemeClr>
                          </a:solidFill>
                        </a:rPr>
                        <a:t>BaseUrl</a:t>
                      </a:r>
                      <a:r>
                        <a:rPr lang="en-US" sz="600" dirty="0">
                          <a:solidFill>
                            <a:schemeClr val="accent1">
                              <a:lumMod val="60000"/>
                              <a:lumOff val="40000"/>
                            </a:schemeClr>
                          </a:solidFill>
                        </a:rPr>
                        <a:t> { get; set; } = "http://localhost:63281/</a:t>
                      </a:r>
                      <a:r>
                        <a:rPr lang="en-US" sz="600" dirty="0" err="1">
                          <a:solidFill>
                            <a:schemeClr val="accent1">
                              <a:lumMod val="60000"/>
                              <a:lumOff val="40000"/>
                            </a:schemeClr>
                          </a:solidFill>
                        </a:rPr>
                        <a:t>ServicioWebRest.svc</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r>
                        <a:rPr lang="en-US" sz="600" dirty="0">
                          <a:solidFill>
                            <a:schemeClr val="accent1">
                              <a:lumMod val="60000"/>
                              <a:lumOff val="40000"/>
                            </a:schemeClr>
                          </a:solidFill>
                        </a:rPr>
                        <a:t>        public static string? </a:t>
                      </a:r>
                      <a:r>
                        <a:rPr lang="en-US" sz="600" dirty="0" err="1">
                          <a:solidFill>
                            <a:schemeClr val="accent1">
                              <a:lumMod val="60000"/>
                              <a:lumOff val="40000"/>
                            </a:schemeClr>
                          </a:solidFill>
                        </a:rPr>
                        <a:t>TokenSesion</a:t>
                      </a:r>
                      <a:r>
                        <a:rPr lang="en-US" sz="600" dirty="0">
                          <a:solidFill>
                            <a:schemeClr val="accent1">
                              <a:lumMod val="60000"/>
                              <a:lumOff val="40000"/>
                            </a:schemeClr>
                          </a:solidFill>
                        </a:rPr>
                        <a:t> { get; set; }</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r>
                        <a:rPr lang="en-US" sz="600" dirty="0" err="1">
                          <a:solidFill>
                            <a:schemeClr val="accent1">
                              <a:lumMod val="60000"/>
                              <a:lumOff val="40000"/>
                            </a:schemeClr>
                          </a:solidFill>
                        </a:rPr>
                        <a:t>TokenSesion</a:t>
                      </a:r>
                      <a:r>
                        <a:rPr lang="en-US" sz="600" dirty="0">
                          <a:solidFill>
                            <a:schemeClr val="accent1">
                              <a:lumMod val="60000"/>
                              <a:lumOff val="40000"/>
                            </a:schemeClr>
                          </a:solidFill>
                        </a:rPr>
                        <a:t> = </a:t>
                      </a:r>
                      <a:r>
                        <a:rPr lang="en-US" sz="600" dirty="0" err="1">
                          <a:solidFill>
                            <a:schemeClr val="accent1">
                              <a:lumMod val="60000"/>
                              <a:lumOff val="40000"/>
                            </a:schemeClr>
                          </a:solidFill>
                        </a:rPr>
                        <a:t>tokenProp.GetString</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r>
                        <a:rPr lang="en-US" sz="600" dirty="0">
                          <a:solidFill>
                            <a:schemeClr val="accent1">
                              <a:lumMod val="60000"/>
                              <a:lumOff val="40000"/>
                            </a:schemeClr>
                          </a:solidFill>
                        </a:rPr>
                        <a:t>                string </a:t>
                      </a:r>
                      <a:r>
                        <a:rPr lang="en-US" sz="600" dirty="0" err="1">
                          <a:solidFill>
                            <a:schemeClr val="accent1">
                              <a:lumMod val="60000"/>
                              <a:lumOff val="40000"/>
                            </a:schemeClr>
                          </a:solidFill>
                        </a:rPr>
                        <a:t>url</a:t>
                      </a:r>
                      <a:r>
                        <a:rPr lang="en-US" sz="600" dirty="0">
                          <a:solidFill>
                            <a:schemeClr val="accent1">
                              <a:lumMod val="60000"/>
                              <a:lumOff val="40000"/>
                            </a:schemeClr>
                          </a:solidFill>
                        </a:rPr>
                        <a:t> = $"{</a:t>
                      </a:r>
                      <a:r>
                        <a:rPr lang="en-US" sz="600" dirty="0" err="1">
                          <a:solidFill>
                            <a:schemeClr val="accent1">
                              <a:lumMod val="60000"/>
                              <a:lumOff val="40000"/>
                            </a:schemeClr>
                          </a:solidFill>
                        </a:rPr>
                        <a:t>BaseUrl</a:t>
                      </a:r>
                      <a:r>
                        <a:rPr lang="en-US" sz="600" dirty="0">
                          <a:solidFill>
                            <a:schemeClr val="accent1">
                              <a:lumMod val="60000"/>
                              <a:lumOff val="40000"/>
                            </a:schemeClr>
                          </a:solidFill>
                        </a:rPr>
                        <a:t>}/</a:t>
                      </a:r>
                      <a:r>
                        <a:rPr lang="en-US" sz="600" dirty="0" err="1">
                          <a:solidFill>
                            <a:schemeClr val="accent1">
                              <a:lumMod val="60000"/>
                              <a:lumOff val="40000"/>
                            </a:schemeClr>
                          </a:solidFill>
                        </a:rPr>
                        <a:t>conversor</a:t>
                      </a:r>
                      <a:r>
                        <a:rPr lang="en-US" sz="600" dirty="0">
                          <a:solidFill>
                            <a:schemeClr val="accent1">
                              <a:lumMod val="60000"/>
                              <a:lumOff val="40000"/>
                            </a:schemeClr>
                          </a:solidFill>
                        </a:rPr>
                        <a:t>/{</a:t>
                      </a:r>
                      <a:r>
                        <a:rPr lang="en-US" sz="600" dirty="0" err="1">
                          <a:solidFill>
                            <a:schemeClr val="accent1">
                              <a:lumMod val="60000"/>
                              <a:lumOff val="40000"/>
                            </a:schemeClr>
                          </a:solidFill>
                        </a:rPr>
                        <a:t>tipo</a:t>
                      </a:r>
                      <a:r>
                        <a:rPr lang="en-US" sz="600" dirty="0">
                          <a:solidFill>
                            <a:schemeClr val="accent1">
                              <a:lumMod val="60000"/>
                              <a:lumOff val="40000"/>
                            </a:schemeClr>
                          </a:solidFill>
                        </a:rPr>
                        <a:t>}?valor={</a:t>
                      </a:r>
                      <a:r>
                        <a:rPr lang="en-US" sz="600" dirty="0" err="1">
                          <a:solidFill>
                            <a:schemeClr val="accent1">
                              <a:lumMod val="60000"/>
                              <a:lumOff val="40000"/>
                            </a:schemeClr>
                          </a:solidFill>
                        </a:rPr>
                        <a:t>vStr</a:t>
                      </a:r>
                      <a:r>
                        <a:rPr lang="en-US" sz="600" dirty="0">
                          <a:solidFill>
                            <a:schemeClr val="accent1">
                              <a:lumMod val="60000"/>
                              <a:lumOff val="40000"/>
                            </a:schemeClr>
                          </a:solidFill>
                        </a:rPr>
                        <a:t>}&amp;</a:t>
                      </a:r>
                      <a:r>
                        <a:rPr lang="en-US" sz="600" dirty="0" err="1">
                          <a:solidFill>
                            <a:schemeClr val="accent1">
                              <a:lumMod val="60000"/>
                              <a:lumOff val="40000"/>
                            </a:schemeClr>
                          </a:solidFill>
                        </a:rPr>
                        <a:t>unidadInicial</a:t>
                      </a:r>
                      <a:r>
                        <a:rPr lang="en-US" sz="600" dirty="0">
                          <a:solidFill>
                            <a:schemeClr val="accent1">
                              <a:lumMod val="60000"/>
                              <a:lumOff val="40000"/>
                            </a:schemeClr>
                          </a:solidFill>
                        </a:rPr>
                        <a:t>={</a:t>
                      </a:r>
                      <a:r>
                        <a:rPr lang="en-US" sz="600" dirty="0" err="1">
                          <a:solidFill>
                            <a:schemeClr val="accent1">
                              <a:lumMod val="60000"/>
                              <a:lumOff val="40000"/>
                            </a:schemeClr>
                          </a:solidFill>
                        </a:rPr>
                        <a:t>Uri.EscapeDataString</a:t>
                      </a:r>
                      <a:r>
                        <a:rPr lang="en-US" sz="600" dirty="0">
                          <a:solidFill>
                            <a:schemeClr val="accent1">
                              <a:lumMod val="60000"/>
                              <a:lumOff val="40000"/>
                            </a:schemeClr>
                          </a:solidFill>
                        </a:rPr>
                        <a:t>(</a:t>
                      </a:r>
                      <a:r>
                        <a:rPr lang="en-US" sz="600" dirty="0" err="1">
                          <a:solidFill>
                            <a:schemeClr val="accent1">
                              <a:lumMod val="60000"/>
                              <a:lumOff val="40000"/>
                            </a:schemeClr>
                          </a:solidFill>
                        </a:rPr>
                        <a:t>unidadInicial</a:t>
                      </a:r>
                      <a:r>
                        <a:rPr lang="en-US" sz="600" dirty="0">
                          <a:solidFill>
                            <a:schemeClr val="accent1">
                              <a:lumMod val="60000"/>
                              <a:lumOff val="40000"/>
                            </a:schemeClr>
                          </a:solidFill>
                        </a:rPr>
                        <a:t>)}&amp;</a:t>
                      </a:r>
                      <a:r>
                        <a:rPr lang="en-US" sz="600" dirty="0" err="1">
                          <a:solidFill>
                            <a:schemeClr val="accent1">
                              <a:lumMod val="60000"/>
                              <a:lumOff val="40000"/>
                            </a:schemeClr>
                          </a:solidFill>
                        </a:rPr>
                        <a:t>unidadFinal</a:t>
                      </a:r>
                      <a:r>
                        <a:rPr lang="en-US" sz="600" dirty="0">
                          <a:solidFill>
                            <a:schemeClr val="accent1">
                              <a:lumMod val="60000"/>
                              <a:lumOff val="40000"/>
                            </a:schemeClr>
                          </a:solidFill>
                        </a:rPr>
                        <a:t>={</a:t>
                      </a:r>
                      <a:r>
                        <a:rPr lang="en-US" sz="600" dirty="0" err="1">
                          <a:solidFill>
                            <a:schemeClr val="accent1">
                              <a:lumMod val="60000"/>
                              <a:lumOff val="40000"/>
                            </a:schemeClr>
                          </a:solidFill>
                        </a:rPr>
                        <a:t>Uri.EscapeDataString</a:t>
                      </a:r>
                      <a:r>
                        <a:rPr lang="en-US" sz="600" dirty="0">
                          <a:solidFill>
                            <a:schemeClr val="accent1">
                              <a:lumMod val="60000"/>
                              <a:lumOff val="40000"/>
                            </a:schemeClr>
                          </a:solidFill>
                        </a:rPr>
                        <a:t>(</a:t>
                      </a:r>
                      <a:r>
                        <a:rPr lang="en-US" sz="600" dirty="0" err="1">
                          <a:solidFill>
                            <a:schemeClr val="accent1">
                              <a:lumMod val="60000"/>
                              <a:lumOff val="40000"/>
                            </a:schemeClr>
                          </a:solidFill>
                        </a:rPr>
                        <a:t>unidadFinal</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endParaRPr lang="en-US" sz="600" dirty="0">
                        <a:solidFill>
                          <a:schemeClr val="accent1">
                            <a:lumMod val="60000"/>
                            <a:lumOff val="40000"/>
                          </a:schemeClr>
                        </a:solidFill>
                      </a:endParaRPr>
                    </a:p>
                    <a:p>
                      <a:pPr marL="0" lvl="0" indent="0" algn="l" rtl="0">
                        <a:lnSpc>
                          <a:spcPct val="115000"/>
                        </a:lnSpc>
                        <a:spcBef>
                          <a:spcPts val="0"/>
                        </a:spcBef>
                        <a:spcAft>
                          <a:spcPts val="0"/>
                        </a:spcAft>
                        <a:buNone/>
                      </a:pPr>
                      <a:endParaRPr lang="en-US" sz="600" dirty="0">
                        <a:solidFill>
                          <a:schemeClr val="accent1">
                            <a:lumMod val="60000"/>
                            <a:lumOff val="40000"/>
                          </a:schemeClr>
                        </a:solidFill>
                      </a:endParaRPr>
                    </a:p>
                    <a:p>
                      <a:pPr marL="0" lvl="0" indent="0" algn="l" rtl="0">
                        <a:lnSpc>
                          <a:spcPct val="115000"/>
                        </a:lnSpc>
                        <a:spcBef>
                          <a:spcPts val="0"/>
                        </a:spcBef>
                        <a:spcAft>
                          <a:spcPts val="0"/>
                        </a:spcAft>
                        <a:buNone/>
                      </a:pPr>
                      <a:r>
                        <a:rPr lang="en-US" sz="600" dirty="0">
                          <a:solidFill>
                            <a:schemeClr val="accent1">
                              <a:lumMod val="60000"/>
                              <a:lumOff val="40000"/>
                            </a:schemeClr>
                          </a:solidFill>
                        </a:rPr>
                        <a:t>        public async Task&lt;string?&gt; </a:t>
                      </a:r>
                      <a:r>
                        <a:rPr lang="en-US" sz="600" dirty="0" err="1">
                          <a:solidFill>
                            <a:schemeClr val="accent1">
                              <a:lumMod val="60000"/>
                              <a:lumOff val="40000"/>
                            </a:schemeClr>
                          </a:solidFill>
                        </a:rPr>
                        <a:t>LoginAsync</a:t>
                      </a:r>
                      <a:r>
                        <a:rPr lang="en-US" sz="600" dirty="0">
                          <a:solidFill>
                            <a:schemeClr val="accent1">
                              <a:lumMod val="60000"/>
                              <a:lumOff val="40000"/>
                            </a:schemeClr>
                          </a:solidFill>
                        </a:rPr>
                        <a:t>(string </a:t>
                      </a:r>
                      <a:r>
                        <a:rPr lang="en-US" sz="600" dirty="0" err="1">
                          <a:solidFill>
                            <a:schemeClr val="accent1">
                              <a:lumMod val="60000"/>
                              <a:lumOff val="40000"/>
                            </a:schemeClr>
                          </a:solidFill>
                        </a:rPr>
                        <a:t>usuario</a:t>
                      </a:r>
                      <a:r>
                        <a:rPr lang="en-US" sz="600" dirty="0">
                          <a:solidFill>
                            <a:schemeClr val="accent1">
                              <a:lumMod val="60000"/>
                              <a:lumOff val="40000"/>
                            </a:schemeClr>
                          </a:solidFill>
                        </a:rPr>
                        <a:t>, string </a:t>
                      </a:r>
                      <a:r>
                        <a:rPr lang="en-US" sz="600" dirty="0" err="1">
                          <a:solidFill>
                            <a:schemeClr val="accent1">
                              <a:lumMod val="60000"/>
                              <a:lumOff val="40000"/>
                            </a:schemeClr>
                          </a:solidFill>
                        </a:rPr>
                        <a:t>contrasenia</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r>
                        <a:rPr lang="en-US" sz="600" dirty="0">
                          <a:solidFill>
                            <a:schemeClr val="accent1">
                              <a:lumMod val="60000"/>
                              <a:lumOff val="40000"/>
                            </a:schemeClr>
                          </a:solidFill>
                        </a:rPr>
                        <a:t>            try</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r>
                        <a:rPr lang="en-US" sz="600" dirty="0">
                          <a:solidFill>
                            <a:schemeClr val="accent1">
                              <a:lumMod val="60000"/>
                              <a:lumOff val="40000"/>
                            </a:schemeClr>
                          </a:solidFill>
                        </a:rPr>
                        <a:t>                var payload = new { </a:t>
                      </a:r>
                      <a:r>
                        <a:rPr lang="en-US" sz="600" dirty="0" err="1">
                          <a:solidFill>
                            <a:schemeClr val="accent1">
                              <a:lumMod val="60000"/>
                              <a:lumOff val="40000"/>
                            </a:schemeClr>
                          </a:solidFill>
                        </a:rPr>
                        <a:t>usuario</a:t>
                      </a:r>
                      <a:r>
                        <a:rPr lang="en-US" sz="600" dirty="0">
                          <a:solidFill>
                            <a:schemeClr val="accent1">
                              <a:lumMod val="60000"/>
                              <a:lumOff val="40000"/>
                            </a:schemeClr>
                          </a:solidFill>
                        </a:rPr>
                        <a:t>, </a:t>
                      </a:r>
                      <a:r>
                        <a:rPr lang="en-US" sz="600" dirty="0" err="1">
                          <a:solidFill>
                            <a:schemeClr val="accent1">
                              <a:lumMod val="60000"/>
                              <a:lumOff val="40000"/>
                            </a:schemeClr>
                          </a:solidFill>
                        </a:rPr>
                        <a:t>contrasenia</a:t>
                      </a: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r>
                        <a:rPr lang="en-US" sz="600" dirty="0">
                          <a:solidFill>
                            <a:schemeClr val="accent1">
                              <a:lumMod val="60000"/>
                              <a:lumOff val="40000"/>
                            </a:schemeClr>
                          </a:solidFill>
                        </a:rPr>
                        <a:t>                var </a:t>
                      </a:r>
                      <a:r>
                        <a:rPr lang="en-US" sz="600" dirty="0" err="1">
                          <a:solidFill>
                            <a:schemeClr val="accent1">
                              <a:lumMod val="60000"/>
                              <a:lumOff val="40000"/>
                            </a:schemeClr>
                          </a:solidFill>
                        </a:rPr>
                        <a:t>json</a:t>
                      </a:r>
                      <a:r>
                        <a:rPr lang="en-US" sz="600" dirty="0">
                          <a:solidFill>
                            <a:schemeClr val="accent1">
                              <a:lumMod val="60000"/>
                              <a:lumOff val="40000"/>
                            </a:schemeClr>
                          </a:solidFill>
                        </a:rPr>
                        <a:t> = </a:t>
                      </a:r>
                      <a:r>
                        <a:rPr lang="en-US" sz="600" dirty="0" err="1">
                          <a:solidFill>
                            <a:schemeClr val="accent1">
                              <a:lumMod val="60000"/>
                              <a:lumOff val="40000"/>
                            </a:schemeClr>
                          </a:solidFill>
                        </a:rPr>
                        <a:t>JsonSerializer.Serialize</a:t>
                      </a:r>
                      <a:r>
                        <a:rPr lang="en-US" sz="600" dirty="0">
                          <a:solidFill>
                            <a:schemeClr val="accent1">
                              <a:lumMod val="60000"/>
                              <a:lumOff val="40000"/>
                            </a:schemeClr>
                          </a:solidFill>
                        </a:rPr>
                        <a:t>(payload);</a:t>
                      </a:r>
                    </a:p>
                    <a:p>
                      <a:pPr marL="0" lvl="0" indent="0" algn="l" rtl="0">
                        <a:lnSpc>
                          <a:spcPct val="115000"/>
                        </a:lnSpc>
                        <a:spcBef>
                          <a:spcPts val="0"/>
                        </a:spcBef>
                        <a:spcAft>
                          <a:spcPts val="0"/>
                        </a:spcAft>
                        <a:buNone/>
                      </a:pPr>
                      <a:r>
                        <a:rPr lang="en-US" sz="600" dirty="0">
                          <a:solidFill>
                            <a:schemeClr val="accent1">
                              <a:lumMod val="60000"/>
                              <a:lumOff val="40000"/>
                            </a:schemeClr>
                          </a:solidFill>
                        </a:rPr>
                        <a:t>                using var content = new </a:t>
                      </a:r>
                      <a:r>
                        <a:rPr lang="en-US" sz="600" dirty="0" err="1">
                          <a:solidFill>
                            <a:schemeClr val="accent1">
                              <a:lumMod val="60000"/>
                              <a:lumOff val="40000"/>
                            </a:schemeClr>
                          </a:solidFill>
                        </a:rPr>
                        <a:t>StringContent</a:t>
                      </a:r>
                      <a:r>
                        <a:rPr lang="en-US" sz="600" dirty="0">
                          <a:solidFill>
                            <a:schemeClr val="accent1">
                              <a:lumMod val="60000"/>
                              <a:lumOff val="40000"/>
                            </a:schemeClr>
                          </a:solidFill>
                        </a:rPr>
                        <a:t>(</a:t>
                      </a:r>
                      <a:r>
                        <a:rPr lang="en-US" sz="600" dirty="0" err="1">
                          <a:solidFill>
                            <a:schemeClr val="accent1">
                              <a:lumMod val="60000"/>
                              <a:lumOff val="40000"/>
                            </a:schemeClr>
                          </a:solidFill>
                        </a:rPr>
                        <a:t>json</a:t>
                      </a:r>
                      <a:r>
                        <a:rPr lang="en-US" sz="600" dirty="0">
                          <a:solidFill>
                            <a:schemeClr val="accent1">
                              <a:lumMod val="60000"/>
                              <a:lumOff val="40000"/>
                            </a:schemeClr>
                          </a:solidFill>
                        </a:rPr>
                        <a:t>, Encoding.UTF8, "application/</a:t>
                      </a:r>
                      <a:r>
                        <a:rPr lang="en-US" sz="600" dirty="0" err="1">
                          <a:solidFill>
                            <a:schemeClr val="accent1">
                              <a:lumMod val="60000"/>
                              <a:lumOff val="40000"/>
                            </a:schemeClr>
                          </a:solidFill>
                        </a:rPr>
                        <a:t>json</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endParaRPr lang="en-US" sz="600" dirty="0">
                        <a:solidFill>
                          <a:schemeClr val="accent1">
                            <a:lumMod val="60000"/>
                            <a:lumOff val="40000"/>
                          </a:schemeClr>
                        </a:solidFill>
                      </a:endParaRPr>
                    </a:p>
                    <a:p>
                      <a:pPr marL="0" lvl="0" indent="0" algn="l" rtl="0">
                        <a:lnSpc>
                          <a:spcPct val="115000"/>
                        </a:lnSpc>
                        <a:spcBef>
                          <a:spcPts val="0"/>
                        </a:spcBef>
                        <a:spcAft>
                          <a:spcPts val="0"/>
                        </a:spcAft>
                        <a:buNone/>
                      </a:pPr>
                      <a:r>
                        <a:rPr lang="en-US" sz="600" dirty="0">
                          <a:solidFill>
                            <a:schemeClr val="accent1">
                              <a:lumMod val="60000"/>
                              <a:lumOff val="40000"/>
                            </a:schemeClr>
                          </a:solidFill>
                        </a:rPr>
                        <a:t>                var response = await </a:t>
                      </a:r>
                      <a:r>
                        <a:rPr lang="en-US" sz="600" dirty="0" err="1">
                          <a:solidFill>
                            <a:schemeClr val="accent1">
                              <a:lumMod val="60000"/>
                              <a:lumOff val="40000"/>
                            </a:schemeClr>
                          </a:solidFill>
                        </a:rPr>
                        <a:t>httpClient.PostAsync</a:t>
                      </a:r>
                      <a:r>
                        <a:rPr lang="en-US" sz="600" dirty="0">
                          <a:solidFill>
                            <a:schemeClr val="accent1">
                              <a:lumMod val="60000"/>
                              <a:lumOff val="40000"/>
                            </a:schemeClr>
                          </a:solidFill>
                        </a:rPr>
                        <a:t>($"{</a:t>
                      </a:r>
                      <a:r>
                        <a:rPr lang="en-US" sz="600" dirty="0" err="1">
                          <a:solidFill>
                            <a:schemeClr val="accent1">
                              <a:lumMod val="60000"/>
                              <a:lumOff val="40000"/>
                            </a:schemeClr>
                          </a:solidFill>
                        </a:rPr>
                        <a:t>BaseUrl</a:t>
                      </a:r>
                      <a:r>
                        <a:rPr lang="en-US" sz="600" dirty="0">
                          <a:solidFill>
                            <a:schemeClr val="accent1">
                              <a:lumMod val="60000"/>
                              <a:lumOff val="40000"/>
                            </a:schemeClr>
                          </a:solidFill>
                        </a:rPr>
                        <a:t>}/auth/login", content).</a:t>
                      </a:r>
                      <a:r>
                        <a:rPr lang="en-US" sz="600" dirty="0" err="1">
                          <a:solidFill>
                            <a:schemeClr val="accent1">
                              <a:lumMod val="60000"/>
                              <a:lumOff val="40000"/>
                            </a:schemeClr>
                          </a:solidFill>
                        </a:rPr>
                        <a:t>ConfigureAwait</a:t>
                      </a:r>
                      <a:r>
                        <a:rPr lang="en-US" sz="600" dirty="0">
                          <a:solidFill>
                            <a:schemeClr val="accent1">
                              <a:lumMod val="60000"/>
                              <a:lumOff val="40000"/>
                            </a:schemeClr>
                          </a:solidFill>
                        </a:rPr>
                        <a:t>(false);</a:t>
                      </a:r>
                    </a:p>
                    <a:p>
                      <a:pPr marL="0" lvl="0" indent="0" algn="l" rtl="0">
                        <a:lnSpc>
                          <a:spcPct val="115000"/>
                        </a:lnSpc>
                        <a:spcBef>
                          <a:spcPts val="0"/>
                        </a:spcBef>
                        <a:spcAft>
                          <a:spcPts val="0"/>
                        </a:spcAft>
                        <a:buNone/>
                      </a:pPr>
                      <a:r>
                        <a:rPr lang="en-US" sz="600" dirty="0">
                          <a:solidFill>
                            <a:schemeClr val="accent1">
                              <a:lumMod val="60000"/>
                              <a:lumOff val="40000"/>
                            </a:schemeClr>
                          </a:solidFill>
                        </a:rPr>
                        <a:t>                var </a:t>
                      </a:r>
                      <a:r>
                        <a:rPr lang="en-US" sz="600" dirty="0" err="1">
                          <a:solidFill>
                            <a:schemeClr val="accent1">
                              <a:lumMod val="60000"/>
                              <a:lumOff val="40000"/>
                            </a:schemeClr>
                          </a:solidFill>
                        </a:rPr>
                        <a:t>responseBody</a:t>
                      </a:r>
                      <a:r>
                        <a:rPr lang="en-US" sz="600" dirty="0">
                          <a:solidFill>
                            <a:schemeClr val="accent1">
                              <a:lumMod val="60000"/>
                              <a:lumOff val="40000"/>
                            </a:schemeClr>
                          </a:solidFill>
                        </a:rPr>
                        <a:t> = await </a:t>
                      </a:r>
                      <a:r>
                        <a:rPr lang="en-US" sz="600" dirty="0" err="1">
                          <a:solidFill>
                            <a:schemeClr val="accent1">
                              <a:lumMod val="60000"/>
                              <a:lumOff val="40000"/>
                            </a:schemeClr>
                          </a:solidFill>
                        </a:rPr>
                        <a:t>response.Content.ReadAsStringAsync</a:t>
                      </a:r>
                      <a:r>
                        <a:rPr lang="en-US" sz="600" dirty="0">
                          <a:solidFill>
                            <a:schemeClr val="accent1">
                              <a:lumMod val="60000"/>
                              <a:lumOff val="40000"/>
                            </a:schemeClr>
                          </a:solidFill>
                        </a:rPr>
                        <a:t>().</a:t>
                      </a:r>
                      <a:r>
                        <a:rPr lang="en-US" sz="600" dirty="0" err="1">
                          <a:solidFill>
                            <a:schemeClr val="accent1">
                              <a:lumMod val="60000"/>
                              <a:lumOff val="40000"/>
                            </a:schemeClr>
                          </a:solidFill>
                        </a:rPr>
                        <a:t>ConfigureAwait</a:t>
                      </a:r>
                      <a:r>
                        <a:rPr lang="en-US" sz="600" dirty="0">
                          <a:solidFill>
                            <a:schemeClr val="accent1">
                              <a:lumMod val="60000"/>
                              <a:lumOff val="40000"/>
                            </a:schemeClr>
                          </a:solidFill>
                        </a:rPr>
                        <a:t>(false);</a:t>
                      </a:r>
                    </a:p>
                    <a:p>
                      <a:pPr marL="0" lvl="0" indent="0" algn="l" rtl="0">
                        <a:lnSpc>
                          <a:spcPct val="115000"/>
                        </a:lnSpc>
                        <a:spcBef>
                          <a:spcPts val="0"/>
                        </a:spcBef>
                        <a:spcAft>
                          <a:spcPts val="0"/>
                        </a:spcAft>
                        <a:buNone/>
                      </a:pPr>
                      <a:endParaRPr lang="en-US" sz="600" dirty="0">
                        <a:solidFill>
                          <a:schemeClr val="accent1">
                            <a:lumMod val="60000"/>
                            <a:lumOff val="40000"/>
                          </a:schemeClr>
                        </a:solidFill>
                      </a:endParaRPr>
                    </a:p>
                    <a:p>
                      <a:pPr marL="0" lvl="0" indent="0" algn="l" rtl="0">
                        <a:lnSpc>
                          <a:spcPct val="115000"/>
                        </a:lnSpc>
                        <a:spcBef>
                          <a:spcPts val="0"/>
                        </a:spcBef>
                        <a:spcAft>
                          <a:spcPts val="0"/>
                        </a:spcAft>
                        <a:buNone/>
                      </a:pPr>
                      <a:r>
                        <a:rPr lang="en-US" sz="600" dirty="0">
                          <a:solidFill>
                            <a:schemeClr val="accent1">
                              <a:lumMod val="60000"/>
                              <a:lumOff val="40000"/>
                            </a:schemeClr>
                          </a:solidFill>
                        </a:rPr>
                        <a:t>                using var doc = </a:t>
                      </a:r>
                      <a:r>
                        <a:rPr lang="en-US" sz="600" dirty="0" err="1">
                          <a:solidFill>
                            <a:schemeClr val="accent1">
                              <a:lumMod val="60000"/>
                              <a:lumOff val="40000"/>
                            </a:schemeClr>
                          </a:solidFill>
                        </a:rPr>
                        <a:t>JsonDocument.Parse</a:t>
                      </a:r>
                      <a:r>
                        <a:rPr lang="en-US" sz="600" dirty="0">
                          <a:solidFill>
                            <a:schemeClr val="accent1">
                              <a:lumMod val="60000"/>
                              <a:lumOff val="40000"/>
                            </a:schemeClr>
                          </a:solidFill>
                        </a:rPr>
                        <a:t>(</a:t>
                      </a:r>
                      <a:r>
                        <a:rPr lang="en-US" sz="600" dirty="0" err="1">
                          <a:solidFill>
                            <a:schemeClr val="accent1">
                              <a:lumMod val="60000"/>
                              <a:lumOff val="40000"/>
                            </a:schemeClr>
                          </a:solidFill>
                        </a:rPr>
                        <a:t>responseBody</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r>
                        <a:rPr lang="en-US" sz="600" dirty="0">
                          <a:solidFill>
                            <a:schemeClr val="accent1">
                              <a:lumMod val="60000"/>
                              <a:lumOff val="40000"/>
                            </a:schemeClr>
                          </a:solidFill>
                        </a:rPr>
                        <a:t>                var root = </a:t>
                      </a:r>
                      <a:r>
                        <a:rPr lang="en-US" sz="600" dirty="0" err="1">
                          <a:solidFill>
                            <a:schemeClr val="accent1">
                              <a:lumMod val="60000"/>
                              <a:lumOff val="40000"/>
                            </a:schemeClr>
                          </a:solidFill>
                        </a:rPr>
                        <a:t>doc.RootElement</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endParaRPr lang="en-US" sz="600" dirty="0">
                        <a:solidFill>
                          <a:schemeClr val="accent1">
                            <a:lumMod val="60000"/>
                            <a:lumOff val="40000"/>
                          </a:schemeClr>
                        </a:solidFill>
                      </a:endParaRPr>
                    </a:p>
                    <a:p>
                      <a:pPr marL="0" lvl="0" indent="0" algn="l" rtl="0">
                        <a:lnSpc>
                          <a:spcPct val="115000"/>
                        </a:lnSpc>
                        <a:spcBef>
                          <a:spcPts val="0"/>
                        </a:spcBef>
                        <a:spcAft>
                          <a:spcPts val="0"/>
                        </a:spcAft>
                        <a:buNone/>
                      </a:pPr>
                      <a:r>
                        <a:rPr lang="en-US" sz="600" dirty="0">
                          <a:solidFill>
                            <a:schemeClr val="accent1">
                              <a:lumMod val="60000"/>
                              <a:lumOff val="40000"/>
                            </a:schemeClr>
                          </a:solidFill>
                        </a:rPr>
                        <a:t>                if (</a:t>
                      </a:r>
                      <a:r>
                        <a:rPr lang="en-US" sz="600" dirty="0" err="1">
                          <a:solidFill>
                            <a:schemeClr val="accent1">
                              <a:lumMod val="60000"/>
                              <a:lumOff val="40000"/>
                            </a:schemeClr>
                          </a:solidFill>
                        </a:rPr>
                        <a:t>root.TryGetProperty</a:t>
                      </a:r>
                      <a:r>
                        <a:rPr lang="en-US" sz="600" dirty="0">
                          <a:solidFill>
                            <a:schemeClr val="accent1">
                              <a:lumMod val="60000"/>
                              <a:lumOff val="40000"/>
                            </a:schemeClr>
                          </a:solidFill>
                        </a:rPr>
                        <a:t>("</a:t>
                      </a:r>
                      <a:r>
                        <a:rPr lang="en-US" sz="600" dirty="0" err="1">
                          <a:solidFill>
                            <a:schemeClr val="accent1">
                              <a:lumMod val="60000"/>
                              <a:lumOff val="40000"/>
                            </a:schemeClr>
                          </a:solidFill>
                        </a:rPr>
                        <a:t>exito</a:t>
                      </a:r>
                      <a:r>
                        <a:rPr lang="en-US" sz="600" dirty="0">
                          <a:solidFill>
                            <a:schemeClr val="accent1">
                              <a:lumMod val="60000"/>
                              <a:lumOff val="40000"/>
                            </a:schemeClr>
                          </a:solidFill>
                        </a:rPr>
                        <a:t>", out var </a:t>
                      </a:r>
                      <a:r>
                        <a:rPr lang="en-US" sz="600" dirty="0" err="1">
                          <a:solidFill>
                            <a:schemeClr val="accent1">
                              <a:lumMod val="60000"/>
                              <a:lumOff val="40000"/>
                            </a:schemeClr>
                          </a:solidFill>
                        </a:rPr>
                        <a:t>exitoProp</a:t>
                      </a:r>
                      <a:r>
                        <a:rPr lang="en-US" sz="600" dirty="0">
                          <a:solidFill>
                            <a:schemeClr val="accent1">
                              <a:lumMod val="60000"/>
                              <a:lumOff val="40000"/>
                            </a:schemeClr>
                          </a:solidFill>
                        </a:rPr>
                        <a:t>) &amp;&amp; </a:t>
                      </a:r>
                      <a:r>
                        <a:rPr lang="en-US" sz="600" dirty="0" err="1">
                          <a:solidFill>
                            <a:schemeClr val="accent1">
                              <a:lumMod val="60000"/>
                              <a:lumOff val="40000"/>
                            </a:schemeClr>
                          </a:solidFill>
                        </a:rPr>
                        <a:t>exitoProp.GetBoolean</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r>
                        <a:rPr lang="en-US" sz="600" dirty="0">
                          <a:solidFill>
                            <a:schemeClr val="accent1">
                              <a:lumMod val="60000"/>
                              <a:lumOff val="40000"/>
                            </a:schemeClr>
                          </a:solidFill>
                        </a:rPr>
                        <a:t>                    if (</a:t>
                      </a:r>
                      <a:r>
                        <a:rPr lang="en-US" sz="600" dirty="0" err="1">
                          <a:solidFill>
                            <a:schemeClr val="accent1">
                              <a:lumMod val="60000"/>
                              <a:lumOff val="40000"/>
                            </a:schemeClr>
                          </a:solidFill>
                        </a:rPr>
                        <a:t>root.TryGetProperty</a:t>
                      </a:r>
                      <a:r>
                        <a:rPr lang="en-US" sz="600" dirty="0">
                          <a:solidFill>
                            <a:schemeClr val="accent1">
                              <a:lumMod val="60000"/>
                              <a:lumOff val="40000"/>
                            </a:schemeClr>
                          </a:solidFill>
                        </a:rPr>
                        <a:t>("token", out var </a:t>
                      </a:r>
                      <a:r>
                        <a:rPr lang="en-US" sz="600" dirty="0" err="1">
                          <a:solidFill>
                            <a:schemeClr val="accent1">
                              <a:lumMod val="60000"/>
                              <a:lumOff val="40000"/>
                            </a:schemeClr>
                          </a:solidFill>
                        </a:rPr>
                        <a:t>tokenProp</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r>
                        <a:rPr lang="en-US" sz="600" dirty="0" err="1">
                          <a:solidFill>
                            <a:schemeClr val="accent1">
                              <a:lumMod val="60000"/>
                              <a:lumOff val="40000"/>
                            </a:schemeClr>
                          </a:solidFill>
                        </a:rPr>
                        <a:t>TokenSesion</a:t>
                      </a:r>
                      <a:r>
                        <a:rPr lang="en-US" sz="600" dirty="0">
                          <a:solidFill>
                            <a:schemeClr val="accent1">
                              <a:lumMod val="60000"/>
                              <a:lumOff val="40000"/>
                            </a:schemeClr>
                          </a:solidFill>
                        </a:rPr>
                        <a:t> = </a:t>
                      </a:r>
                      <a:r>
                        <a:rPr lang="en-US" sz="600" dirty="0" err="1">
                          <a:solidFill>
                            <a:schemeClr val="accent1">
                              <a:lumMod val="60000"/>
                              <a:lumOff val="40000"/>
                            </a:schemeClr>
                          </a:solidFill>
                        </a:rPr>
                        <a:t>tokenProp.GetString</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r>
                        <a:rPr lang="en-US" sz="600" dirty="0">
                          <a:solidFill>
                            <a:schemeClr val="accent1">
                              <a:lumMod val="60000"/>
                              <a:lumOff val="40000"/>
                            </a:schemeClr>
                          </a:solidFill>
                        </a:rPr>
                        <a:t>                        return </a:t>
                      </a:r>
                      <a:r>
                        <a:rPr lang="en-US" sz="600" dirty="0" err="1">
                          <a:solidFill>
                            <a:schemeClr val="accent1">
                              <a:lumMod val="60000"/>
                              <a:lumOff val="40000"/>
                            </a:schemeClr>
                          </a:solidFill>
                        </a:rPr>
                        <a:t>TokenSesion</a:t>
                      </a:r>
                      <a:r>
                        <a:rPr lang="en-US" sz="600" dirty="0">
                          <a:solidFill>
                            <a:schemeClr val="accent1">
                              <a:lumMod val="60000"/>
                              <a:lumOff val="40000"/>
                            </a:schemeClr>
                          </a:solidFill>
                        </a:rPr>
                        <a:t>;</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endParaRPr lang="en-US" sz="600" dirty="0">
                        <a:solidFill>
                          <a:schemeClr val="accent1">
                            <a:lumMod val="60000"/>
                            <a:lumOff val="40000"/>
                          </a:schemeClr>
                        </a:solidFill>
                      </a:endParaRPr>
                    </a:p>
                    <a:p>
                      <a:pPr marL="0" lvl="0" indent="0" algn="l" rtl="0">
                        <a:lnSpc>
                          <a:spcPct val="115000"/>
                        </a:lnSpc>
                        <a:spcBef>
                          <a:spcPts val="0"/>
                        </a:spcBef>
                        <a:spcAft>
                          <a:spcPts val="0"/>
                        </a:spcAft>
                        <a:buNone/>
                      </a:pPr>
                      <a:r>
                        <a:rPr lang="en-US" sz="600" dirty="0">
                          <a:solidFill>
                            <a:schemeClr val="accent1">
                              <a:lumMod val="60000"/>
                              <a:lumOff val="40000"/>
                            </a:schemeClr>
                          </a:solidFill>
                        </a:rPr>
                        <a:t>                return null;</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r>
                        <a:rPr lang="en-US" sz="600" dirty="0">
                          <a:solidFill>
                            <a:schemeClr val="accent1">
                              <a:lumMod val="60000"/>
                              <a:lumOff val="40000"/>
                            </a:schemeClr>
                          </a:solidFill>
                        </a:rPr>
                        <a:t>            catch (Exception ex)</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r>
                        <a:rPr lang="en-US" sz="600" dirty="0">
                          <a:solidFill>
                            <a:schemeClr val="accent1">
                              <a:lumMod val="60000"/>
                              <a:lumOff val="40000"/>
                            </a:schemeClr>
                          </a:solidFill>
                        </a:rPr>
                        <a:t>                throw new </a:t>
                      </a:r>
                      <a:r>
                        <a:rPr lang="en-US" sz="600" dirty="0" err="1">
                          <a:solidFill>
                            <a:schemeClr val="accent1">
                              <a:lumMod val="60000"/>
                              <a:lumOff val="40000"/>
                            </a:schemeClr>
                          </a:solidFill>
                        </a:rPr>
                        <a:t>InvalidOperationException</a:t>
                      </a:r>
                      <a:r>
                        <a:rPr lang="en-US" sz="600" dirty="0">
                          <a:solidFill>
                            <a:schemeClr val="accent1">
                              <a:lumMod val="60000"/>
                              <a:lumOff val="40000"/>
                            </a:schemeClr>
                          </a:solidFill>
                        </a:rPr>
                        <a:t>("Error </a:t>
                      </a:r>
                      <a:r>
                        <a:rPr lang="en-US" sz="600" dirty="0" err="1">
                          <a:solidFill>
                            <a:schemeClr val="accent1">
                              <a:lumMod val="60000"/>
                              <a:lumOff val="40000"/>
                            </a:schemeClr>
                          </a:solidFill>
                        </a:rPr>
                        <a:t>en</a:t>
                      </a:r>
                      <a:r>
                        <a:rPr lang="en-US" sz="600" dirty="0">
                          <a:solidFill>
                            <a:schemeClr val="accent1">
                              <a:lumMod val="60000"/>
                              <a:lumOff val="40000"/>
                            </a:schemeClr>
                          </a:solidFill>
                        </a:rPr>
                        <a:t> Login REST: " + </a:t>
                      </a:r>
                      <a:r>
                        <a:rPr lang="en-US" sz="600" dirty="0" err="1">
                          <a:solidFill>
                            <a:schemeClr val="accent1">
                              <a:lumMod val="60000"/>
                              <a:lumOff val="40000"/>
                            </a:schemeClr>
                          </a:solidFill>
                        </a:rPr>
                        <a:t>ex.Message</a:t>
                      </a:r>
                      <a:r>
                        <a:rPr lang="en-US" sz="600" dirty="0">
                          <a:solidFill>
                            <a:schemeClr val="accent1">
                              <a:lumMod val="60000"/>
                              <a:lumOff val="40000"/>
                            </a:schemeClr>
                          </a:solidFill>
                        </a:rPr>
                        <a:t>, ex);</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r>
                        <a:rPr lang="en-US" sz="600" dirty="0">
                          <a:solidFill>
                            <a:schemeClr val="accent1">
                              <a:lumMod val="60000"/>
                              <a:lumOff val="40000"/>
                            </a:schemeClr>
                          </a:solidFill>
                        </a:rPr>
                        <a:t>        }</a:t>
                      </a:r>
                    </a:p>
                    <a:p>
                      <a:pPr marL="0" lvl="0" indent="0" algn="l" rtl="0">
                        <a:lnSpc>
                          <a:spcPct val="115000"/>
                        </a:lnSpc>
                        <a:spcBef>
                          <a:spcPts val="0"/>
                        </a:spcBef>
                        <a:spcAft>
                          <a:spcPts val="0"/>
                        </a:spcAft>
                        <a:buNone/>
                      </a:pPr>
                      <a:r>
                        <a:rPr lang="en-US" sz="600" dirty="0">
                          <a:solidFill>
                            <a:schemeClr val="accent1">
                              <a:lumMod val="60000"/>
                              <a:lumOff val="40000"/>
                            </a:schemeClr>
                          </a:solidFill>
                        </a:rPr>
                        <a:t>}</a:t>
                      </a:r>
                      <a:endParaRPr sz="600" dirty="0">
                        <a:solidFill>
                          <a:schemeClr val="accent1">
                            <a:lumMod val="60000"/>
                            <a:lumOff val="40000"/>
                          </a:schemeClr>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150CFA25-58AB-AD16-B9D0-23115E362D80}"/>
              </a:ext>
            </a:extLst>
          </p:cNvPr>
          <p:cNvSpPr txBox="1">
            <a:spLocks/>
          </p:cNvSpPr>
          <p:nvPr/>
        </p:nvSpPr>
        <p:spPr>
          <a:xfrm>
            <a:off x="200438" y="3188811"/>
            <a:ext cx="2132400" cy="3273936"/>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extLst>
      <p:ext uri="{BB962C8B-B14F-4D97-AF65-F5344CB8AC3E}">
        <p14:creationId xmlns:p14="http://schemas.microsoft.com/office/powerpoint/2010/main" val="11049908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53" name="Google Shape;553;p6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55" name="Google Shape;555;p68"/>
          <p:cNvGraphicFramePr/>
          <p:nvPr>
            <p:extLst>
              <p:ext uri="{D42A27DB-BD31-4B8C-83A1-F6EECF244321}">
                <p14:modId xmlns:p14="http://schemas.microsoft.com/office/powerpoint/2010/main" val="2913912582"/>
              </p:ext>
            </p:extLst>
          </p:nvPr>
        </p:nvGraphicFramePr>
        <p:xfrm>
          <a:off x="2332838" y="2136238"/>
          <a:ext cx="6484300" cy="4332288"/>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0">
                <a:tc>
                  <a:txBody>
                    <a:bodyPr/>
                    <a:lstStyle/>
                    <a:p>
                      <a:pPr marL="0" lvl="0" indent="0" algn="l" rtl="0">
                        <a:lnSpc>
                          <a:spcPct val="115000"/>
                        </a:lnSpc>
                        <a:spcBef>
                          <a:spcPts val="0"/>
                        </a:spcBef>
                        <a:spcAft>
                          <a:spcPts val="0"/>
                        </a:spcAft>
                        <a:buNone/>
                      </a:pPr>
                      <a:r>
                        <a:rPr lang="en-US" sz="650" dirty="0">
                          <a:solidFill>
                            <a:schemeClr val="accent1">
                              <a:lumMod val="60000"/>
                              <a:lumOff val="40000"/>
                            </a:schemeClr>
                          </a:solidFill>
                        </a:rPr>
                        <a:t>        private async void </a:t>
                      </a:r>
                      <a:r>
                        <a:rPr lang="en-US" sz="650" dirty="0" err="1">
                          <a:solidFill>
                            <a:schemeClr val="accent1">
                              <a:lumMod val="60000"/>
                              <a:lumOff val="40000"/>
                            </a:schemeClr>
                          </a:solidFill>
                        </a:rPr>
                        <a:t>btnIngresar_Click</a:t>
                      </a:r>
                      <a:r>
                        <a:rPr lang="en-US" sz="650" dirty="0">
                          <a:solidFill>
                            <a:schemeClr val="accent1">
                              <a:lumMod val="60000"/>
                              <a:lumOff val="40000"/>
                            </a:schemeClr>
                          </a:solidFill>
                        </a:rPr>
                        <a:t>(object? sender, EventArgs e)</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p>
                    <a:p>
                      <a:pPr marL="0" lvl="0" indent="0" algn="l" rtl="0">
                        <a:lnSpc>
                          <a:spcPct val="115000"/>
                        </a:lnSpc>
                        <a:spcBef>
                          <a:spcPts val="0"/>
                        </a:spcBef>
                        <a:spcAft>
                          <a:spcPts val="0"/>
                        </a:spcAft>
                        <a:buNone/>
                      </a:pPr>
                      <a:r>
                        <a:rPr lang="en-US" sz="650" dirty="0">
                          <a:solidFill>
                            <a:schemeClr val="accent1">
                              <a:lumMod val="60000"/>
                              <a:lumOff val="40000"/>
                            </a:schemeClr>
                          </a:solidFill>
                        </a:rPr>
                        <a:t>            string user = </a:t>
                      </a:r>
                      <a:r>
                        <a:rPr lang="en-US" sz="650" dirty="0" err="1">
                          <a:solidFill>
                            <a:schemeClr val="accent1">
                              <a:lumMod val="60000"/>
                              <a:lumOff val="40000"/>
                            </a:schemeClr>
                          </a:solidFill>
                        </a:rPr>
                        <a:t>txtUsuario.Text</a:t>
                      </a:r>
                      <a:r>
                        <a:rPr lang="en-US" sz="650" dirty="0">
                          <a:solidFill>
                            <a:schemeClr val="accent1">
                              <a:lumMod val="60000"/>
                              <a:lumOff val="40000"/>
                            </a:schemeClr>
                          </a:solidFill>
                        </a:rPr>
                        <a:t> != null ? </a:t>
                      </a:r>
                      <a:r>
                        <a:rPr lang="en-US" sz="650" dirty="0" err="1">
                          <a:solidFill>
                            <a:schemeClr val="accent1">
                              <a:lumMod val="60000"/>
                              <a:lumOff val="40000"/>
                            </a:schemeClr>
                          </a:solidFill>
                        </a:rPr>
                        <a:t>txtUsuario.Text.Trim</a:t>
                      </a:r>
                      <a:r>
                        <a:rPr lang="en-US" sz="650" dirty="0">
                          <a:solidFill>
                            <a:schemeClr val="accent1">
                              <a:lumMod val="60000"/>
                              <a:lumOff val="40000"/>
                            </a:schemeClr>
                          </a:solidFill>
                        </a:rPr>
                        <a:t>() : "";</a:t>
                      </a:r>
                    </a:p>
                    <a:p>
                      <a:pPr marL="0" lvl="0" indent="0" algn="l" rtl="0">
                        <a:lnSpc>
                          <a:spcPct val="115000"/>
                        </a:lnSpc>
                        <a:spcBef>
                          <a:spcPts val="0"/>
                        </a:spcBef>
                        <a:spcAft>
                          <a:spcPts val="0"/>
                        </a:spcAft>
                        <a:buNone/>
                      </a:pPr>
                      <a:r>
                        <a:rPr lang="en-US" sz="650" dirty="0">
                          <a:solidFill>
                            <a:schemeClr val="accent1">
                              <a:lumMod val="60000"/>
                              <a:lumOff val="40000"/>
                            </a:schemeClr>
                          </a:solidFill>
                        </a:rPr>
                        <a:t>            string pass = </a:t>
                      </a:r>
                      <a:r>
                        <a:rPr lang="en-US" sz="650" dirty="0" err="1">
                          <a:solidFill>
                            <a:schemeClr val="accent1">
                              <a:lumMod val="60000"/>
                              <a:lumOff val="40000"/>
                            </a:schemeClr>
                          </a:solidFill>
                        </a:rPr>
                        <a:t>txtPassword.Text</a:t>
                      </a:r>
                      <a:r>
                        <a:rPr lang="en-US" sz="650" dirty="0">
                          <a:solidFill>
                            <a:schemeClr val="accent1">
                              <a:lumMod val="60000"/>
                              <a:lumOff val="40000"/>
                            </a:schemeClr>
                          </a:solidFill>
                        </a:rPr>
                        <a:t> != null ? </a:t>
                      </a:r>
                      <a:r>
                        <a:rPr lang="en-US" sz="650" dirty="0" err="1">
                          <a:solidFill>
                            <a:schemeClr val="accent1">
                              <a:lumMod val="60000"/>
                              <a:lumOff val="40000"/>
                            </a:schemeClr>
                          </a:solidFill>
                        </a:rPr>
                        <a:t>txtPassword.Text</a:t>
                      </a:r>
                      <a:r>
                        <a:rPr lang="en-US" sz="650" dirty="0">
                          <a:solidFill>
                            <a:schemeClr val="accent1">
                              <a:lumMod val="60000"/>
                              <a:lumOff val="40000"/>
                            </a:schemeClr>
                          </a:solidFill>
                        </a:rPr>
                        <a:t> : "";</a:t>
                      </a:r>
                    </a:p>
                    <a:p>
                      <a:pPr marL="0" lvl="0" indent="0" algn="l" rtl="0">
                        <a:lnSpc>
                          <a:spcPct val="115000"/>
                        </a:lnSpc>
                        <a:spcBef>
                          <a:spcPts val="0"/>
                        </a:spcBef>
                        <a:spcAft>
                          <a:spcPts val="0"/>
                        </a:spcAft>
                        <a:buNone/>
                      </a:pPr>
                      <a:endParaRPr lang="en-US" sz="650" dirty="0">
                        <a:solidFill>
                          <a:schemeClr val="accent1">
                            <a:lumMod val="60000"/>
                            <a:lumOff val="40000"/>
                          </a:schemeClr>
                        </a:solidFill>
                      </a:endParaRPr>
                    </a:p>
                    <a:p>
                      <a:pPr marL="0" lvl="0" indent="0" algn="l" rtl="0">
                        <a:lnSpc>
                          <a:spcPct val="115000"/>
                        </a:lnSpc>
                        <a:spcBef>
                          <a:spcPts val="0"/>
                        </a:spcBef>
                        <a:spcAft>
                          <a:spcPts val="0"/>
                        </a:spcAft>
                        <a:buNone/>
                      </a:pPr>
                      <a:r>
                        <a:rPr lang="en-US" sz="650" dirty="0">
                          <a:solidFill>
                            <a:schemeClr val="accent1">
                              <a:lumMod val="60000"/>
                              <a:lumOff val="40000"/>
                            </a:schemeClr>
                          </a:solidFill>
                        </a:rPr>
                        <a:t>            if (</a:t>
                      </a:r>
                      <a:r>
                        <a:rPr lang="en-US" sz="650" dirty="0" err="1">
                          <a:solidFill>
                            <a:schemeClr val="accent1">
                              <a:lumMod val="60000"/>
                              <a:lumOff val="40000"/>
                            </a:schemeClr>
                          </a:solidFill>
                        </a:rPr>
                        <a:t>string.IsNullOrEmpty</a:t>
                      </a:r>
                      <a:r>
                        <a:rPr lang="en-US" sz="650" dirty="0">
                          <a:solidFill>
                            <a:schemeClr val="accent1">
                              <a:lumMod val="60000"/>
                              <a:lumOff val="40000"/>
                            </a:schemeClr>
                          </a:solidFill>
                        </a:rPr>
                        <a:t>(user) || </a:t>
                      </a:r>
                      <a:r>
                        <a:rPr lang="en-US" sz="650" dirty="0" err="1">
                          <a:solidFill>
                            <a:schemeClr val="accent1">
                              <a:lumMod val="60000"/>
                              <a:lumOff val="40000"/>
                            </a:schemeClr>
                          </a:solidFill>
                        </a:rPr>
                        <a:t>string.IsNullOrEmpty</a:t>
                      </a:r>
                      <a:r>
                        <a:rPr lang="en-US" sz="650" dirty="0">
                          <a:solidFill>
                            <a:schemeClr val="accent1">
                              <a:lumMod val="60000"/>
                              <a:lumOff val="40000"/>
                            </a:schemeClr>
                          </a:solidFill>
                        </a:rPr>
                        <a:t>(pass))</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MessageBox.Show</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"Por favor escribe el </a:t>
                      </a:r>
                      <a:r>
                        <a:rPr lang="en-US" sz="650" dirty="0" err="1">
                          <a:solidFill>
                            <a:schemeClr val="accent1">
                              <a:lumMod val="60000"/>
                              <a:lumOff val="40000"/>
                            </a:schemeClr>
                          </a:solidFill>
                        </a:rPr>
                        <a:t>usuario</a:t>
                      </a:r>
                      <a:r>
                        <a:rPr lang="en-US" sz="650" dirty="0">
                          <a:solidFill>
                            <a:schemeClr val="accent1">
                              <a:lumMod val="60000"/>
                              <a:lumOff val="40000"/>
                            </a:schemeClr>
                          </a:solidFill>
                        </a:rPr>
                        <a:t> y la </a:t>
                      </a:r>
                      <a:r>
                        <a:rPr lang="en-US" sz="650" dirty="0" err="1">
                          <a:solidFill>
                            <a:schemeClr val="accent1">
                              <a:lumMod val="60000"/>
                              <a:lumOff val="40000"/>
                            </a:schemeClr>
                          </a:solidFill>
                        </a:rPr>
                        <a:t>contraseña</a:t>
                      </a:r>
                      <a:r>
                        <a:rPr lang="en-US" sz="650" dirty="0">
                          <a:solidFill>
                            <a:schemeClr val="accent1">
                              <a:lumMod val="60000"/>
                              <a:lumOff val="40000"/>
                            </a:schemeClr>
                          </a:solidFill>
                        </a:rPr>
                        <a:t> para </a:t>
                      </a:r>
                      <a:r>
                        <a:rPr lang="en-US" sz="650" dirty="0" err="1">
                          <a:solidFill>
                            <a:schemeClr val="accent1">
                              <a:lumMod val="60000"/>
                              <a:lumOff val="40000"/>
                            </a:schemeClr>
                          </a:solidFill>
                        </a:rPr>
                        <a:t>continuar</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"Campos </a:t>
                      </a:r>
                      <a:r>
                        <a:rPr lang="en-US" sz="650" dirty="0" err="1">
                          <a:solidFill>
                            <a:schemeClr val="accent1">
                              <a:lumMod val="60000"/>
                              <a:lumOff val="40000"/>
                            </a:schemeClr>
                          </a:solidFill>
                        </a:rPr>
                        <a:t>Requeridos</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MessageBoxButtons.OK</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MessageBoxIcon.Warning</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return;</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p>
                    <a:p>
                      <a:pPr marL="0" lvl="0" indent="0" algn="l" rtl="0">
                        <a:lnSpc>
                          <a:spcPct val="115000"/>
                        </a:lnSpc>
                        <a:spcBef>
                          <a:spcPts val="0"/>
                        </a:spcBef>
                        <a:spcAft>
                          <a:spcPts val="0"/>
                        </a:spcAft>
                        <a:buNone/>
                      </a:pPr>
                      <a:endParaRPr lang="en-US" sz="650" dirty="0">
                        <a:solidFill>
                          <a:schemeClr val="accent1">
                            <a:lumMod val="60000"/>
                            <a:lumOff val="40000"/>
                          </a:schemeClr>
                        </a:solidFill>
                      </a:endParaRP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btnIngresar.Enabled</a:t>
                      </a:r>
                      <a:r>
                        <a:rPr lang="en-US" sz="650" dirty="0">
                          <a:solidFill>
                            <a:schemeClr val="accent1">
                              <a:lumMod val="60000"/>
                              <a:lumOff val="40000"/>
                            </a:schemeClr>
                          </a:solidFill>
                        </a:rPr>
                        <a:t> = false;</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btnLimpiar.Enabled</a:t>
                      </a:r>
                      <a:r>
                        <a:rPr lang="en-US" sz="650" dirty="0">
                          <a:solidFill>
                            <a:schemeClr val="accent1">
                              <a:lumMod val="60000"/>
                              <a:lumOff val="40000"/>
                            </a:schemeClr>
                          </a:solidFill>
                        </a:rPr>
                        <a:t> = false;</a:t>
                      </a:r>
                    </a:p>
                    <a:p>
                      <a:pPr marL="0" lvl="0" indent="0" algn="l" rtl="0">
                        <a:lnSpc>
                          <a:spcPct val="115000"/>
                        </a:lnSpc>
                        <a:spcBef>
                          <a:spcPts val="0"/>
                        </a:spcBef>
                        <a:spcAft>
                          <a:spcPts val="0"/>
                        </a:spcAft>
                        <a:buNone/>
                      </a:pPr>
                      <a:r>
                        <a:rPr lang="en-US" sz="650" dirty="0">
                          <a:solidFill>
                            <a:schemeClr val="accent1">
                              <a:lumMod val="60000"/>
                              <a:lumOff val="40000"/>
                            </a:schemeClr>
                          </a:solidFill>
                        </a:rPr>
                        <a:t>            Cursor = </a:t>
                      </a:r>
                      <a:r>
                        <a:rPr lang="en-US" sz="650" dirty="0" err="1">
                          <a:solidFill>
                            <a:schemeClr val="accent1">
                              <a:lumMod val="60000"/>
                              <a:lumOff val="40000"/>
                            </a:schemeClr>
                          </a:solidFill>
                        </a:rPr>
                        <a:t>Cursors.WaitCursor</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endParaRPr lang="en-US" sz="650" dirty="0">
                        <a:solidFill>
                          <a:schemeClr val="accent1">
                            <a:lumMod val="60000"/>
                            <a:lumOff val="40000"/>
                          </a:schemeClr>
                        </a:solidFill>
                      </a:endParaRPr>
                    </a:p>
                    <a:p>
                      <a:pPr marL="0" lvl="0" indent="0" algn="l" rtl="0">
                        <a:lnSpc>
                          <a:spcPct val="115000"/>
                        </a:lnSpc>
                        <a:spcBef>
                          <a:spcPts val="0"/>
                        </a:spcBef>
                        <a:spcAft>
                          <a:spcPts val="0"/>
                        </a:spcAft>
                        <a:buNone/>
                      </a:pPr>
                      <a:r>
                        <a:rPr lang="en-US" sz="650" dirty="0">
                          <a:solidFill>
                            <a:schemeClr val="accent1">
                              <a:lumMod val="60000"/>
                              <a:lumOff val="40000"/>
                            </a:schemeClr>
                          </a:solidFill>
                        </a:rPr>
                        <a:t>            try</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AppControlador</a:t>
                      </a:r>
                      <a:r>
                        <a:rPr lang="en-US" sz="650" dirty="0">
                          <a:solidFill>
                            <a:schemeClr val="accent1">
                              <a:lumMod val="60000"/>
                              <a:lumOff val="40000"/>
                            </a:schemeClr>
                          </a:solidFill>
                        </a:rPr>
                        <a:t> control = new </a:t>
                      </a:r>
                      <a:r>
                        <a:rPr lang="en-US" sz="650" dirty="0" err="1">
                          <a:solidFill>
                            <a:schemeClr val="accent1">
                              <a:lumMod val="60000"/>
                              <a:lumOff val="40000"/>
                            </a:schemeClr>
                          </a:solidFill>
                        </a:rPr>
                        <a:t>AppControlador</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string? token = await </a:t>
                      </a:r>
                      <a:r>
                        <a:rPr lang="en-US" sz="650" dirty="0" err="1">
                          <a:solidFill>
                            <a:schemeClr val="accent1">
                              <a:lumMod val="60000"/>
                              <a:lumOff val="40000"/>
                            </a:schemeClr>
                          </a:solidFill>
                        </a:rPr>
                        <a:t>Task.Run</a:t>
                      </a:r>
                      <a:r>
                        <a:rPr lang="en-US" sz="650" dirty="0">
                          <a:solidFill>
                            <a:schemeClr val="accent1">
                              <a:lumMod val="60000"/>
                              <a:lumOff val="40000"/>
                            </a:schemeClr>
                          </a:solidFill>
                        </a:rPr>
                        <a:t>(() =&gt; </a:t>
                      </a:r>
                      <a:r>
                        <a:rPr lang="en-US" sz="650" dirty="0" err="1">
                          <a:solidFill>
                            <a:schemeClr val="accent1">
                              <a:lumMod val="60000"/>
                              <a:lumOff val="40000"/>
                            </a:schemeClr>
                          </a:solidFill>
                        </a:rPr>
                        <a:t>control.Login</a:t>
                      </a:r>
                      <a:r>
                        <a:rPr lang="en-US" sz="650" dirty="0">
                          <a:solidFill>
                            <a:schemeClr val="accent1">
                              <a:lumMod val="60000"/>
                              <a:lumOff val="40000"/>
                            </a:schemeClr>
                          </a:solidFill>
                        </a:rPr>
                        <a:t>(user, pass));</a:t>
                      </a:r>
                    </a:p>
                    <a:p>
                      <a:pPr marL="0" lvl="0" indent="0" algn="l" rtl="0">
                        <a:lnSpc>
                          <a:spcPct val="115000"/>
                        </a:lnSpc>
                        <a:spcBef>
                          <a:spcPts val="0"/>
                        </a:spcBef>
                        <a:spcAft>
                          <a:spcPts val="0"/>
                        </a:spcAft>
                        <a:buNone/>
                      </a:pPr>
                      <a:endParaRPr lang="en-US" sz="650" dirty="0">
                        <a:solidFill>
                          <a:schemeClr val="accent1">
                            <a:lumMod val="60000"/>
                            <a:lumOff val="40000"/>
                          </a:schemeClr>
                        </a:solidFill>
                      </a:endParaRPr>
                    </a:p>
                    <a:p>
                      <a:pPr marL="0" lvl="0" indent="0" algn="l" rtl="0">
                        <a:lnSpc>
                          <a:spcPct val="115000"/>
                        </a:lnSpc>
                        <a:spcBef>
                          <a:spcPts val="0"/>
                        </a:spcBef>
                        <a:spcAft>
                          <a:spcPts val="0"/>
                        </a:spcAft>
                        <a:buNone/>
                      </a:pPr>
                      <a:r>
                        <a:rPr lang="en-US" sz="650" dirty="0">
                          <a:solidFill>
                            <a:schemeClr val="accent1">
                              <a:lumMod val="60000"/>
                              <a:lumOff val="40000"/>
                            </a:schemeClr>
                          </a:solidFill>
                        </a:rPr>
                        <a:t>                if (!</a:t>
                      </a:r>
                      <a:r>
                        <a:rPr lang="en-US" sz="650" dirty="0" err="1">
                          <a:solidFill>
                            <a:schemeClr val="accent1">
                              <a:lumMod val="60000"/>
                              <a:lumOff val="40000"/>
                            </a:schemeClr>
                          </a:solidFill>
                        </a:rPr>
                        <a:t>string.IsNullOrWhiteSpace</a:t>
                      </a:r>
                      <a:r>
                        <a:rPr lang="en-US" sz="650" dirty="0">
                          <a:solidFill>
                            <a:schemeClr val="accent1">
                              <a:lumMod val="60000"/>
                              <a:lumOff val="40000"/>
                            </a:schemeClr>
                          </a:solidFill>
                        </a:rPr>
                        <a:t>(token))</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MessageBox.Show</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$"¡Bienvenido, {user}!\</a:t>
                      </a:r>
                      <a:r>
                        <a:rPr lang="en-US" sz="650" dirty="0" err="1">
                          <a:solidFill>
                            <a:schemeClr val="accent1">
                              <a:lumMod val="60000"/>
                              <a:lumOff val="40000"/>
                            </a:schemeClr>
                          </a:solidFill>
                        </a:rPr>
                        <a:t>nInicio</a:t>
                      </a:r>
                      <a:r>
                        <a:rPr lang="en-US" sz="650" dirty="0">
                          <a:solidFill>
                            <a:schemeClr val="accent1">
                              <a:lumMod val="60000"/>
                              <a:lumOff val="40000"/>
                            </a:schemeClr>
                          </a:solidFill>
                        </a:rPr>
                        <a:t> de </a:t>
                      </a:r>
                      <a:r>
                        <a:rPr lang="en-US" sz="650" dirty="0" err="1">
                          <a:solidFill>
                            <a:schemeClr val="accent1">
                              <a:lumMod val="60000"/>
                              <a:lumOff val="40000"/>
                            </a:schemeClr>
                          </a:solidFill>
                        </a:rPr>
                        <a:t>sesión</a:t>
                      </a:r>
                      <a:r>
                        <a:rPr lang="en-US" sz="650" dirty="0">
                          <a:solidFill>
                            <a:schemeClr val="accent1">
                              <a:lumMod val="60000"/>
                              <a:lumOff val="40000"/>
                            </a:schemeClr>
                          </a:solidFill>
                        </a:rPr>
                        <a:t> RESTful </a:t>
                      </a:r>
                      <a:r>
                        <a:rPr lang="en-US" sz="650" dirty="0" err="1">
                          <a:solidFill>
                            <a:schemeClr val="accent1">
                              <a:lumMod val="60000"/>
                              <a:lumOff val="40000"/>
                            </a:schemeClr>
                          </a:solidFill>
                        </a:rPr>
                        <a:t>exitoso</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Acceso</a:t>
                      </a:r>
                      <a:r>
                        <a:rPr lang="en-US" sz="650" dirty="0">
                          <a:solidFill>
                            <a:schemeClr val="accent1">
                              <a:lumMod val="60000"/>
                              <a:lumOff val="40000"/>
                            </a:schemeClr>
                          </a:solidFill>
                        </a:rPr>
                        <a:t> </a:t>
                      </a:r>
                      <a:r>
                        <a:rPr lang="en-US" sz="650" dirty="0" err="1">
                          <a:solidFill>
                            <a:schemeClr val="accent1">
                              <a:lumMod val="60000"/>
                              <a:lumOff val="40000"/>
                            </a:schemeClr>
                          </a:solidFill>
                        </a:rPr>
                        <a:t>Concedido</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MessageBoxButtons.OK</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MessageBoxIcon.Information</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endParaRPr lang="en-US" sz="650" dirty="0">
                        <a:solidFill>
                          <a:schemeClr val="accent1">
                            <a:lumMod val="60000"/>
                            <a:lumOff val="40000"/>
                          </a:schemeClr>
                        </a:solidFill>
                      </a:endParaRP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ConversorView</a:t>
                      </a:r>
                      <a:r>
                        <a:rPr lang="en-US" sz="650" dirty="0">
                          <a:solidFill>
                            <a:schemeClr val="accent1">
                              <a:lumMod val="60000"/>
                              <a:lumOff val="40000"/>
                            </a:schemeClr>
                          </a:solidFill>
                        </a:rPr>
                        <a:t> </a:t>
                      </a:r>
                      <a:r>
                        <a:rPr lang="en-US" sz="650" dirty="0" err="1">
                          <a:solidFill>
                            <a:schemeClr val="accent1">
                              <a:lumMod val="60000"/>
                              <a:lumOff val="40000"/>
                            </a:schemeClr>
                          </a:solidFill>
                        </a:rPr>
                        <a:t>vistaPrincipal</a:t>
                      </a:r>
                      <a:r>
                        <a:rPr lang="en-US" sz="650" dirty="0">
                          <a:solidFill>
                            <a:schemeClr val="accent1">
                              <a:lumMod val="60000"/>
                              <a:lumOff val="40000"/>
                            </a:schemeClr>
                          </a:solidFill>
                        </a:rPr>
                        <a:t> = new </a:t>
                      </a:r>
                      <a:r>
                        <a:rPr lang="en-US" sz="650" dirty="0" err="1">
                          <a:solidFill>
                            <a:schemeClr val="accent1">
                              <a:lumMod val="60000"/>
                              <a:lumOff val="40000"/>
                            </a:schemeClr>
                          </a:solidFill>
                        </a:rPr>
                        <a:t>ConversorView</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vistaPrincipal.Show</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r>
                        <a:rPr lang="en-US" sz="650" dirty="0" err="1">
                          <a:solidFill>
                            <a:schemeClr val="accent1">
                              <a:lumMod val="60000"/>
                              <a:lumOff val="40000"/>
                            </a:schemeClr>
                          </a:solidFill>
                        </a:rPr>
                        <a:t>this.Hide</a:t>
                      </a:r>
                      <a:r>
                        <a:rPr lang="en-US" sz="650" dirty="0">
                          <a:solidFill>
                            <a:schemeClr val="accent1">
                              <a:lumMod val="60000"/>
                              <a:lumOff val="40000"/>
                            </a:schemeClr>
                          </a:solidFill>
                        </a:rPr>
                        <a:t>();</a:t>
                      </a:r>
                    </a:p>
                    <a:p>
                      <a:pPr marL="0" lvl="0" indent="0" algn="l" rtl="0">
                        <a:lnSpc>
                          <a:spcPct val="115000"/>
                        </a:lnSpc>
                        <a:spcBef>
                          <a:spcPts val="0"/>
                        </a:spcBef>
                        <a:spcAft>
                          <a:spcPts val="0"/>
                        </a:spcAft>
                        <a:buNone/>
                      </a:pPr>
                      <a:r>
                        <a:rPr lang="en-US" sz="650" dirty="0">
                          <a:solidFill>
                            <a:schemeClr val="accent1">
                              <a:lumMod val="60000"/>
                              <a:lumOff val="40000"/>
                            </a:schemeClr>
                          </a:solidFill>
                        </a:rPr>
                        <a:t>                }</a:t>
                      </a:r>
                    </a:p>
                    <a:p>
                      <a:pPr marL="0" lvl="0" indent="0" algn="l" rtl="0">
                        <a:lnSpc>
                          <a:spcPct val="115000"/>
                        </a:lnSpc>
                        <a:spcBef>
                          <a:spcPts val="0"/>
                        </a:spcBef>
                        <a:spcAft>
                          <a:spcPts val="0"/>
                        </a:spcAft>
                        <a:buNone/>
                      </a:pPr>
                      <a:r>
                        <a:rPr lang="en-US" sz="650" dirty="0">
                          <a:solidFill>
                            <a:schemeClr val="accent1">
                              <a:lumMod val="60000"/>
                              <a:lumOff val="40000"/>
                            </a:schemeClr>
                          </a:solidFill>
                        </a:rPr>
                        <a:t>    // ...</a:t>
                      </a:r>
                      <a:endParaRPr sz="650" dirty="0">
                        <a:solidFill>
                          <a:schemeClr val="accent1">
                            <a:lumMod val="60000"/>
                            <a:lumOff val="40000"/>
                          </a:schemeClr>
                        </a:solidFill>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865212B4-9CE0-33E5-8AFE-955289E05B44}"/>
              </a:ext>
            </a:extLst>
          </p:cNvPr>
          <p:cNvSpPr txBox="1">
            <a:spLocks/>
          </p:cNvSpPr>
          <p:nvPr/>
        </p:nvSpPr>
        <p:spPr>
          <a:xfrm>
            <a:off x="200438" y="2657133"/>
            <a:ext cx="2132400" cy="3273936"/>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extLst>
      <p:ext uri="{BB962C8B-B14F-4D97-AF65-F5344CB8AC3E}">
        <p14:creationId xmlns:p14="http://schemas.microsoft.com/office/powerpoint/2010/main" val="6906183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563" name="Google Shape;563;p69"/>
          <p:cNvGraphicFramePr/>
          <p:nvPr>
            <p:extLst>
              <p:ext uri="{D42A27DB-BD31-4B8C-83A1-F6EECF244321}">
                <p14:modId xmlns:p14="http://schemas.microsoft.com/office/powerpoint/2010/main" val="3228990315"/>
              </p:ext>
            </p:extLst>
          </p:nvPr>
        </p:nvGraphicFramePr>
        <p:xfrm>
          <a:off x="2332825" y="1914088"/>
          <a:ext cx="6484300" cy="4533773"/>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0">
                <a:tc>
                  <a:txBody>
                    <a:bodyPr/>
                    <a:lstStyle/>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private async void btnConvertir_Click(object? sender, EventArgs e)</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string txtVal = txtValor.Text != null ? txtValor.Text.Trim() : "";</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if (string.IsNullOrEmpty(txtVal))</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MessageBox.Show(</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"Por favor ingresa un número para realizar la conversión.",</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"Valor Requerido",</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MessageBoxButtons.OK,</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MessageBoxIcon.Warning);</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txtValor.Focus();</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return;</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S" sz="65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 Permite punto o coma decimal</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string normalizado = txtVal.Replace(',', '.');</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if (!double.TryParse(normalizado, NumberStyles.Float, CultureInfo.InvariantCulture, out double num))</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MessageBox.Show(</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"El valor ingresado no es un número válido.\nPor favor escribe un número (ejemplo: 25 o 12.5).",</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"Formato Inválido",</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MessageBoxButtons.OK,</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MessageBoxIcon.Warning);</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txtValor.SelectAll();</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txtValor.Focus();</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return;</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S" sz="65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string unidadInicial = cmbUndInit.SelectedItem as string ?? "";</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string unidadFinal = cmbUndFinal.SelectedItem as string ?? "";</a:t>
                      </a:r>
                    </a:p>
                    <a:p>
                      <a:pPr marL="0" lvl="0" indent="0" algn="l" rtl="0">
                        <a:lnSpc>
                          <a:spcPct val="144000"/>
                        </a:lnSpc>
                        <a:spcBef>
                          <a:spcPts val="0"/>
                        </a:spcBef>
                        <a:spcAft>
                          <a:spcPts val="0"/>
                        </a:spcAft>
                        <a:buNone/>
                      </a:pPr>
                      <a:r>
                        <a:rPr lang="es-ES" sz="650">
                          <a:solidFill>
                            <a:srgbClr val="4F81BD"/>
                          </a:solidFill>
                          <a:latin typeface="Calibri"/>
                          <a:ea typeface="Calibri"/>
                          <a:cs typeface="Calibri"/>
                          <a:sym typeface="Calibri"/>
                        </a:rPr>
                        <a:t>    // ...</a:t>
                      </a:r>
                      <a:endParaRPr sz="650">
                        <a:solidFill>
                          <a:schemeClr val="dk1"/>
                        </a:solidFill>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737BABBD-2B31-B275-25CA-28B27C44CC43}"/>
              </a:ext>
            </a:extLst>
          </p:cNvPr>
          <p:cNvSpPr txBox="1">
            <a:spLocks noGrp="1"/>
          </p:cNvSpPr>
          <p:nvPr>
            <p:ph type="body" idx="1"/>
          </p:nvPr>
        </p:nvSpPr>
        <p:spPr>
          <a:xfrm>
            <a:off x="200425" y="2544006"/>
            <a:ext cx="2132400" cy="3273936"/>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extLst>
      <p:ext uri="{BB962C8B-B14F-4D97-AF65-F5344CB8AC3E}">
        <p14:creationId xmlns:p14="http://schemas.microsoft.com/office/powerpoint/2010/main" val="11306892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71" name="Google Shape;571;p70"/>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3" name="Captura GR04">
            <a:extLst>
              <a:ext uri="{FF2B5EF4-FFF2-40B4-BE49-F238E27FC236}">
                <a16:creationId xmlns:a16="http://schemas.microsoft.com/office/drawing/2014/main" id="{02494EE5-7D76-3C54-AACD-5E324668B6BF}"/>
              </a:ext>
            </a:extLst>
          </p:cNvPr>
          <p:cNvPicPr>
            <a:picLocks/>
          </p:cNvPicPr>
          <p:nvPr/>
        </p:nvPicPr>
        <p:blipFill>
          <a:blip r:embed="rId3"/>
          <a:stretch>
            <a:fillRect/>
          </a:stretch>
        </p:blipFill>
        <p:spPr>
          <a:xfrm>
            <a:off x="2903948" y="2920600"/>
            <a:ext cx="3654004" cy="3476625"/>
          </a:xfrm>
          <a:prstGeom prst="rect">
            <a:avLst/>
          </a:prstGeom>
        </p:spPr>
      </p:pic>
    </p:spTree>
    <p:extLst>
      <p:ext uri="{BB962C8B-B14F-4D97-AF65-F5344CB8AC3E}">
        <p14:creationId xmlns:p14="http://schemas.microsoft.com/office/powerpoint/2010/main" val="11674925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7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ESCRITORIO</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78" name="Google Shape;578;p71"/>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3" name="Captura GR04">
            <a:extLst>
              <a:ext uri="{FF2B5EF4-FFF2-40B4-BE49-F238E27FC236}">
                <a16:creationId xmlns:a16="http://schemas.microsoft.com/office/drawing/2014/main" id="{0ED66E19-5034-F38F-6A99-2095264D2E50}"/>
              </a:ext>
            </a:extLst>
          </p:cNvPr>
          <p:cNvPicPr>
            <a:picLocks/>
          </p:cNvPicPr>
          <p:nvPr/>
        </p:nvPicPr>
        <p:blipFill>
          <a:blip r:embed="rId3"/>
          <a:stretch>
            <a:fillRect/>
          </a:stretch>
        </p:blipFill>
        <p:spPr>
          <a:xfrm>
            <a:off x="2228317" y="2610550"/>
            <a:ext cx="5393267" cy="3467100"/>
          </a:xfrm>
          <a:prstGeom prst="rect">
            <a:avLst/>
          </a:prstGeom>
        </p:spPr>
      </p:pic>
    </p:spTree>
    <p:extLst>
      <p:ext uri="{BB962C8B-B14F-4D97-AF65-F5344CB8AC3E}">
        <p14:creationId xmlns:p14="http://schemas.microsoft.com/office/powerpoint/2010/main" val="40995411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7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594" name="Google Shape;594;p73"/>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dirty="0">
                <a:latin typeface="Cambria"/>
                <a:ea typeface="Cambria"/>
                <a:cs typeface="Cambria"/>
                <a:sym typeface="Cambria"/>
              </a:rPr>
              <a:t>Para el cliente web se creó un proyecto ASP.NET Core Web App (Model-View-</a:t>
            </a:r>
            <a:r>
              <a:rPr lang="es-ES" sz="1564" dirty="0" err="1">
                <a:latin typeface="Cambria"/>
                <a:ea typeface="Cambria"/>
                <a:cs typeface="Cambria"/>
                <a:sym typeface="Cambria"/>
              </a:rPr>
              <a:t>Controller</a:t>
            </a:r>
            <a:r>
              <a:rPr lang="es-ES" sz="1564" dirty="0">
                <a:latin typeface="Cambria"/>
                <a:ea typeface="Cambria"/>
                <a:cs typeface="Cambria"/>
                <a:sym typeface="Cambria"/>
              </a:rPr>
              <a:t>) en .NET 8 con sesiones en memoria. Los controladores </a:t>
            </a:r>
            <a:r>
              <a:rPr lang="es-ES" sz="1564" dirty="0" err="1">
                <a:latin typeface="Cambria"/>
                <a:ea typeface="Cambria"/>
                <a:cs typeface="Cambria"/>
                <a:sym typeface="Cambria"/>
              </a:rPr>
              <a:t>LoginController</a:t>
            </a:r>
            <a:r>
              <a:rPr lang="es-ES" sz="1564" dirty="0">
                <a:latin typeface="Cambria"/>
                <a:ea typeface="Cambria"/>
                <a:cs typeface="Cambria"/>
                <a:sym typeface="Cambria"/>
              </a:rPr>
              <a:t> y </a:t>
            </a:r>
            <a:r>
              <a:rPr lang="es-ES" sz="1564" dirty="0" err="1">
                <a:latin typeface="Cambria"/>
                <a:ea typeface="Cambria"/>
                <a:cs typeface="Cambria"/>
                <a:sym typeface="Cambria"/>
              </a:rPr>
              <a:t>ConversorController</a:t>
            </a:r>
            <a:r>
              <a:rPr lang="es-ES" sz="1564" dirty="0">
                <a:latin typeface="Cambria"/>
                <a:ea typeface="Cambria"/>
                <a:cs typeface="Cambria"/>
                <a:sym typeface="Cambria"/>
              </a:rPr>
              <a:t> invocan a </a:t>
            </a:r>
            <a:r>
              <a:rPr lang="es-ES" sz="1564" dirty="0" err="1">
                <a:latin typeface="Cambria"/>
                <a:ea typeface="Cambria"/>
                <a:cs typeface="Cambria"/>
                <a:sym typeface="Cambria"/>
              </a:rPr>
              <a:t>AppControlador</a:t>
            </a:r>
            <a:r>
              <a:rPr lang="es-ES" sz="1564" dirty="0">
                <a:latin typeface="Cambria"/>
                <a:ea typeface="Cambria"/>
                <a:cs typeface="Cambria"/>
                <a:sym typeface="Cambria"/>
              </a:rPr>
              <a:t>, que consume el servicio REST, y renderizan las vistas Razor (</a:t>
            </a:r>
            <a:r>
              <a:rPr lang="es-ES" sz="1564" dirty="0" err="1">
                <a:latin typeface="Cambria"/>
                <a:ea typeface="Cambria"/>
                <a:cs typeface="Cambria"/>
                <a:sym typeface="Cambria"/>
              </a:rPr>
              <a:t>cshtml</a:t>
            </a:r>
            <a:r>
              <a:rPr lang="es-ES" sz="1564" dirty="0">
                <a:latin typeface="Cambria"/>
                <a:ea typeface="Cambria"/>
                <a:cs typeface="Cambria"/>
                <a:sym typeface="Cambria"/>
              </a:rPr>
              <a:t>).</a:t>
            </a:r>
            <a:endParaRPr dirty="0">
              <a:latin typeface="Cambria"/>
              <a:ea typeface="Cambria"/>
              <a:cs typeface="Cambria"/>
              <a:sym typeface="Cambria"/>
            </a:endParaRPr>
          </a:p>
        </p:txBody>
      </p:sp>
      <p:graphicFrame>
        <p:nvGraphicFramePr>
          <p:cNvPr id="596" name="Google Shape;596;p73"/>
          <p:cNvGraphicFramePr/>
          <p:nvPr>
            <p:extLst>
              <p:ext uri="{D42A27DB-BD31-4B8C-83A1-F6EECF244321}">
                <p14:modId xmlns:p14="http://schemas.microsoft.com/office/powerpoint/2010/main" val="1051299009"/>
              </p:ext>
            </p:extLst>
          </p:nvPr>
        </p:nvGraphicFramePr>
        <p:xfrm>
          <a:off x="2332838" y="3073863"/>
          <a:ext cx="6742336" cy="3574923"/>
        </p:xfrm>
        <a:graphic>
          <a:graphicData uri="http://schemas.openxmlformats.org/drawingml/2006/table">
            <a:tbl>
              <a:tblPr>
                <a:noFill/>
                <a:tableStyleId>{BF136021-7255-42B7-A7E7-87A8D8FFE9CA}</a:tableStyleId>
              </a:tblPr>
              <a:tblGrid>
                <a:gridCol w="6742336">
                  <a:extLst>
                    <a:ext uri="{9D8B030D-6E8A-4147-A177-3AD203B41FA5}">
                      <a16:colId xmlns:a16="http://schemas.microsoft.com/office/drawing/2014/main" val="20000"/>
                    </a:ext>
                  </a:extLst>
                </a:gridCol>
              </a:tblGrid>
              <a:tr h="3081981">
                <a:tc>
                  <a:txBody>
                    <a:bodyPr/>
                    <a:lstStyle/>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public</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class</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LoginController</a:t>
                      </a:r>
                      <a:r>
                        <a:rPr lang="es-ES" sz="700" dirty="0">
                          <a:solidFill>
                            <a:srgbClr val="4F81BD"/>
                          </a:solidFill>
                          <a:latin typeface="Calibri"/>
                          <a:ea typeface="Calibri"/>
                          <a:cs typeface="Calibri"/>
                          <a:sym typeface="Calibri"/>
                        </a:rPr>
                        <a:t> : </a:t>
                      </a:r>
                      <a:r>
                        <a:rPr lang="es-ES" sz="700" dirty="0" err="1">
                          <a:solidFill>
                            <a:srgbClr val="4F81BD"/>
                          </a:solidFill>
                          <a:latin typeface="Calibri"/>
                          <a:ea typeface="Calibri"/>
                          <a:cs typeface="Calibri"/>
                          <a:sym typeface="Calibri"/>
                        </a:rPr>
                        <a:t>Controller</a:t>
                      </a:r>
                      <a:endParaRPr lang="es-ES" sz="7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HttpPost</a:t>
                      </a:r>
                      <a:r>
                        <a:rPr lang="es-ES" sz="7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[Route("Login")]</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[Route("Login/Index")]</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ValidateAntiForgeryToken</a:t>
                      </a:r>
                      <a:r>
                        <a:rPr lang="es-ES" sz="7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public</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IActionResult</a:t>
                      </a:r>
                      <a:r>
                        <a:rPr lang="es-ES" sz="700" dirty="0">
                          <a:solidFill>
                            <a:srgbClr val="4F81BD"/>
                          </a:solidFill>
                          <a:latin typeface="Calibri"/>
                          <a:ea typeface="Calibri"/>
                          <a:cs typeface="Calibri"/>
                          <a:sym typeface="Calibri"/>
                        </a:rPr>
                        <a:t> Index(</a:t>
                      </a:r>
                      <a:r>
                        <a:rPr lang="es-ES" sz="700" dirty="0" err="1">
                          <a:solidFill>
                            <a:srgbClr val="4F81BD"/>
                          </a:solidFill>
                          <a:latin typeface="Calibri"/>
                          <a:ea typeface="Calibri"/>
                          <a:cs typeface="Calibri"/>
                          <a:sym typeface="Calibri"/>
                        </a:rPr>
                        <a:t>LoginViewModel</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model</a:t>
                      </a:r>
                      <a:r>
                        <a:rPr lang="es-ES" sz="7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string</a:t>
                      </a:r>
                      <a:r>
                        <a:rPr lang="es-ES" sz="700" dirty="0">
                          <a:solidFill>
                            <a:srgbClr val="4F81BD"/>
                          </a:solidFill>
                          <a:latin typeface="Calibri"/>
                          <a:ea typeface="Calibri"/>
                          <a:cs typeface="Calibri"/>
                          <a:sym typeface="Calibri"/>
                        </a:rPr>
                        <a:t> usuario = </a:t>
                      </a:r>
                      <a:r>
                        <a:rPr lang="es-ES" sz="700" dirty="0" err="1">
                          <a:solidFill>
                            <a:srgbClr val="4F81BD"/>
                          </a:solidFill>
                          <a:latin typeface="Calibri"/>
                          <a:ea typeface="Calibri"/>
                          <a:cs typeface="Calibri"/>
                          <a:sym typeface="Calibri"/>
                        </a:rPr>
                        <a:t>model.Usuario?.Trim</a:t>
                      </a:r>
                      <a:r>
                        <a:rPr lang="es-ES" sz="700" dirty="0">
                          <a:solidFill>
                            <a:srgbClr val="4F81BD"/>
                          </a:solidFill>
                          <a:latin typeface="Calibri"/>
                          <a:ea typeface="Calibri"/>
                          <a:cs typeface="Calibri"/>
                          <a:sym typeface="Calibri"/>
                        </a:rPr>
                        <a:t>() ?? "";</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string</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contrasenia</a:t>
                      </a:r>
                      <a:r>
                        <a:rPr lang="es-ES" sz="700" dirty="0">
                          <a:solidFill>
                            <a:srgbClr val="4F81BD"/>
                          </a:solidFill>
                          <a:latin typeface="Calibri"/>
                          <a:ea typeface="Calibri"/>
                          <a:cs typeface="Calibri"/>
                          <a:sym typeface="Calibri"/>
                        </a:rPr>
                        <a:t> = </a:t>
                      </a:r>
                      <a:r>
                        <a:rPr lang="es-ES" sz="700" dirty="0" err="1">
                          <a:solidFill>
                            <a:srgbClr val="4F81BD"/>
                          </a:solidFill>
                          <a:latin typeface="Calibri"/>
                          <a:ea typeface="Calibri"/>
                          <a:cs typeface="Calibri"/>
                          <a:sym typeface="Calibri"/>
                        </a:rPr>
                        <a:t>model.Contrasenia</a:t>
                      </a:r>
                      <a:r>
                        <a:rPr lang="es-ES" sz="700" dirty="0">
                          <a:solidFill>
                            <a:srgbClr val="4F81BD"/>
                          </a:solidFill>
                          <a:latin typeface="Calibri"/>
                          <a:ea typeface="Calibri"/>
                          <a:cs typeface="Calibri"/>
                          <a:sym typeface="Calibri"/>
                        </a:rPr>
                        <a:t> ?? "";</a:t>
                      </a:r>
                    </a:p>
                    <a:p>
                      <a:pPr marL="0" lvl="0" indent="0" algn="l" rtl="0">
                        <a:lnSpc>
                          <a:spcPct val="12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if</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string.IsNullOrEmpty</a:t>
                      </a:r>
                      <a:r>
                        <a:rPr lang="es-ES" sz="700" dirty="0">
                          <a:solidFill>
                            <a:srgbClr val="4F81BD"/>
                          </a:solidFill>
                          <a:latin typeface="Calibri"/>
                          <a:ea typeface="Calibri"/>
                          <a:cs typeface="Calibri"/>
                          <a:sym typeface="Calibri"/>
                        </a:rPr>
                        <a:t>(usuario) || </a:t>
                      </a:r>
                      <a:r>
                        <a:rPr lang="es-ES" sz="700" dirty="0" err="1">
                          <a:solidFill>
                            <a:srgbClr val="4F81BD"/>
                          </a:solidFill>
                          <a:latin typeface="Calibri"/>
                          <a:ea typeface="Calibri"/>
                          <a:cs typeface="Calibri"/>
                          <a:sym typeface="Calibri"/>
                        </a:rPr>
                        <a:t>string.IsNullOrEmpty</a:t>
                      </a:r>
                      <a:r>
                        <a:rPr lang="es-ES" sz="700" dirty="0">
                          <a:solidFill>
                            <a:srgbClr val="4F81BD"/>
                          </a:solidFill>
                          <a:latin typeface="Calibri"/>
                          <a:ea typeface="Calibri"/>
                          <a:cs typeface="Calibri"/>
                          <a:sym typeface="Calibri"/>
                        </a:rPr>
                        <a:t>(</a:t>
                      </a:r>
                      <a:r>
                        <a:rPr lang="es-ES" sz="700" dirty="0" err="1">
                          <a:solidFill>
                            <a:srgbClr val="4F81BD"/>
                          </a:solidFill>
                          <a:latin typeface="Calibri"/>
                          <a:ea typeface="Calibri"/>
                          <a:cs typeface="Calibri"/>
                          <a:sym typeface="Calibri"/>
                        </a:rPr>
                        <a:t>contrasenia</a:t>
                      </a:r>
                      <a:r>
                        <a:rPr lang="es-ES" sz="7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model.MensajeError</a:t>
                      </a:r>
                      <a:r>
                        <a:rPr lang="es-ES" sz="700" dirty="0">
                          <a:solidFill>
                            <a:srgbClr val="4F81BD"/>
                          </a:solidFill>
                          <a:latin typeface="Calibri"/>
                          <a:ea typeface="Calibri"/>
                          <a:cs typeface="Calibri"/>
                          <a:sym typeface="Calibri"/>
                        </a:rPr>
                        <a:t> = "Por favor escribe el usuario y la contraseña para continuar.";</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return</a:t>
                      </a:r>
                      <a:r>
                        <a:rPr lang="es-ES" sz="700" dirty="0">
                          <a:solidFill>
                            <a:srgbClr val="4F81BD"/>
                          </a:solidFill>
                          <a:latin typeface="Calibri"/>
                          <a:ea typeface="Calibri"/>
                          <a:cs typeface="Calibri"/>
                          <a:sym typeface="Calibri"/>
                        </a:rPr>
                        <a:t> View("~/</a:t>
                      </a:r>
                      <a:r>
                        <a:rPr lang="es-ES" sz="700" dirty="0" err="1">
                          <a:solidFill>
                            <a:srgbClr val="4F81BD"/>
                          </a:solidFill>
                          <a:latin typeface="Calibri"/>
                          <a:ea typeface="Calibri"/>
                          <a:cs typeface="Calibri"/>
                          <a:sym typeface="Calibri"/>
                        </a:rPr>
                        <a:t>ec.edu.monster.vista</a:t>
                      </a:r>
                      <a:r>
                        <a:rPr lang="es-ES" sz="700" dirty="0">
                          <a:solidFill>
                            <a:srgbClr val="4F81BD"/>
                          </a:solidFill>
                          <a:latin typeface="Calibri"/>
                          <a:ea typeface="Calibri"/>
                          <a:cs typeface="Calibri"/>
                          <a:sym typeface="Calibri"/>
                        </a:rPr>
                        <a:t>/Login/</a:t>
                      </a:r>
                      <a:r>
                        <a:rPr lang="es-ES" sz="700" dirty="0" err="1">
                          <a:solidFill>
                            <a:srgbClr val="4F81BD"/>
                          </a:solidFill>
                          <a:latin typeface="Calibri"/>
                          <a:ea typeface="Calibri"/>
                          <a:cs typeface="Calibri"/>
                          <a:sym typeface="Calibri"/>
                        </a:rPr>
                        <a:t>Index.cshtml</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model</a:t>
                      </a:r>
                      <a:r>
                        <a:rPr lang="es-ES" sz="7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try</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string</a:t>
                      </a:r>
                      <a:r>
                        <a:rPr lang="es-ES" sz="700" dirty="0">
                          <a:solidFill>
                            <a:srgbClr val="4F81BD"/>
                          </a:solidFill>
                          <a:latin typeface="Calibri"/>
                          <a:ea typeface="Calibri"/>
                          <a:cs typeface="Calibri"/>
                          <a:sym typeface="Calibri"/>
                        </a:rPr>
                        <a:t>? token = </a:t>
                      </a:r>
                      <a:r>
                        <a:rPr lang="es-ES" sz="700" dirty="0" err="1">
                          <a:solidFill>
                            <a:srgbClr val="4F81BD"/>
                          </a:solidFill>
                          <a:latin typeface="Calibri"/>
                          <a:ea typeface="Calibri"/>
                          <a:cs typeface="Calibri"/>
                          <a:sym typeface="Calibri"/>
                        </a:rPr>
                        <a:t>controlador.Login</a:t>
                      </a:r>
                      <a:r>
                        <a:rPr lang="es-ES" sz="700" dirty="0">
                          <a:solidFill>
                            <a:srgbClr val="4F81BD"/>
                          </a:solidFill>
                          <a:latin typeface="Calibri"/>
                          <a:ea typeface="Calibri"/>
                          <a:cs typeface="Calibri"/>
                          <a:sym typeface="Calibri"/>
                        </a:rPr>
                        <a:t>(usuario, </a:t>
                      </a:r>
                      <a:r>
                        <a:rPr lang="es-ES" sz="700" dirty="0" err="1">
                          <a:solidFill>
                            <a:srgbClr val="4F81BD"/>
                          </a:solidFill>
                          <a:latin typeface="Calibri"/>
                          <a:ea typeface="Calibri"/>
                          <a:cs typeface="Calibri"/>
                          <a:sym typeface="Calibri"/>
                        </a:rPr>
                        <a:t>contrasenia</a:t>
                      </a:r>
                      <a:r>
                        <a:rPr lang="es-ES" sz="7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if</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string.IsNullOrWhiteSpace</a:t>
                      </a:r>
                      <a:r>
                        <a:rPr lang="es-ES" sz="700" dirty="0">
                          <a:solidFill>
                            <a:srgbClr val="4F81BD"/>
                          </a:solidFill>
                          <a:latin typeface="Calibri"/>
                          <a:ea typeface="Calibri"/>
                          <a:cs typeface="Calibri"/>
                          <a:sym typeface="Calibri"/>
                        </a:rPr>
                        <a:t>(token))</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HttpContext.Session.SetString</a:t>
                      </a:r>
                      <a:r>
                        <a:rPr lang="es-ES" sz="700" dirty="0">
                          <a:solidFill>
                            <a:srgbClr val="4F81BD"/>
                          </a:solidFill>
                          <a:latin typeface="Calibri"/>
                          <a:ea typeface="Calibri"/>
                          <a:cs typeface="Calibri"/>
                          <a:sym typeface="Calibri"/>
                        </a:rPr>
                        <a:t>("Usuario", usuario);</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HttpContext.Session.SetString</a:t>
                      </a:r>
                      <a:r>
                        <a:rPr lang="es-ES" sz="700" dirty="0">
                          <a:solidFill>
                            <a:srgbClr val="4F81BD"/>
                          </a:solidFill>
                          <a:latin typeface="Calibri"/>
                          <a:ea typeface="Calibri"/>
                          <a:cs typeface="Calibri"/>
                          <a:sym typeface="Calibri"/>
                        </a:rPr>
                        <a:t>("Token", token);</a:t>
                      </a:r>
                    </a:p>
                    <a:p>
                      <a:pPr marL="0" lvl="0" indent="0" algn="l" rtl="0">
                        <a:lnSpc>
                          <a:spcPct val="120000"/>
                        </a:lnSpc>
                        <a:spcBef>
                          <a:spcPts val="0"/>
                        </a:spcBef>
                        <a:spcAft>
                          <a:spcPts val="0"/>
                        </a:spcAft>
                        <a:buNone/>
                      </a:pPr>
                      <a:r>
                        <a:rPr lang="es-ES" sz="700" dirty="0">
                          <a:solidFill>
                            <a:srgbClr val="4F81BD"/>
                          </a:solidFill>
                          <a:latin typeface="Calibri"/>
                          <a:ea typeface="Calibri"/>
                          <a:cs typeface="Calibri"/>
                          <a:sym typeface="Calibri"/>
                        </a:rPr>
                        <a:t>    // ...</a:t>
                      </a:r>
                      <a:endParaRPr sz="7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0FD74977-D276-3276-77CA-9B8934F228A2}"/>
              </a:ext>
            </a:extLst>
          </p:cNvPr>
          <p:cNvSpPr txBox="1">
            <a:spLocks/>
          </p:cNvSpPr>
          <p:nvPr/>
        </p:nvSpPr>
        <p:spPr>
          <a:xfrm>
            <a:off x="0" y="2881908"/>
            <a:ext cx="2132400" cy="3273936"/>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extLst>
      <p:ext uri="{BB962C8B-B14F-4D97-AF65-F5344CB8AC3E}">
        <p14:creationId xmlns:p14="http://schemas.microsoft.com/office/powerpoint/2010/main" val="11795697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7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02" name="Google Shape;602;p7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604" name="Google Shape;604;p74"/>
          <p:cNvGraphicFramePr/>
          <p:nvPr>
            <p:extLst>
              <p:ext uri="{D42A27DB-BD31-4B8C-83A1-F6EECF244321}">
                <p14:modId xmlns:p14="http://schemas.microsoft.com/office/powerpoint/2010/main" val="1708311638"/>
              </p:ext>
            </p:extLst>
          </p:nvPr>
        </p:nvGraphicFramePr>
        <p:xfrm>
          <a:off x="2332838" y="2061838"/>
          <a:ext cx="6484300" cy="4279583"/>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0">
                <a:tc>
                  <a:txBody>
                    <a:bodyPr/>
                    <a:lstStyle/>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[HttpPost]</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[Route("Conversor")]</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[Route("Conversor/Index")]</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[ValidateAntiForgeryToken]</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public IActionResult Index(ConversorViewModel model)</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string? token = HttpContext.Session.GetString("Token");</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string? usuario = HttpContext.Session.GetString("Usuario");</a:t>
                      </a:r>
                    </a:p>
                    <a:p>
                      <a:pPr marL="0" lvl="0" indent="0" algn="l" rtl="0">
                        <a:lnSpc>
                          <a:spcPct val="120000"/>
                        </a:lnSpc>
                        <a:spcBef>
                          <a:spcPts val="0"/>
                        </a:spcBef>
                        <a:spcAft>
                          <a:spcPts val="0"/>
                        </a:spcAft>
                        <a:buNone/>
                      </a:pPr>
                      <a:endParaRPr lang="en-US" sz="65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if (string.IsNullOrEmpty(token))</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return RedirectToAction("Index", "Login");</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n-US" sz="65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model.NombreUsuario = usuario ?? "";</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ConfigurarUnidades(model);</a:t>
                      </a:r>
                    </a:p>
                    <a:p>
                      <a:pPr marL="0" lvl="0" indent="0" algn="l" rtl="0">
                        <a:lnSpc>
                          <a:spcPct val="120000"/>
                        </a:lnSpc>
                        <a:spcBef>
                          <a:spcPts val="0"/>
                        </a:spcBef>
                        <a:spcAft>
                          <a:spcPts val="0"/>
                        </a:spcAft>
                        <a:buNone/>
                      </a:pPr>
                      <a:endParaRPr lang="en-US" sz="65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string valorStr = model.Valor?.Trim() ?? "";</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if (string.IsNullOrEmpty(valorStr))</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model.MensajeError = "Por favor ingresa un número para realizar la conversión.";</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model.Historial = ObtenerHistorial();</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return View("~/ec.edu.monster.vista/Conversor/Index.cshtml", model);</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n-US" sz="65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string normalizado = valorStr.Replace(',', '.');</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if (!double.TryParse(normalizado, NumberStyles.Float, CultureInfo.InvariantCulture, out double num))</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model.MensajeError = "El valor ingresado no es un número válido.";</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model.Historial = ObtenerHistorial();</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return View("~/ec.edu.monster.vista/Conversor/Index.cshtml", model);</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n-US" sz="65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try</a:t>
                      </a:r>
                    </a:p>
                    <a:p>
                      <a:pPr marL="0" lvl="0" indent="0" algn="l" rtl="0">
                        <a:lnSpc>
                          <a:spcPct val="120000"/>
                        </a:lnSpc>
                        <a:spcBef>
                          <a:spcPts val="0"/>
                        </a:spcBef>
                        <a:spcAft>
                          <a:spcPts val="0"/>
                        </a:spcAft>
                        <a:buNone/>
                      </a:pPr>
                      <a:r>
                        <a:rPr lang="en-US" sz="650">
                          <a:solidFill>
                            <a:srgbClr val="4F81BD"/>
                          </a:solidFill>
                          <a:latin typeface="Calibri"/>
                          <a:ea typeface="Calibri"/>
                          <a:cs typeface="Calibri"/>
                          <a:sym typeface="Calibri"/>
                        </a:rPr>
                        <a:t>    // ...</a:t>
                      </a:r>
                      <a:endParaRPr sz="65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39268D27-58B3-F653-EC48-811BA5439601}"/>
              </a:ext>
            </a:extLst>
          </p:cNvPr>
          <p:cNvSpPr txBox="1">
            <a:spLocks noGrp="1"/>
          </p:cNvSpPr>
          <p:nvPr>
            <p:ph type="body" idx="1"/>
          </p:nvPr>
        </p:nvSpPr>
        <p:spPr>
          <a:xfrm>
            <a:off x="200438" y="2657133"/>
            <a:ext cx="2132400" cy="3273936"/>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extLst>
      <p:ext uri="{BB962C8B-B14F-4D97-AF65-F5344CB8AC3E}">
        <p14:creationId xmlns:p14="http://schemas.microsoft.com/office/powerpoint/2010/main" val="1038746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0" name="Google Shape;610;p75"/>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graphicFrame>
        <p:nvGraphicFramePr>
          <p:cNvPr id="612" name="Google Shape;612;p75"/>
          <p:cNvGraphicFramePr/>
          <p:nvPr>
            <p:extLst>
              <p:ext uri="{D42A27DB-BD31-4B8C-83A1-F6EECF244321}">
                <p14:modId xmlns:p14="http://schemas.microsoft.com/office/powerpoint/2010/main" val="868999444"/>
              </p:ext>
            </p:extLst>
          </p:nvPr>
        </p:nvGraphicFramePr>
        <p:xfrm>
          <a:off x="2332825" y="1795025"/>
          <a:ext cx="6484300" cy="4599051"/>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@model ec.edu.monster.modelo.LoginViewModel</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Layout = null;</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&lt;!DOCTYPE html&gt;</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&lt;html lang="es"&gt;</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&lt;head&gt;</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&lt;meta charset="UTF-8" /&gt;</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&lt;meta name="viewport" content="width=device-width, initial-scale=1.0" /&gt;</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&lt;title&gt;Iniciar Sesión - Conversor RESTful (ASP.NET Core MVC)&lt;/title&gt;</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&lt;style&gt;</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body {</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font-family: -apple-system, BlinkMacSystemFont, "Segoe UI", Roboto, "Helvetica Neue", Arial, sans-serif;</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background-color: #f8f9fa;</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margin: 0;</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padding: 0;</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.login-card {</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text-align: center;</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margin-top: 50px;</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border: 1px solid #999;</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padding: 25px;</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border-radius: 8px;</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width: 380px;</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background-color: #fff;</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box-shadow: 0 4px 10px rgba(0,0,0,0.08);</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.form-table {</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text-align: left;</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width: 100%;</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margin-top: 10px;</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.form-table td {</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padding: 8px;</a:t>
                      </a:r>
                    </a:p>
                    <a:p>
                      <a:pPr marL="0" lvl="0" indent="0" algn="l" rtl="0">
                        <a:lnSpc>
                          <a:spcPct val="120000"/>
                        </a:lnSpc>
                        <a:spcBef>
                          <a:spcPts val="0"/>
                        </a:spcBef>
                        <a:spcAft>
                          <a:spcPts val="0"/>
                        </a:spcAft>
                        <a:buNone/>
                      </a:pPr>
                      <a:r>
                        <a:rPr lang="es-ES" sz="700">
                          <a:solidFill>
                            <a:srgbClr val="4F81BD"/>
                          </a:solidFill>
                          <a:latin typeface="Calibri"/>
                          <a:ea typeface="Calibri"/>
                          <a:cs typeface="Calibri"/>
                          <a:sym typeface="Calibri"/>
                        </a:rPr>
                        <a:t>    // ...</a:t>
                      </a:r>
                      <a:endParaRPr sz="7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D552F2CB-41DC-6E8A-CA8E-03C48D4658F5}"/>
              </a:ext>
            </a:extLst>
          </p:cNvPr>
          <p:cNvSpPr txBox="1">
            <a:spLocks noGrp="1"/>
          </p:cNvSpPr>
          <p:nvPr>
            <p:ph type="body" idx="1"/>
          </p:nvPr>
        </p:nvSpPr>
        <p:spPr>
          <a:xfrm>
            <a:off x="200425" y="2657133"/>
            <a:ext cx="2132400" cy="3273936"/>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extLst>
      <p:ext uri="{BB962C8B-B14F-4D97-AF65-F5344CB8AC3E}">
        <p14:creationId xmlns:p14="http://schemas.microsoft.com/office/powerpoint/2010/main" val="37055008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7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20" name="Google Shape;620;p76"/>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3" name="Captura GR04">
            <a:extLst>
              <a:ext uri="{FF2B5EF4-FFF2-40B4-BE49-F238E27FC236}">
                <a16:creationId xmlns:a16="http://schemas.microsoft.com/office/drawing/2014/main" id="{089635B2-4B9A-0C8A-439A-BB25E9BAA546}"/>
              </a:ext>
            </a:extLst>
          </p:cNvPr>
          <p:cNvPicPr>
            <a:picLocks/>
          </p:cNvPicPr>
          <p:nvPr/>
        </p:nvPicPr>
        <p:blipFill>
          <a:blip r:embed="rId3"/>
          <a:stretch>
            <a:fillRect/>
          </a:stretch>
        </p:blipFill>
        <p:spPr>
          <a:xfrm>
            <a:off x="3115200" y="2509139"/>
            <a:ext cx="3619500" cy="3476625"/>
          </a:xfrm>
          <a:prstGeom prst="rect">
            <a:avLst/>
          </a:prstGeom>
        </p:spPr>
      </p:pic>
    </p:spTree>
    <p:extLst>
      <p:ext uri="{BB962C8B-B14F-4D97-AF65-F5344CB8AC3E}">
        <p14:creationId xmlns:p14="http://schemas.microsoft.com/office/powerpoint/2010/main" val="39319794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WEB</a:t>
            </a:r>
            <a:endParaRPr>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MOVIL</a:t>
            </a:r>
            <a:endParaRPr>
              <a:solidFill>
                <a:srgbClr val="FFFFFF"/>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27" name="Google Shape;627;p77"/>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a:t>
            </a:r>
            <a:endParaRPr sz="2000" b="0" i="0" u="none" strike="noStrike" cap="none">
              <a:solidFill>
                <a:srgbClr val="3D3D3D"/>
              </a:solidFill>
              <a:latin typeface="Cambria"/>
              <a:ea typeface="Cambria"/>
              <a:cs typeface="Cambria"/>
              <a:sym typeface="Cambria"/>
            </a:endParaRPr>
          </a:p>
        </p:txBody>
      </p:sp>
      <p:pic>
        <p:nvPicPr>
          <p:cNvPr id="3" name="Captura GR04">
            <a:extLst>
              <a:ext uri="{FF2B5EF4-FFF2-40B4-BE49-F238E27FC236}">
                <a16:creationId xmlns:a16="http://schemas.microsoft.com/office/drawing/2014/main" id="{A87D8815-8B17-4183-787C-AD151E5B3503}"/>
              </a:ext>
            </a:extLst>
          </p:cNvPr>
          <p:cNvPicPr>
            <a:picLocks/>
          </p:cNvPicPr>
          <p:nvPr/>
        </p:nvPicPr>
        <p:blipFill>
          <a:blip r:embed="rId3"/>
          <a:stretch>
            <a:fillRect/>
          </a:stretch>
        </p:blipFill>
        <p:spPr>
          <a:xfrm>
            <a:off x="1616542" y="2522350"/>
            <a:ext cx="6361592" cy="3896475"/>
          </a:xfrm>
          <a:prstGeom prst="rect">
            <a:avLst/>
          </a:prstGeom>
        </p:spPr>
      </p:pic>
    </p:spTree>
    <p:extLst>
      <p:ext uri="{BB962C8B-B14F-4D97-AF65-F5344CB8AC3E}">
        <p14:creationId xmlns:p14="http://schemas.microsoft.com/office/powerpoint/2010/main" val="3536792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graphicFrame>
        <p:nvGraphicFramePr>
          <p:cNvPr id="641" name="Google Shape;641;p79"/>
          <p:cNvGraphicFramePr/>
          <p:nvPr>
            <p:extLst>
              <p:ext uri="{D42A27DB-BD31-4B8C-83A1-F6EECF244321}">
                <p14:modId xmlns:p14="http://schemas.microsoft.com/office/powerpoint/2010/main" val="2480637687"/>
              </p:ext>
            </p:extLst>
          </p:nvPr>
        </p:nvGraphicFramePr>
        <p:xfrm>
          <a:off x="2332836" y="3120255"/>
          <a:ext cx="6484300" cy="3684016"/>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3635070">
                <a:tc>
                  <a:txBody>
                    <a:bodyPr/>
                    <a:lstStyle/>
                    <a:p>
                      <a:pPr marL="0" lvl="0" indent="0" algn="l" rtl="0">
                        <a:lnSpc>
                          <a:spcPct val="120000"/>
                        </a:lnSpc>
                        <a:spcBef>
                          <a:spcPts val="0"/>
                        </a:spcBef>
                        <a:spcAft>
                          <a:spcPts val="0"/>
                        </a:spcAft>
                        <a:buClr>
                          <a:schemeClr val="dk1"/>
                        </a:buClr>
                        <a:buSzPts val="1100"/>
                        <a:buFont typeface="Arial"/>
                        <a:buNone/>
                      </a:pPr>
                      <a:r>
                        <a:rPr lang="es-ES" sz="750" dirty="0" err="1">
                          <a:solidFill>
                            <a:srgbClr val="4F81BD"/>
                          </a:solidFill>
                          <a:latin typeface="Calibri"/>
                          <a:ea typeface="Calibri"/>
                          <a:cs typeface="Calibri"/>
                          <a:sym typeface="Calibri"/>
                        </a:rPr>
                        <a:t>public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class</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ConversorService</a:t>
                      </a:r>
                      <a:endParaRPr lang="es-ES" sz="75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public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static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EndpointUrl</a:t>
                      </a:r>
                      <a:r>
                        <a:rPr lang="es-ES" sz="750" dirty="0">
                          <a:solidFill>
                            <a:srgbClr val="4F81BD"/>
                          </a:solidFill>
                          <a:latin typeface="Calibri"/>
                          <a:ea typeface="Calibri"/>
                          <a:cs typeface="Calibri"/>
                          <a:sym typeface="Calibri"/>
                        </a:rPr>
                        <a:t> { </a:t>
                      </a:r>
                      <a:r>
                        <a:rPr lang="es-ES" sz="750" dirty="0" err="1">
                          <a:solidFill>
                            <a:srgbClr val="4F81BD"/>
                          </a:solidFill>
                          <a:latin typeface="Calibri"/>
                          <a:ea typeface="Calibri"/>
                          <a:cs typeface="Calibri"/>
                          <a:sym typeface="Calibri"/>
                        </a:rPr>
                        <a:t>get</a:t>
                      </a:r>
                      <a:r>
                        <a:rPr lang="es-ES" sz="750" dirty="0">
                          <a:solidFill>
                            <a:srgbClr val="4F81BD"/>
                          </a:solidFill>
                          <a:latin typeface="Calibri"/>
                          <a:ea typeface="Calibri"/>
                          <a:cs typeface="Calibri"/>
                          <a:sym typeface="Calibri"/>
                        </a:rPr>
                        <a:t>; set; } = </a:t>
                      </a:r>
                      <a:r>
                        <a:rPr lang="es-ES" sz="750" dirty="0" err="1">
                          <a:solidFill>
                            <a:srgbClr val="4F81BD"/>
                          </a:solidFill>
                          <a:latin typeface="Calibri"/>
                          <a:ea typeface="Calibri"/>
                          <a:cs typeface="Calibri"/>
                          <a:sym typeface="Calibri"/>
                        </a:rPr>
                        <a:t>DeviceInfo.Platform</a:t>
                      </a:r>
                      <a:r>
                        <a:rPr lang="es-ES" sz="750" dirty="0">
                          <a:solidFill>
                            <a:srgbClr val="4F81BD"/>
                          </a:solidFill>
                          <a:latin typeface="Calibri"/>
                          <a:ea typeface="Calibri"/>
                          <a:cs typeface="Calibri"/>
                          <a:sym typeface="Calibri"/>
                        </a:rPr>
                        <a:t> == </a:t>
                      </a:r>
                      <a:r>
                        <a:rPr lang="es-ES" sz="750" dirty="0" err="1">
                          <a:solidFill>
                            <a:srgbClr val="4F81BD"/>
                          </a:solidFill>
                          <a:latin typeface="Calibri"/>
                          <a:ea typeface="Calibri"/>
                          <a:cs typeface="Calibri"/>
                          <a:sym typeface="Calibri"/>
                        </a:rPr>
                        <a:t>DevicePlatform.Android</a:t>
                      </a:r>
                      <a:endParaRPr lang="es-ES" sz="75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public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static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TokenSesion</a:t>
                      </a:r>
                      <a:r>
                        <a:rPr lang="es-ES" sz="750" dirty="0">
                          <a:solidFill>
                            <a:srgbClr val="4F81BD"/>
                          </a:solidFill>
                          <a:latin typeface="Calibri"/>
                          <a:ea typeface="Calibri"/>
                          <a:cs typeface="Calibri"/>
                          <a:sym typeface="Calibri"/>
                        </a:rPr>
                        <a:t> { </a:t>
                      </a:r>
                      <a:r>
                        <a:rPr lang="es-ES" sz="750" dirty="0" err="1">
                          <a:solidFill>
                            <a:srgbClr val="4F81BD"/>
                          </a:solidFill>
                          <a:latin typeface="Calibri"/>
                          <a:ea typeface="Calibri"/>
                          <a:cs typeface="Calibri"/>
                          <a:sym typeface="Calibri"/>
                        </a:rPr>
                        <a:t>get</a:t>
                      </a:r>
                      <a:r>
                        <a:rPr lang="es-ES" sz="750" dirty="0">
                          <a:solidFill>
                            <a:srgbClr val="4F81BD"/>
                          </a:solidFill>
                          <a:latin typeface="Calibri"/>
                          <a:ea typeface="Calibri"/>
                          <a:cs typeface="Calibri"/>
                          <a:sym typeface="Calibri"/>
                        </a:rPr>
                        <a:t>; set; }</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private</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static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readonly</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HttpClient</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httpClient</a:t>
                      </a:r>
                      <a:r>
                        <a:rPr lang="es-ES" sz="750" dirty="0">
                          <a:solidFill>
                            <a:srgbClr val="4F81BD"/>
                          </a:solidFill>
                          <a:latin typeface="Calibri"/>
                          <a:ea typeface="Calibri"/>
                          <a:cs typeface="Calibri"/>
                          <a:sym typeface="Calibri"/>
                        </a:rPr>
                        <a:t> = new </a:t>
                      </a:r>
                      <a:r>
                        <a:rPr lang="es-ES" sz="750" dirty="0" err="1">
                          <a:solidFill>
                            <a:srgbClr val="4F81BD"/>
                          </a:solidFill>
                          <a:latin typeface="Calibri"/>
                          <a:ea typeface="Calibri"/>
                          <a:cs typeface="Calibri"/>
                          <a:sym typeface="Calibri"/>
                        </a:rPr>
                        <a:t>HttpClient</a:t>
                      </a:r>
                      <a:r>
                        <a:rPr lang="es-ES" sz="750" dirty="0">
                          <a:solidFill>
                            <a:srgbClr val="4F81BD"/>
                          </a:solidFill>
                          <a:latin typeface="Calibri"/>
                          <a:ea typeface="Calibri"/>
                          <a:cs typeface="Calibri"/>
                          <a:sym typeface="Calibri"/>
                        </a:rPr>
                        <a:t>(new </a:t>
                      </a:r>
                      <a:r>
                        <a:rPr lang="es-ES" sz="750" dirty="0" err="1">
                          <a:solidFill>
                            <a:srgbClr val="4F81BD"/>
                          </a:solidFill>
                          <a:latin typeface="Calibri"/>
                          <a:ea typeface="Calibri"/>
                          <a:cs typeface="Calibri"/>
                          <a:sym typeface="Calibri"/>
                        </a:rPr>
                        <a:t>HostRewriteHandler</a:t>
                      </a:r>
                      <a:r>
                        <a:rPr lang="es-ES" sz="750" dirty="0">
                          <a:solidFill>
                            <a:srgbClr val="4F81BD"/>
                          </a:solidFill>
                          <a:latin typeface="Calibri"/>
                          <a:ea typeface="Calibri"/>
                          <a:cs typeface="Calibri"/>
                          <a:sym typeface="Calibri"/>
                        </a:rPr>
                        <a:t>(new </a:t>
                      </a:r>
                      <a:r>
                        <a:rPr lang="es-ES" sz="750" dirty="0" err="1">
                          <a:solidFill>
                            <a:srgbClr val="4F81BD"/>
                          </a:solidFill>
                          <a:latin typeface="Calibri"/>
                          <a:ea typeface="Calibri"/>
                          <a:cs typeface="Calibri"/>
                          <a:sym typeface="Calibri"/>
                        </a:rPr>
                        <a:t>HttpClientHandler</a:t>
                      </a: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TokenSesion</a:t>
                      </a:r>
                      <a:r>
                        <a:rPr lang="es-ES" sz="750" dirty="0">
                          <a:solidFill>
                            <a:srgbClr val="4F81BD"/>
                          </a:solidFill>
                          <a:latin typeface="Calibri"/>
                          <a:ea typeface="Calibri"/>
                          <a:cs typeface="Calibri"/>
                          <a:sym typeface="Calibri"/>
                        </a:rPr>
                        <a:t> = </a:t>
                      </a:r>
                      <a:r>
                        <a:rPr lang="es-ES" sz="750" dirty="0" err="1">
                          <a:solidFill>
                            <a:srgbClr val="4F81BD"/>
                          </a:solidFill>
                          <a:latin typeface="Calibri"/>
                          <a:ea typeface="Calibri"/>
                          <a:cs typeface="Calibri"/>
                          <a:sym typeface="Calibri"/>
                        </a:rPr>
                        <a:t>tokenProp.GetString</a:t>
                      </a: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url</a:t>
                      </a:r>
                      <a:r>
                        <a:rPr lang="es-ES" sz="750" dirty="0">
                          <a:solidFill>
                            <a:srgbClr val="4F81BD"/>
                          </a:solidFill>
                          <a:latin typeface="Calibri"/>
                          <a:ea typeface="Calibri"/>
                          <a:cs typeface="Calibri"/>
                          <a:sym typeface="Calibri"/>
                        </a:rPr>
                        <a:t> = $"{</a:t>
                      </a:r>
                      <a:r>
                        <a:rPr lang="es-ES" sz="750" dirty="0" err="1">
                          <a:solidFill>
                            <a:srgbClr val="4F81BD"/>
                          </a:solidFill>
                          <a:latin typeface="Calibri"/>
                          <a:ea typeface="Calibri"/>
                          <a:cs typeface="Calibri"/>
                          <a:sym typeface="Calibri"/>
                        </a:rPr>
                        <a:t>EndpointUrl</a:t>
                      </a:r>
                      <a:r>
                        <a:rPr lang="es-ES" sz="750" dirty="0">
                          <a:solidFill>
                            <a:srgbClr val="4F81BD"/>
                          </a:solidFill>
                          <a:latin typeface="Calibri"/>
                          <a:ea typeface="Calibri"/>
                          <a:cs typeface="Calibri"/>
                          <a:sym typeface="Calibri"/>
                        </a:rPr>
                        <a:t>}/conversor/{tipo}?valor={</a:t>
                      </a:r>
                      <a:r>
                        <a:rPr lang="es-ES" sz="750" dirty="0" err="1">
                          <a:solidFill>
                            <a:srgbClr val="4F81BD"/>
                          </a:solidFill>
                          <a:latin typeface="Calibri"/>
                          <a:ea typeface="Calibri"/>
                          <a:cs typeface="Calibri"/>
                          <a:sym typeface="Calibri"/>
                        </a:rPr>
                        <a:t>vStr</a:t>
                      </a:r>
                      <a:r>
                        <a:rPr lang="es-ES" sz="750" dirty="0">
                          <a:solidFill>
                            <a:srgbClr val="4F81BD"/>
                          </a:solidFill>
                          <a:latin typeface="Calibri"/>
                          <a:ea typeface="Calibri"/>
                          <a:cs typeface="Calibri"/>
                          <a:sym typeface="Calibri"/>
                        </a:rPr>
                        <a:t>}&amp;</a:t>
                      </a:r>
                      <a:r>
                        <a:rPr lang="es-ES" sz="750" dirty="0" err="1">
                          <a:solidFill>
                            <a:srgbClr val="4F81BD"/>
                          </a:solidFill>
                          <a:latin typeface="Calibri"/>
                          <a:ea typeface="Calibri"/>
                          <a:cs typeface="Calibri"/>
                          <a:sym typeface="Calibri"/>
                        </a:rPr>
                        <a:t>unidadInicial</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Uri.EscapeDataString</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unidadInicial</a:t>
                      </a:r>
                      <a:r>
                        <a:rPr lang="es-ES" sz="750" dirty="0">
                          <a:solidFill>
                            <a:srgbClr val="4F81BD"/>
                          </a:solidFill>
                          <a:latin typeface="Calibri"/>
                          <a:ea typeface="Calibri"/>
                          <a:cs typeface="Calibri"/>
                          <a:sym typeface="Calibri"/>
                        </a:rPr>
                        <a:t>)}&amp;</a:t>
                      </a:r>
                      <a:r>
                        <a:rPr lang="es-ES" sz="750" dirty="0" err="1">
                          <a:solidFill>
                            <a:srgbClr val="4F81BD"/>
                          </a:solidFill>
                          <a:latin typeface="Calibri"/>
                          <a:ea typeface="Calibri"/>
                          <a:cs typeface="Calibri"/>
                          <a:sym typeface="Calibri"/>
                        </a:rPr>
                        <a:t>unidadFinal</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Uri.EscapeDataString</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unidadFinal</a:t>
                      </a: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endParaRPr lang="es-ES" sz="75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endParaRPr lang="es-ES" sz="75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public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async</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Task</a:t>
                      </a:r>
                      <a:r>
                        <a:rPr lang="es-ES" sz="750" dirty="0">
                          <a:solidFill>
                            <a:srgbClr val="4F81BD"/>
                          </a:solidFill>
                          <a:latin typeface="Calibri"/>
                          <a:ea typeface="Calibri"/>
                          <a:cs typeface="Calibri"/>
                          <a:sym typeface="Calibri"/>
                        </a:rPr>
                        <a:t>&lt;</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?&gt; </a:t>
                      </a:r>
                      <a:r>
                        <a:rPr lang="es-ES" sz="750" dirty="0" err="1">
                          <a:solidFill>
                            <a:srgbClr val="4F81BD"/>
                          </a:solidFill>
                          <a:latin typeface="Calibri"/>
                          <a:ea typeface="Calibri"/>
                          <a:cs typeface="Calibri"/>
                          <a:sym typeface="Calibri"/>
                        </a:rPr>
                        <a:t>LoginAsync</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usuario, </a:t>
                      </a:r>
                      <a:r>
                        <a:rPr lang="es-ES" sz="750" dirty="0" err="1">
                          <a:solidFill>
                            <a:srgbClr val="4F81BD"/>
                          </a:solidFill>
                          <a:latin typeface="Calibri"/>
                          <a:ea typeface="Calibri"/>
                          <a:cs typeface="Calibri"/>
                          <a:sym typeface="Calibri"/>
                        </a:rPr>
                        <a:t>string</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contrasenia</a:t>
                      </a: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try</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var</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payload</a:t>
                      </a:r>
                      <a:r>
                        <a:rPr lang="es-ES" sz="750" dirty="0">
                          <a:solidFill>
                            <a:srgbClr val="4F81BD"/>
                          </a:solidFill>
                          <a:latin typeface="Calibri"/>
                          <a:ea typeface="Calibri"/>
                          <a:cs typeface="Calibri"/>
                          <a:sym typeface="Calibri"/>
                        </a:rPr>
                        <a:t> = new { usuario, </a:t>
                      </a:r>
                      <a:r>
                        <a:rPr lang="es-ES" sz="750" dirty="0" err="1">
                          <a:solidFill>
                            <a:srgbClr val="4F81BD"/>
                          </a:solidFill>
                          <a:latin typeface="Calibri"/>
                          <a:ea typeface="Calibri"/>
                          <a:cs typeface="Calibri"/>
                          <a:sym typeface="Calibri"/>
                        </a:rPr>
                        <a:t>contrasenia</a:t>
                      </a:r>
                      <a:r>
                        <a:rPr lang="es-ES" sz="75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var</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json</a:t>
                      </a:r>
                      <a:r>
                        <a:rPr lang="es-ES" sz="750" dirty="0">
                          <a:solidFill>
                            <a:srgbClr val="4F81BD"/>
                          </a:solidFill>
                          <a:latin typeface="Calibri"/>
                          <a:ea typeface="Calibri"/>
                          <a:cs typeface="Calibri"/>
                          <a:sym typeface="Calibri"/>
                        </a:rPr>
                        <a:t> = </a:t>
                      </a:r>
                      <a:r>
                        <a:rPr lang="es-ES" sz="750" dirty="0" err="1">
                          <a:solidFill>
                            <a:srgbClr val="4F81BD"/>
                          </a:solidFill>
                          <a:latin typeface="Calibri"/>
                          <a:ea typeface="Calibri"/>
                          <a:cs typeface="Calibri"/>
                          <a:sym typeface="Calibri"/>
                        </a:rPr>
                        <a:t>JsonSerializer.Serialize</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payload</a:t>
                      </a: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using</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var</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request</a:t>
                      </a:r>
                      <a:r>
                        <a:rPr lang="es-ES" sz="750" dirty="0">
                          <a:solidFill>
                            <a:srgbClr val="4F81BD"/>
                          </a:solidFill>
                          <a:latin typeface="Calibri"/>
                          <a:ea typeface="Calibri"/>
                          <a:cs typeface="Calibri"/>
                          <a:sym typeface="Calibri"/>
                        </a:rPr>
                        <a:t> = new </a:t>
                      </a:r>
                      <a:r>
                        <a:rPr lang="es-ES" sz="750" dirty="0" err="1">
                          <a:solidFill>
                            <a:srgbClr val="4F81BD"/>
                          </a:solidFill>
                          <a:latin typeface="Calibri"/>
                          <a:ea typeface="Calibri"/>
                          <a:cs typeface="Calibri"/>
                          <a:sym typeface="Calibri"/>
                        </a:rPr>
                        <a:t>HttpRequestMessage</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HttpMethod.Post</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EndpointUrl</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auth</a:t>
                      </a:r>
                      <a:r>
                        <a:rPr lang="es-ES" sz="750" dirty="0">
                          <a:solidFill>
                            <a:srgbClr val="4F81BD"/>
                          </a:solidFill>
                          <a:latin typeface="Calibri"/>
                          <a:ea typeface="Calibri"/>
                          <a:cs typeface="Calibri"/>
                          <a:sym typeface="Calibri"/>
                        </a:rPr>
                        <a:t>/login");</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request.Content</a:t>
                      </a:r>
                      <a:r>
                        <a:rPr lang="es-ES" sz="750" dirty="0">
                          <a:solidFill>
                            <a:srgbClr val="4F81BD"/>
                          </a:solidFill>
                          <a:latin typeface="Calibri"/>
                          <a:ea typeface="Calibri"/>
                          <a:cs typeface="Calibri"/>
                          <a:sym typeface="Calibri"/>
                        </a:rPr>
                        <a:t> = new </a:t>
                      </a:r>
                      <a:r>
                        <a:rPr lang="es-ES" sz="750" dirty="0" err="1">
                          <a:solidFill>
                            <a:srgbClr val="4F81BD"/>
                          </a:solidFill>
                          <a:latin typeface="Calibri"/>
                          <a:ea typeface="Calibri"/>
                          <a:cs typeface="Calibri"/>
                          <a:sym typeface="Calibri"/>
                        </a:rPr>
                        <a:t>StringContent</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json</a:t>
                      </a:r>
                      <a:r>
                        <a:rPr lang="es-ES" sz="750" dirty="0">
                          <a:solidFill>
                            <a:srgbClr val="4F81BD"/>
                          </a:solidFill>
                          <a:latin typeface="Calibri"/>
                          <a:ea typeface="Calibri"/>
                          <a:cs typeface="Calibri"/>
                          <a:sym typeface="Calibri"/>
                        </a:rPr>
                        <a:t>, Encoding.UTF8, "</a:t>
                      </a:r>
                      <a:r>
                        <a:rPr lang="es-ES" sz="750" dirty="0" err="1">
                          <a:solidFill>
                            <a:srgbClr val="4F81BD"/>
                          </a:solidFill>
                          <a:latin typeface="Calibri"/>
                          <a:ea typeface="Calibri"/>
                          <a:cs typeface="Calibri"/>
                          <a:sym typeface="Calibri"/>
                        </a:rPr>
                        <a:t>application</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json</a:t>
                      </a: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endParaRPr lang="es-ES" sz="75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AplicarHostHeader</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request</a:t>
                      </a: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endParaRPr lang="es-ES" sz="75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var</a:t>
                      </a:r>
                      <a:r>
                        <a:rPr lang="es-ES" sz="750" dirty="0">
                          <a:solidFill>
                            <a:srgbClr val="4F81BD"/>
                          </a:solidFill>
                          <a:latin typeface="Calibri"/>
                          <a:ea typeface="Calibri"/>
                          <a:cs typeface="Calibri"/>
                          <a:sym typeface="Calibri"/>
                        </a:rPr>
                        <a:t> response = </a:t>
                      </a:r>
                      <a:r>
                        <a:rPr lang="es-ES" sz="750" dirty="0" err="1">
                          <a:solidFill>
                            <a:srgbClr val="4F81BD"/>
                          </a:solidFill>
                          <a:latin typeface="Calibri"/>
                          <a:ea typeface="Calibri"/>
                          <a:cs typeface="Calibri"/>
                          <a:sym typeface="Calibri"/>
                        </a:rPr>
                        <a:t>await</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httpClient.SendAsync</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request</a:t>
                      </a: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var</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responseBody</a:t>
                      </a:r>
                      <a:r>
                        <a:rPr lang="es-ES" sz="750" dirty="0">
                          <a:solidFill>
                            <a:srgbClr val="4F81BD"/>
                          </a:solidFill>
                          <a:latin typeface="Calibri"/>
                          <a:ea typeface="Calibri"/>
                          <a:cs typeface="Calibri"/>
                          <a:sym typeface="Calibri"/>
                        </a:rPr>
                        <a:t> = </a:t>
                      </a:r>
                      <a:r>
                        <a:rPr lang="es-ES" sz="750" dirty="0" err="1">
                          <a:solidFill>
                            <a:srgbClr val="4F81BD"/>
                          </a:solidFill>
                          <a:latin typeface="Calibri"/>
                          <a:ea typeface="Calibri"/>
                          <a:cs typeface="Calibri"/>
                          <a:sym typeface="Calibri"/>
                        </a:rPr>
                        <a:t>await</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response.Content.ReadAsStringAsync</a:t>
                      </a: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endParaRPr lang="es-ES" sz="75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using</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var</a:t>
                      </a:r>
                      <a:r>
                        <a:rPr lang="es-ES" sz="750" dirty="0">
                          <a:solidFill>
                            <a:srgbClr val="4F81BD"/>
                          </a:solidFill>
                          <a:latin typeface="Calibri"/>
                          <a:ea typeface="Calibri"/>
                          <a:cs typeface="Calibri"/>
                          <a:sym typeface="Calibri"/>
                        </a:rPr>
                        <a:t> </a:t>
                      </a:r>
                      <a:r>
                        <a:rPr lang="es-ES" sz="750" dirty="0" err="1">
                          <a:solidFill>
                            <a:srgbClr val="4F81BD"/>
                          </a:solidFill>
                          <a:latin typeface="Calibri"/>
                          <a:ea typeface="Calibri"/>
                          <a:cs typeface="Calibri"/>
                          <a:sym typeface="Calibri"/>
                        </a:rPr>
                        <a:t>doc</a:t>
                      </a:r>
                      <a:r>
                        <a:rPr lang="es-ES" sz="750" dirty="0">
                          <a:solidFill>
                            <a:srgbClr val="4F81BD"/>
                          </a:solidFill>
                          <a:latin typeface="Calibri"/>
                          <a:ea typeface="Calibri"/>
                          <a:cs typeface="Calibri"/>
                          <a:sym typeface="Calibri"/>
                        </a:rPr>
                        <a:t> = </a:t>
                      </a:r>
                      <a:r>
                        <a:rPr lang="es-ES" sz="750" dirty="0" err="1">
                          <a:solidFill>
                            <a:srgbClr val="4F81BD"/>
                          </a:solidFill>
                          <a:latin typeface="Calibri"/>
                          <a:ea typeface="Calibri"/>
                          <a:cs typeface="Calibri"/>
                          <a:sym typeface="Calibri"/>
                        </a:rPr>
                        <a:t>JsonDocument.Parse</a:t>
                      </a:r>
                      <a:r>
                        <a:rPr lang="es-ES" sz="750" dirty="0">
                          <a:solidFill>
                            <a:srgbClr val="4F81BD"/>
                          </a:solidFill>
                          <a:latin typeface="Calibri"/>
                          <a:ea typeface="Calibri"/>
                          <a:cs typeface="Calibri"/>
                          <a:sym typeface="Calibri"/>
                        </a:rPr>
                        <a:t>(</a:t>
                      </a:r>
                      <a:r>
                        <a:rPr lang="es-ES" sz="750" dirty="0" err="1">
                          <a:solidFill>
                            <a:srgbClr val="4F81BD"/>
                          </a:solidFill>
                          <a:latin typeface="Calibri"/>
                          <a:ea typeface="Calibri"/>
                          <a:cs typeface="Calibri"/>
                          <a:sym typeface="Calibri"/>
                        </a:rPr>
                        <a:t>responseBody</a:t>
                      </a:r>
                      <a:r>
                        <a:rPr lang="es-ES" sz="75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750" dirty="0">
                          <a:solidFill>
                            <a:srgbClr val="4F81BD"/>
                          </a:solidFill>
                          <a:latin typeface="Calibri"/>
                          <a:ea typeface="Calibri"/>
                          <a:cs typeface="Calibri"/>
                          <a:sym typeface="Calibri"/>
                        </a:rPr>
                        <a:t>    // ...</a:t>
                      </a:r>
                      <a:endParaRPr sz="75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42" name="Google Shape;642;p7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43" name="Google Shape;643;p7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44" name="Google Shape;644;p79"/>
          <p:cNvSpPr txBox="1"/>
          <p:nvPr/>
        </p:nvSpPr>
        <p:spPr>
          <a:xfrm>
            <a:off x="406975" y="1921878"/>
            <a:ext cx="8576700" cy="7374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Clr>
                <a:srgbClr val="000000"/>
              </a:buClr>
              <a:buSzPts val="1800"/>
              <a:buFont typeface="Arial"/>
              <a:buNone/>
            </a:pPr>
            <a:r>
              <a:rPr lang="es-ES" sz="1800" b="1">
                <a:solidFill>
                  <a:srgbClr val="3D3D3D"/>
                </a:solidFill>
                <a:latin typeface="Cambria"/>
                <a:ea typeface="Cambria"/>
                <a:cs typeface="Cambria"/>
                <a:sym typeface="Cambria"/>
              </a:rPr>
              <a:t>1.6</a:t>
            </a:r>
            <a:r>
              <a:rPr lang="es-ES" sz="1800" b="1" i="0" u="none" strike="noStrike" cap="none">
                <a:solidFill>
                  <a:srgbClr val="3D3D3D"/>
                </a:solidFill>
                <a:latin typeface="Cambria"/>
                <a:ea typeface="Cambria"/>
                <a:cs typeface="Cambria"/>
                <a:sym typeface="Cambria"/>
              </a:rPr>
              <a:t> 	CREACIÓN DEL PROYECTO – CLIENTE MÓVIL</a:t>
            </a:r>
            <a:br>
              <a:rPr lang="es-ES" sz="1800" b="1" i="0" u="none" strike="noStrike" cap="none">
                <a:solidFill>
                  <a:srgbClr val="3D3D3D"/>
                </a:solidFill>
                <a:latin typeface="Cambria"/>
                <a:ea typeface="Cambria"/>
                <a:cs typeface="Cambria"/>
                <a:sym typeface="Cambria"/>
              </a:rPr>
            </a:br>
            <a:endParaRPr sz="1800" b="0" i="0" u="none" strike="noStrike" cap="none">
              <a:solidFill>
                <a:srgbClr val="3D3D3D"/>
              </a:solidFill>
              <a:latin typeface="Gill Sans"/>
              <a:ea typeface="Gill Sans"/>
              <a:cs typeface="Gill Sans"/>
              <a:sym typeface="Gill Sans"/>
            </a:endParaRPr>
          </a:p>
        </p:txBody>
      </p:sp>
      <p:sp>
        <p:nvSpPr>
          <p:cNvPr id="646" name="Google Shape;646;p79"/>
          <p:cNvSpPr txBox="1">
            <a:spLocks noGrp="1"/>
          </p:cNvSpPr>
          <p:nvPr>
            <p:ph type="body" idx="1"/>
          </p:nvPr>
        </p:nvSpPr>
        <p:spPr>
          <a:xfrm>
            <a:off x="581192" y="2176833"/>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dirty="0">
                <a:latin typeface="Cambria"/>
                <a:ea typeface="Cambria"/>
                <a:cs typeface="Cambria"/>
                <a:sym typeface="Cambria"/>
              </a:rPr>
              <a:t>Para el cliente móvil se creó un proyecto .NET MAUI App (net9.0) con arquitectura MVC. Consume el servicio REST con </a:t>
            </a:r>
            <a:r>
              <a:rPr lang="es-ES" sz="1564" dirty="0" err="1">
                <a:latin typeface="Cambria"/>
                <a:ea typeface="Cambria"/>
                <a:cs typeface="Cambria"/>
                <a:sym typeface="Cambria"/>
              </a:rPr>
              <a:t>HttpClient</a:t>
            </a:r>
            <a:r>
              <a:rPr lang="es-ES" sz="1564" dirty="0">
                <a:latin typeface="Cambria"/>
                <a:ea typeface="Cambria"/>
                <a:cs typeface="Cambria"/>
                <a:sym typeface="Cambria"/>
              </a:rPr>
              <a:t> (</a:t>
            </a:r>
            <a:r>
              <a:rPr lang="es-ES" sz="1564" dirty="0" err="1">
                <a:latin typeface="Cambria"/>
                <a:ea typeface="Cambria"/>
                <a:cs typeface="Cambria"/>
                <a:sym typeface="Cambria"/>
              </a:rPr>
              <a:t>ConversorService</a:t>
            </a:r>
            <a:r>
              <a:rPr lang="es-ES" sz="1564" dirty="0">
                <a:latin typeface="Cambria"/>
                <a:ea typeface="Cambria"/>
                <a:cs typeface="Cambria"/>
                <a:sym typeface="Cambria"/>
              </a:rPr>
              <a:t>) y usa 10.0.2.2 como dirección del servidor cuando se ejecuta en Android.</a:t>
            </a:r>
            <a:endParaRPr dirty="0">
              <a:latin typeface="Cambria"/>
              <a:ea typeface="Cambria"/>
              <a:cs typeface="Cambria"/>
              <a:sym typeface="Cambria"/>
            </a:endParaRPr>
          </a:p>
        </p:txBody>
      </p:sp>
      <p:sp>
        <p:nvSpPr>
          <p:cNvPr id="4" name="Google Shape;319;p40">
            <a:extLst>
              <a:ext uri="{FF2B5EF4-FFF2-40B4-BE49-F238E27FC236}">
                <a16:creationId xmlns:a16="http://schemas.microsoft.com/office/drawing/2014/main" id="{A1C037D4-5E51-5AB0-07DA-1174148A39FA}"/>
              </a:ext>
            </a:extLst>
          </p:cNvPr>
          <p:cNvSpPr txBox="1">
            <a:spLocks/>
          </p:cNvSpPr>
          <p:nvPr/>
        </p:nvSpPr>
        <p:spPr>
          <a:xfrm>
            <a:off x="200436" y="3325295"/>
            <a:ext cx="2132400" cy="3273936"/>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extLst>
      <p:ext uri="{BB962C8B-B14F-4D97-AF65-F5344CB8AC3E}">
        <p14:creationId xmlns:p14="http://schemas.microsoft.com/office/powerpoint/2010/main" val="1555108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graphicFrame>
        <p:nvGraphicFramePr>
          <p:cNvPr id="651" name="Google Shape;651;p80"/>
          <p:cNvGraphicFramePr/>
          <p:nvPr>
            <p:extLst>
              <p:ext uri="{D42A27DB-BD31-4B8C-83A1-F6EECF244321}">
                <p14:modId xmlns:p14="http://schemas.microsoft.com/office/powerpoint/2010/main" val="3547816669"/>
              </p:ext>
            </p:extLst>
          </p:nvPr>
        </p:nvGraphicFramePr>
        <p:xfrm>
          <a:off x="2332838" y="2061638"/>
          <a:ext cx="6484300" cy="439909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0">
                <a:tc>
                  <a:txBody>
                    <a:bodyPr/>
                    <a:lstStyle/>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private async void btnIngresar_Clicked(object sender, EventArgs e)</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string user = txtUsuario.Text?.Trim() ??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string pass = txtPassword.Text ??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string endpoint = txtEndpointUrl.Text?.Trim() ?? "";</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lblMensaje.IsVisible = false;</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if (string.IsNullOrEmpty(user) || string.IsNullOrEmpty(pass))</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await DisplayAlert("Campos Requeridos", "Por favor escribe el usuario y la contraseña para continuar.", "Aceptar");</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return;</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if (!string.IsNullOrWhiteSpace(endpoint))</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ConversorService.EndpointUrl = endpoint;</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SetCargando(true);</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try</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string? token = await controlador.LoginAsync(user, pass);</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if (!string.IsNullOrWhiteSpace(token))</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await DisplayAlert("Acceso Concedido", $"¡Bienvenido, {user}!\nInicio de sesión RESTful exitoso.", "Continuar");</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 Navegar a la vista del conversor</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await Navigation.PushAsync(new ConversorView());</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else</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lblMensaje.Text = "Usuario o contraseña incorrectos.\nVerifica tus credenciales e intenta nuevamente.";</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lblMensaje.IsVisible = true;</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await DisplayAlert("Error de Autenticación", "Usuario o contraseña incorrectos.\nVerifica tus credenciales e intenta nuevamente.", "Aceptar");</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 ...</a:t>
                      </a:r>
                      <a:endParaRPr sz="6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52" name="Google Shape;652;p8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53" name="Google Shape;653;p8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654" name="Google Shape;654;p80"/>
          <p:cNvSpPr txBox="1">
            <a:spLocks noGrp="1"/>
          </p:cNvSpPr>
          <p:nvPr>
            <p:ph type="body" idx="1"/>
          </p:nvPr>
        </p:nvSpPr>
        <p:spPr>
          <a:xfrm>
            <a:off x="122575" y="2429475"/>
            <a:ext cx="1643700" cy="38778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a:solidFill>
                  <a:schemeClr val="dk1"/>
                </a:solidFill>
                <a:latin typeface="Calibri"/>
                <a:ea typeface="Calibri"/>
                <a:cs typeface="Calibri"/>
                <a:sym typeface="Calibri"/>
              </a:rPr>
              <a:t>A continuación se detallarán las clases principales con su código fuente.</a:t>
            </a:r>
            <a:endParaRPr sz="110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a:latin typeface="Cambria"/>
              <a:ea typeface="Cambria"/>
              <a:cs typeface="Cambria"/>
              <a:sym typeface="Cambria"/>
            </a:endParaRPr>
          </a:p>
        </p:txBody>
      </p:sp>
    </p:spTree>
    <p:extLst>
      <p:ext uri="{BB962C8B-B14F-4D97-AF65-F5344CB8AC3E}">
        <p14:creationId xmlns:p14="http://schemas.microsoft.com/office/powerpoint/2010/main" val="30703611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graphicFrame>
        <p:nvGraphicFramePr>
          <p:cNvPr id="659" name="Google Shape;659;p81"/>
          <p:cNvGraphicFramePr/>
          <p:nvPr>
            <p:extLst>
              <p:ext uri="{D42A27DB-BD31-4B8C-83A1-F6EECF244321}">
                <p14:modId xmlns:p14="http://schemas.microsoft.com/office/powerpoint/2010/main" val="371547831"/>
              </p:ext>
            </p:extLst>
          </p:nvPr>
        </p:nvGraphicFramePr>
        <p:xfrm>
          <a:off x="2332825" y="1795025"/>
          <a:ext cx="6484300" cy="4838002"/>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0">
                <a:tc>
                  <a:txBody>
                    <a:bodyPr/>
                    <a:lstStyle/>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private async void btnConvertir_Clicked(object sender, EventArgs e)</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lblError.IsVisible = false;</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string txtVal = txtValor.Text?.Trim() ??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if (string.IsNullOrEmpty(txtVal))</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await DisplayAlert("Valor Requerido", "Por favor ingresa un número para realizar la conversión.", "Aceptar");</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txtValor.Focus();</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return;</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string normalizado = txtVal.Replace(',',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if (!double.TryParse(normalizado, NumberStyles.Float, CultureInfo.InvariantCulture, out double num))</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await DisplayAlert("Formato Inválido", "El valor ingresado no es un número válido.\nPor favor escribe un número (ejemplo: 25 o 12.5).", "Aceptar");</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txtValor.Focus();</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return;</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string unidadInicial = cmbUndInit.SelectedItem as string ??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string unidadFinal = cmbUndFinal.SelectedItem as string ??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string tipo = cmbMagnitud.SelectedItem as string ?? "LONGITUD";</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if (string.IsNullOrEmpty(unidadInicial) || string.IsNullOrEmpty(unidadFinal))</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await DisplayAlert("Unidades Requeridas", "Selecciona las unidades de origen y destino.", "Aceptar");</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return;</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SetCargando(true);</a:t>
                      </a:r>
                    </a:p>
                    <a:p>
                      <a:pPr marL="0" lvl="0" indent="0" algn="l" rtl="0">
                        <a:lnSpc>
                          <a:spcPct val="120000"/>
                        </a:lnSpc>
                        <a:spcBef>
                          <a:spcPts val="0"/>
                        </a:spcBef>
                        <a:spcAft>
                          <a:spcPts val="0"/>
                        </a:spcAft>
                        <a:buNone/>
                      </a:pPr>
                      <a:endParaRPr lang="es-ES" sz="60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try</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double conversion;</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if ("MASA".Equals(tipo, StringComparison.OrdinalIgnoreCase))</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conversion = await controlador.ConvertirMasaAsync(num, unidadInicial, unidadFinal);</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else if ("TEMPERATURA".Equals(tipo, StringComparison.OrdinalIgnoreCase))</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conversion = await controlador.ConvertirTemperaturaAsync(num, unidadInicial, unidadFinal);</a:t>
                      </a:r>
                    </a:p>
                    <a:p>
                      <a:pPr marL="0" lvl="0" indent="0" algn="l" rtl="0">
                        <a:lnSpc>
                          <a:spcPct val="120000"/>
                        </a:lnSpc>
                        <a:spcBef>
                          <a:spcPts val="0"/>
                        </a:spcBef>
                        <a:spcAft>
                          <a:spcPts val="0"/>
                        </a:spcAft>
                        <a:buNone/>
                      </a:pPr>
                      <a:r>
                        <a:rPr lang="es-ES" sz="600">
                          <a:solidFill>
                            <a:srgbClr val="4F81BD"/>
                          </a:solidFill>
                          <a:latin typeface="Calibri"/>
                          <a:ea typeface="Calibri"/>
                          <a:cs typeface="Calibri"/>
                          <a:sym typeface="Calibri"/>
                        </a:rPr>
                        <a:t>    // ...</a:t>
                      </a:r>
                      <a:endParaRPr sz="6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60" name="Google Shape;660;p8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00"/>
                </a:solidFill>
                <a:latin typeface="Gill Sans"/>
                <a:ea typeface="Gill Sans"/>
                <a:cs typeface="Gill Sans"/>
                <a:sym typeface="Gill Sans"/>
              </a:rPr>
              <a:t>DESARROLLO</a:t>
            </a:r>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rgbClr val="4590B8"/>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rgbClr val="000000"/>
              </a:buClr>
              <a:buSzPts val="1400"/>
              <a:buFont typeface="Arial"/>
              <a:buNone/>
            </a:pPr>
            <a:endParaRPr/>
          </a:p>
          <a:p>
            <a:pPr marL="457200" lvl="0" indent="0" algn="l" rtl="0">
              <a:spcBef>
                <a:spcPts val="840"/>
              </a:spcBef>
              <a:spcAft>
                <a:spcPts val="0"/>
              </a:spcAft>
              <a:buClr>
                <a:srgbClr val="000000"/>
              </a:buClr>
              <a:buSzPts val="1400"/>
              <a:buFont typeface="Arial"/>
              <a:buNone/>
            </a:pPr>
            <a:endParaRPr/>
          </a:p>
          <a:p>
            <a:pPr marL="457200" marR="0" lvl="0" indent="0" algn="l" rtl="0">
              <a:lnSpc>
                <a:spcPct val="100000"/>
              </a:lnSpc>
              <a:spcBef>
                <a:spcPts val="840"/>
              </a:spcBef>
              <a:spcAft>
                <a:spcPts val="0"/>
              </a:spcAft>
              <a:buClr>
                <a:srgbClr val="000000"/>
              </a:buClr>
              <a:buSzPts val="1400"/>
              <a:buFont typeface="Arial"/>
              <a:buNone/>
            </a:pPr>
            <a:endParaRPr/>
          </a:p>
        </p:txBody>
      </p:sp>
      <p:sp>
        <p:nvSpPr>
          <p:cNvPr id="4" name="Google Shape;319;p40">
            <a:extLst>
              <a:ext uri="{FF2B5EF4-FFF2-40B4-BE49-F238E27FC236}">
                <a16:creationId xmlns:a16="http://schemas.microsoft.com/office/drawing/2014/main" id="{775722A6-86DB-1E46-D09F-1F0E8BE6AB32}"/>
              </a:ext>
            </a:extLst>
          </p:cNvPr>
          <p:cNvSpPr txBox="1">
            <a:spLocks noGrp="1"/>
          </p:cNvSpPr>
          <p:nvPr>
            <p:ph type="body" idx="1"/>
          </p:nvPr>
        </p:nvSpPr>
        <p:spPr>
          <a:xfrm>
            <a:off x="200425" y="2649960"/>
            <a:ext cx="2132400" cy="3273936"/>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extLst>
      <p:ext uri="{BB962C8B-B14F-4D97-AF65-F5344CB8AC3E}">
        <p14:creationId xmlns:p14="http://schemas.microsoft.com/office/powerpoint/2010/main" val="42427177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8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8" name="Google Shape;668;p8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669" name="Google Shape;669;p8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3" name="Captura GR04">
            <a:extLst>
              <a:ext uri="{FF2B5EF4-FFF2-40B4-BE49-F238E27FC236}">
                <a16:creationId xmlns:a16="http://schemas.microsoft.com/office/drawing/2014/main" id="{5C0B9E34-609A-6BDD-B690-5AA97E9A9490}"/>
              </a:ext>
            </a:extLst>
          </p:cNvPr>
          <p:cNvPicPr>
            <a:picLocks/>
          </p:cNvPicPr>
          <p:nvPr/>
        </p:nvPicPr>
        <p:blipFill>
          <a:blip r:embed="rId3"/>
          <a:stretch>
            <a:fillRect/>
          </a:stretch>
        </p:blipFill>
        <p:spPr>
          <a:xfrm>
            <a:off x="3982648" y="1715850"/>
            <a:ext cx="2206080" cy="4902400"/>
          </a:xfrm>
          <a:prstGeom prst="rect">
            <a:avLst/>
          </a:prstGeom>
        </p:spPr>
      </p:pic>
    </p:spTree>
    <p:extLst>
      <p:ext uri="{BB962C8B-B14F-4D97-AF65-F5344CB8AC3E}">
        <p14:creationId xmlns:p14="http://schemas.microsoft.com/office/powerpoint/2010/main" val="5894589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76" name="Google Shape;676;p8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00"/>
                </a:solidFill>
                <a:latin typeface="Gill Sans"/>
                <a:ea typeface="Gill Sans"/>
                <a:cs typeface="Gill Sans"/>
                <a:sym typeface="Gill Sans"/>
              </a:rPr>
              <a:t>DESARROLLO</a:t>
            </a:r>
            <a:endParaRPr>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OBJETIVO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SERVIDOR REST</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CONSOLA</a:t>
            </a:r>
            <a:endParaRPr sz="1200" b="1">
              <a:solidFill>
                <a:srgbClr val="FFFFFF"/>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ESCRITORIO</a:t>
            </a:r>
            <a:endParaRPr>
              <a:solidFill>
                <a:srgbClr val="FFFFFF"/>
              </a:solidFill>
            </a:endParaRPr>
          </a:p>
          <a:p>
            <a:pPr marL="763200" lvl="1"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CREACIÓN DEL PROYECTO – CLIENTE WEB</a:t>
            </a:r>
            <a:endParaRPr>
              <a:solidFill>
                <a:srgbClr val="FFFFFF"/>
              </a:solidFill>
            </a:endParaRPr>
          </a:p>
          <a:p>
            <a:pPr marL="763200" lvl="1" indent="-306000" algn="l" rtl="0">
              <a:spcBef>
                <a:spcPts val="840"/>
              </a:spcBef>
              <a:spcAft>
                <a:spcPts val="0"/>
              </a:spcAft>
              <a:buClr>
                <a:srgbClr val="FFFF00"/>
              </a:buClr>
              <a:buSzPts val="1104"/>
              <a:buFont typeface="Noto Sans Symbols"/>
              <a:buChar char="◼"/>
            </a:pPr>
            <a:r>
              <a:rPr lang="es-ES" sz="1200" b="1">
                <a:solidFill>
                  <a:srgbClr val="FFFF00"/>
                </a:solidFill>
                <a:latin typeface="Gill Sans"/>
                <a:ea typeface="Gill Sans"/>
                <a:cs typeface="Gill Sans"/>
                <a:sym typeface="Gill Sans"/>
              </a:rPr>
              <a:t>CREACIÓN DEL PROYECTO – CLIENTE MOVIL</a:t>
            </a:r>
            <a:endParaRPr>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CONCLUSIONES</a:t>
            </a:r>
            <a:endParaRPr>
              <a:solidFill>
                <a:srgbClr val="FFFFFF"/>
              </a:solidFill>
            </a:endParaRPr>
          </a:p>
          <a:p>
            <a:pPr marL="306000" lvl="0" indent="-306000" algn="l" rtl="0">
              <a:spcBef>
                <a:spcPts val="840"/>
              </a:spcBef>
              <a:spcAft>
                <a:spcPts val="0"/>
              </a:spcAft>
              <a:buClr>
                <a:schemeClr val="accent2"/>
              </a:buClr>
              <a:buSzPts val="1104"/>
              <a:buFont typeface="Noto Sans Symbols"/>
              <a:buChar char="◼"/>
            </a:pPr>
            <a:r>
              <a:rPr lang="es-ES" sz="1200" b="1">
                <a:solidFill>
                  <a:srgbClr val="FFFFFF"/>
                </a:solidFill>
                <a:latin typeface="Gill Sans"/>
                <a:ea typeface="Gill Sans"/>
                <a:cs typeface="Gill Sans"/>
                <a:sym typeface="Gill Sans"/>
              </a:rPr>
              <a:t>RECOMENDACIONES</a:t>
            </a:r>
            <a:endParaRPr>
              <a:solidFill>
                <a:srgbClr val="FFFFFF"/>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lvl="0" indent="0" algn="l" rtl="0">
              <a:spcBef>
                <a:spcPts val="840"/>
              </a:spcBef>
              <a:spcAft>
                <a:spcPts val="0"/>
              </a:spcAft>
              <a:buClr>
                <a:schemeClr val="dk1"/>
              </a:buClr>
              <a:buSzPts val="1400"/>
              <a:buFont typeface="Arial"/>
              <a:buNone/>
            </a:pPr>
            <a:endParaRPr>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a:solidFill>
                <a:schemeClr val="dk1"/>
              </a:solidFill>
            </a:endParaRPr>
          </a:p>
        </p:txBody>
      </p:sp>
      <p:sp>
        <p:nvSpPr>
          <p:cNvPr id="677" name="Google Shape;677;p83"/>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 de unidades</a:t>
            </a:r>
            <a:endParaRPr sz="2000" b="0" i="0" u="none" strike="noStrike" cap="none">
              <a:solidFill>
                <a:srgbClr val="3D3D3D"/>
              </a:solidFill>
              <a:latin typeface="Cambria"/>
              <a:ea typeface="Cambria"/>
              <a:cs typeface="Cambria"/>
              <a:sym typeface="Cambria"/>
            </a:endParaRPr>
          </a:p>
        </p:txBody>
      </p:sp>
      <p:pic>
        <p:nvPicPr>
          <p:cNvPr id="3" name="Captura GR04">
            <a:extLst>
              <a:ext uri="{FF2B5EF4-FFF2-40B4-BE49-F238E27FC236}">
                <a16:creationId xmlns:a16="http://schemas.microsoft.com/office/drawing/2014/main" id="{F37960BF-DB83-D923-D38A-97FF550776F2}"/>
              </a:ext>
            </a:extLst>
          </p:cNvPr>
          <p:cNvPicPr>
            <a:picLocks/>
          </p:cNvPicPr>
          <p:nvPr/>
        </p:nvPicPr>
        <p:blipFill>
          <a:blip r:embed="rId3"/>
          <a:stretch>
            <a:fillRect/>
          </a:stretch>
        </p:blipFill>
        <p:spPr>
          <a:xfrm>
            <a:off x="5295373" y="1868350"/>
            <a:ext cx="2122504" cy="4716675"/>
          </a:xfrm>
          <a:prstGeom prst="rect">
            <a:avLst/>
          </a:prstGeom>
        </p:spPr>
      </p:pic>
    </p:spTree>
    <p:extLst>
      <p:ext uri="{BB962C8B-B14F-4D97-AF65-F5344CB8AC3E}">
        <p14:creationId xmlns:p14="http://schemas.microsoft.com/office/powerpoint/2010/main" val="4242412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SzPts val="1656"/>
              <a:buNone/>
            </a:pPr>
            <a:r>
              <a:rPr lang="es-ES" sz="1900">
                <a:latin typeface="Cambria"/>
                <a:ea typeface="Cambria"/>
                <a:cs typeface="Cambria"/>
                <a:sym typeface="Cambria"/>
              </a:rPr>
              <a:t>La culminación de este proyecto evidencia la efectividad de una arquitectura RESTful al integrar un servidor desarrollado en .NET (WCF con webHttpBinding sobre IIS Express) con clientes de consola, escritorio (Windows Forms), web (ASP.NET Core MVC) y móvil (.NET MAUI). La integración se validó mediante endpoints con respuestas JSON y la arquitectura MVC aplicada en los clientes, lo que garantiza una solución interoperable.</a:t>
            </a:r>
            <a:endParaRPr sz="1900"/>
          </a:p>
        </p:txBody>
      </p:sp>
      <p:sp>
        <p:nvSpPr>
          <p:cNvPr id="693" name="Google Shape;693;p8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OBJETIVO</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SERVIDOR REST</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CONSOLA</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ESCRITORIO</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WEB</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MOVIL</a:t>
            </a:r>
            <a:endParaRPr sz="1400" b="0" i="0" u="none" strike="noStrike" cap="none">
              <a:solidFill>
                <a:srgbClr val="FFFFFF"/>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CONCLUSIONES</a:t>
            </a:r>
            <a:endParaRPr sz="1400" b="0" i="0" u="none" strike="noStrike" cap="none">
              <a:solidFill>
                <a:srgbClr val="FFFF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RECOMENDACIONES</a:t>
            </a:r>
            <a:endParaRPr sz="1400" b="0" i="0" u="none" strike="noStrike" cap="none">
              <a:solidFill>
                <a:srgbClr val="FFFFFF"/>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274413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8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900">
                <a:latin typeface="Cambria"/>
                <a:ea typeface="Cambria"/>
                <a:cs typeface="Cambria"/>
                <a:sym typeface="Cambria"/>
              </a:rPr>
              <a:t>Integrar una base de datos (BDD) formal para reemplazar el manejo de credenciales quemadas en código y permitir el almacenamiento histórico de las conversiones de manera persistente.</a:t>
            </a:r>
            <a:endParaRPr sz="1900">
              <a:latin typeface="Cambria"/>
              <a:ea typeface="Cambria"/>
              <a:cs typeface="Cambria"/>
              <a:sym typeface="Cambria"/>
            </a:endParaRPr>
          </a:p>
          <a:p>
            <a:pPr marL="0" lvl="0" indent="0" algn="just" rtl="0">
              <a:lnSpc>
                <a:spcPct val="107000"/>
              </a:lnSpc>
              <a:spcBef>
                <a:spcPts val="0"/>
              </a:spcBef>
              <a:spcAft>
                <a:spcPts val="0"/>
              </a:spcAft>
              <a:buNone/>
            </a:pP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Devolver códigos de estado HTTP adecuados (400, 401) en lugar de responder siempre HTTP 200, y exigir el token en los endpoints de conversión, que hoy solo se valida en auth/validar-token. Usar HTTPS en producción.</a:t>
            </a: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 </a:t>
            </a:r>
            <a:endParaRPr sz="1900">
              <a:latin typeface="Cambria"/>
              <a:ea typeface="Cambria"/>
              <a:cs typeface="Cambria"/>
              <a:sym typeface="Cambria"/>
            </a:endParaRPr>
          </a:p>
          <a:p>
            <a:pPr marL="0" lvl="0" indent="0" algn="just" rtl="0">
              <a:lnSpc>
                <a:spcPct val="107000"/>
              </a:lnSpc>
              <a:spcBef>
                <a:spcPts val="0"/>
              </a:spcBef>
              <a:spcAft>
                <a:spcPts val="0"/>
              </a:spcAft>
              <a:buNone/>
            </a:pPr>
            <a:r>
              <a:rPr lang="es-ES" sz="1900">
                <a:latin typeface="Cambria"/>
                <a:ea typeface="Cambria"/>
                <a:cs typeface="Cambria"/>
                <a:sym typeface="Cambria"/>
              </a:rPr>
              <a:t>Restringir el origen permitido en las cabeceras CORS (actualmente Access-Control-Allow-Origin: *) y deshabilitar includeExceptionDetailInFaults y directoryBrowse en el Web.config antes de desplegar.</a:t>
            </a:r>
            <a:endParaRPr sz="190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OBJETIVO</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SERVIDOR REST</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CONSOLA</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ESCRITORIO</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WEB</a:t>
            </a:r>
            <a:endParaRPr sz="1400" b="0" i="0" u="none" strike="noStrike" cap="none">
              <a:solidFill>
                <a:srgbClr val="FFFFFF"/>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CREACIÓN DEL PROYECTO – CLIENTE MOVIL</a:t>
            </a:r>
            <a:endParaRPr sz="1400" b="0" i="0" u="none" strike="noStrike" cap="none">
              <a:solidFill>
                <a:srgbClr val="FFFFFF"/>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FF"/>
                </a:solidFill>
                <a:latin typeface="Gill Sans"/>
                <a:ea typeface="Gill Sans"/>
                <a:cs typeface="Gill Sans"/>
                <a:sym typeface="Gill Sans"/>
              </a:rPr>
              <a:t>CONCLUSIONES</a:t>
            </a:r>
            <a:endParaRPr sz="1400" b="0" i="0" u="none" strike="noStrike" cap="none">
              <a:solidFill>
                <a:srgbClr val="FFFFFF"/>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RECOMENDACIONES</a:t>
            </a:r>
            <a:endParaRPr sz="1400" b="0" i="0" u="none" strike="noStrike" cap="none">
              <a:solidFill>
                <a:srgbClr val="FFFF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305370108"/>
      </p:ext>
    </p:extLst>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9441</Words>
  <Application>Microsoft Office PowerPoint</Application>
  <PresentationFormat>Panorámica</PresentationFormat>
  <Paragraphs>1701</Paragraphs>
  <Slides>53</Slides>
  <Notes>53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53</vt:i4>
      </vt:variant>
    </vt:vector>
  </HeadingPairs>
  <TitlesOfParts>
    <vt:vector size="59" baseType="lpstr">
      <vt:lpstr>Cambria</vt:lpstr>
      <vt:lpstr>Noto Sans Symbols</vt:lpstr>
      <vt:lpstr>Arial</vt:lpstr>
      <vt:lpstr>Calibri</vt:lpstr>
      <vt:lpstr>Gill Sans</vt:lpstr>
      <vt:lpstr>Dividendo</vt:lpstr>
      <vt:lpstr>MANUAL CONVERSIÓN UNIDADES RESTFUL DOTNET</vt:lpstr>
      <vt:lpstr>Presentación de PowerPoint</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ANTHONY ALAIN MORALES CARVAJAL</cp:lastModifiedBy>
  <cp:revision>7</cp:revision>
  <dcterms:modified xsi:type="dcterms:W3CDTF">2026-10-29T01:45:23Z</dcterms:modified>
</cp:coreProperties>
</file>