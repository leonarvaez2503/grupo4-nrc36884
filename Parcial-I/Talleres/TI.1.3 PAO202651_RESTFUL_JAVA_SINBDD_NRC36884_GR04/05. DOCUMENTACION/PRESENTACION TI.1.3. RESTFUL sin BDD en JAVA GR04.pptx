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7"/>
  </p:notes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8" r:id="rId40"/>
    <p:sldId id="369" r:id="rId41"/>
    <p:sldId id="370" r:id="rId42"/>
    <p:sldId id="371" r:id="rId43"/>
    <p:sldId id="372" r:id="rId44"/>
    <p:sldId id="373" r:id="rId45"/>
    <p:sldId id="374" r:id="rId46"/>
    <p:sldId id="375" r:id="rId47"/>
    <p:sldId id="376" r:id="rId48"/>
    <p:sldId id="377" r:id="rId49"/>
    <p:sldId id="378" r:id="rId50"/>
    <p:sldId id="379" r:id="rId51"/>
    <p:sldId id="380" r:id="rId52"/>
    <p:sldId id="381" r:id="rId53"/>
    <p:sldId id="382" r:id="rId54"/>
    <p:sldId id="383" r:id="rId55"/>
    <p:sldId id="384" r:id="rId56"/>
  </p:sldIdLst>
  <p:sldSz cx="12192000" cy="6858000"/>
  <p:notesSz cx="6858000" cy="9144000"/>
  <p:embeddedFontLst>
    <p:embeddedFont>
      <p:font typeface="Cambria" panose="02040503050406030204" pitchFamily="18" charset="0"/>
      <p:regular r:id="rId58"/>
      <p:bold r:id="rId59"/>
      <p:italic r:id="rId60"/>
      <p:boldItalic r:id="rId61"/>
    </p:embeddedFont>
    <p:embeddedFont>
      <p:font typeface="Gill Sans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8526227b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a8526227b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526227b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a8526227b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8526227be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g3a8526227be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8526227be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" name="Google Shape;275;g3a8526227be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54632a9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g3a854632a9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854632a9a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a854632a9a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854632a9a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2" name="Google Shape;532;g3a854632a9a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854632a9a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2" name="Google Shape;542;g3a854632a9a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854632a9a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0" name="Google Shape;550;g3a854632a9a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854632a9a_2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8" name="Google Shape;558;g3a854632a9a_2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854632a9a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g3a854632a9a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854632a9a_2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9" name="Google Shape;599;g3a854632a9a_2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54632a9a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3a854632a9a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54632a9a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3a854632a9a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8526227be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g3a8526227be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854632a9a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7" name="Google Shape;657;g3a854632a9a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854632a9a_2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g3a854632a9a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c.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RESTFUL JAVA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FLORES CAETANO					MORALES ANTHONY			         	</a:t>
            </a: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dirty="0">
                <a:solidFill>
                  <a:schemeClr val="lt1"/>
                </a:solidFill>
              </a:rPr>
              <a:t>NARVAEZ LEONARDO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27/10/2026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167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REST EN JAVA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126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e implementar un Web Service utilizando RESTful mediante JAVA para realizar conversiones de unidades de longitud, masa y temperatura, consumido desde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597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Servidor Payara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En primer lugar, en Apache NetBeans, en la sección de Servicios se crea un servidor, específicamente Payara.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613" y="3539075"/>
            <a:ext cx="4562475" cy="3143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96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 selecciona la versión de Payara Server a instalar (Payara 6 Community Edition), se aceptan los términos de condiciones y se selecciona un directorio donde instalar el servidor.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225" y="3200392"/>
            <a:ext cx="4667250" cy="3257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760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1192" y="1923050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Para terminar la configuración del servidor de payara se configura un nombre de dominio, un host (en nuestro caso,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loopback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) y se cambian los puertos si se desea.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250" y="3171650"/>
            <a:ext cx="4505325" cy="3495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033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192" y="191555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1.2.2 	Creación del Proyecto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Una vez creado el servidor, se crea un proyecto Java, Web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454" y="3244250"/>
            <a:ext cx="4676775" cy="32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629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aplica el nombre del proyecto como ‘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WS_ConversorUnidades_Java_REST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’, y se configura el grupo como ‘</a:t>
            </a:r>
            <a:r>
              <a:rPr lang="es-ES" u="sng" dirty="0" err="1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ec.edu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.monster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’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selecciona nuestro Servidor Payara creado y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EE 10 como conjunto de desarrollo de aplicaciones Java.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B49A1FBA-A53A-74FD-CE83-FE6849F43C9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95839" y="3429100"/>
            <a:ext cx="4076421" cy="2807825"/>
          </a:xfrm>
          <a:prstGeom prst="rect">
            <a:avLst/>
          </a:prstGeom>
        </p:spPr>
      </p:pic>
      <p:pic>
        <p:nvPicPr>
          <p:cNvPr id="7" name="Captura GR04">
            <a:extLst>
              <a:ext uri="{FF2B5EF4-FFF2-40B4-BE49-F238E27FC236}">
                <a16:creationId xmlns:a16="http://schemas.microsoft.com/office/drawing/2014/main" id="{04963837-27C0-2B1E-7EDB-D8CD9084A2D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691662" y="3251850"/>
            <a:ext cx="459105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3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Aplicando un patrón arquitectónico MVC junto a otras capas se configuran los paquetes principales.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56DF3D04-88E6-5FC8-BF9D-77D34DB69BF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96" y="2609815"/>
            <a:ext cx="3519611" cy="33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08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1.2.3 	Creación de los recursos REST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Dentro del paquete controladores.rest se crea la clase RestApplication, que define el prefijo /api, y los recursos AutenticacionResource, ConversorResource y WSConversorUnidadesRest.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Cada recurso se anota con @Path y @Produces(MediaType.APPLICATION_JSON) y expone sus métodos con @GET y @POST.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4184CA11-3A9E-A6D5-16F4-D497AEF72C2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58600" y="4720300"/>
            <a:ext cx="3280200" cy="820050"/>
          </a:xfrm>
          <a:prstGeom prst="rect">
            <a:avLst/>
          </a:prstGeom>
        </p:spPr>
      </p:pic>
      <p:pic>
        <p:nvPicPr>
          <p:cNvPr id="7" name="Captura GR04">
            <a:extLst>
              <a:ext uri="{FF2B5EF4-FFF2-40B4-BE49-F238E27FC236}">
                <a16:creationId xmlns:a16="http://schemas.microsoft.com/office/drawing/2014/main" id="{594F9C42-FE57-6492-5B09-19E26DB23E1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03225" y="3985321"/>
            <a:ext cx="3810000" cy="22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2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3007574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Se codifica el recurso REST </a:t>
            </a:r>
            <a:r>
              <a:rPr lang="es-ES" sz="1677" b="1" dirty="0" err="1">
                <a:latin typeface="Cambria"/>
                <a:ea typeface="Cambria"/>
                <a:cs typeface="Cambria"/>
                <a:sym typeface="Cambria"/>
              </a:rPr>
              <a:t>WSConversorUnidadesRest</a:t>
            </a: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 bajo los siguientes lineamientos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1. Se dejan preparadas las siguientes importaciones que se encargarán de gestionar toda la lógica.</a:t>
            </a:r>
            <a:br>
              <a:rPr lang="es-ES" sz="1677" b="1" dirty="0">
                <a:latin typeface="Cambria"/>
                <a:ea typeface="Cambria"/>
                <a:cs typeface="Cambria"/>
                <a:sym typeface="Cambria"/>
              </a:rPr>
            </a:b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3233609703"/>
              </p:ext>
            </p:extLst>
          </p:nvPr>
        </p:nvGraphicFramePr>
        <p:xfrm>
          <a:off x="3740054" y="2482667"/>
          <a:ext cx="5400050" cy="37465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ec.edu.monster.controladores.rest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ec.edu.monster.modelos.dto.ConversionResponse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ec.edu.monster.modelos.dto.LoginResponse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ec.edu.monster.modelos.dto.RespuestaGeneral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ec.edu.monster.modelos.utilidades.ConversorLongitud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ec.edu.monster.modelos.utilidades.ConversorMasa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ec.edu.monster.modelos.utilidades.ConversorTemperatura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ec.edu.monster.modelos.utilidades.enums.UnidadLongitud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ec.edu.monster.modelos.utilidades.enums.UnidadMasa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ec.edu.monster.modelos.utilidades.enums.UnidadTemperatura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ec.edu.monster.modelos.utilidades.mapeadores.UnidadMapper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ec.edu.monster.seguridad.AdministradorCredenciales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ec.edu.monster.seguridad.AdministradorToken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ec.edu.monster.servicios.ServicioConversor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jakarta.ws.rs.Consumes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jakarta.ws.rs.FormParam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jakarta.ws.rs.GET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jakarta.ws.rs.POST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jakarta.ws.rs.Path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jakarta.ws.rs.Produces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jakarta.ws.rs.QueryParam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jakarta.ws.rs.core.MediaType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jakarta.ws.rs.core.Response</a:t>
                      </a:r>
                      <a:r>
                        <a:rPr lang="es-ES" sz="9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9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031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8083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2. Se configura la ruta (@Path) y el formato de respuesta (JSON) del recurso.</a:t>
            </a:r>
            <a:endParaRPr sz="1677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3. Se crean los atributos respectivos.</a:t>
            </a:r>
            <a:br>
              <a:rPr lang="es-ES" sz="1677" b="1" dirty="0">
                <a:latin typeface="Cambria"/>
                <a:ea typeface="Cambria"/>
                <a:cs typeface="Cambria"/>
                <a:sym typeface="Cambria"/>
              </a:rPr>
            </a:b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>
            <p:extLst>
              <p:ext uri="{D42A27DB-BD31-4B8C-83A1-F6EECF244321}">
                <p14:modId xmlns:p14="http://schemas.microsoft.com/office/powerpoint/2010/main" val="3229682258"/>
              </p:ext>
            </p:extLst>
          </p:nvPr>
        </p:nvGraphicFramePr>
        <p:xfrm>
          <a:off x="3701450" y="2180500"/>
          <a:ext cx="5400050" cy="4622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@Path("/WSConversorUnidades")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@Produces(MediaType.APPLICATION_JSON)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>
            <p:extLst>
              <p:ext uri="{D42A27DB-BD31-4B8C-83A1-F6EECF244321}">
                <p14:modId xmlns:p14="http://schemas.microsoft.com/office/powerpoint/2010/main" val="4136618884"/>
              </p:ext>
            </p:extLst>
          </p:nvPr>
        </p:nvGraphicFramePr>
        <p:xfrm>
          <a:off x="3701450" y="3375275"/>
          <a:ext cx="5400050" cy="1468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WSConversorUnidadesRest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ServicioConversor&lt;UnidadLongitud&gt; servicioLongitud =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ConversorLongitud());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ServicioConversor&lt;UnidadMasa&gt; servicioMasa =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ConversorMasa());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ServicioConversor&lt;UnidadTemperatura&gt; servicioTemperatura =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ConversorTemperatura());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9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763828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4. Se crean los métodos HTTP POST de login y de cambio de contraseña.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1232759585"/>
              </p:ext>
            </p:extLst>
          </p:nvPr>
        </p:nvGraphicFramePr>
        <p:xfrm>
          <a:off x="3917100" y="1928900"/>
          <a:ext cx="4894525" cy="453367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@Path("/login")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@Consumes({MediaType.APPLICATION_JSON, MediaType.APPLICATION_FORM_URLENCODED})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login(@QueryParam("usuario") String qUser,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@QueryParam("contrasenia") String qPass,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@FormParam("usuario") String fUser,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@FormParam("contrasenia") String fPass)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 = (qUser != null) ? qUser : fUser;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p = (qPass != null) ? qPass : fPass;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(AdministradorCredenciales.validarUsuario(u, p))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AdministradorToken.generarToken();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Response.ok(new LoginResponse(true, token, u.toUpperCase(), "Login correcto")).build();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Response.status(Response.Status.UNAUTHORIZED)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.entity(new LoginResponse(false, null, u, "Credenciales incorrectas")).build();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@Path("/cambiarContrasenia")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@Consumes({MediaType.APPLICATION_JSON, MediaType.APPLICATION_FORM_URLENCODED})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cambiarContrasenia(@QueryParam("contraseniaActual") String qActual,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@QueryParam("contraseniaNueva") String qNueva,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@FormParam("contraseniaActual") String fActual,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@FormParam("contraseniaNueva") String fNueva)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actual = (qActual != null) ? qActual : fActual;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nueva = (qNueva != null) ? qNueva : fNueva;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AdministradorCredenciales.cambiarContrasenia(actual, nueva);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Response.ok(RespuestaGeneral.ok("Contrasenia actualizada correctamente")).build();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Response.status(Response.Status.BAD_REQUEST)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.entity(RespuestaGeneral.error(e.getMessage())).build();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83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>
            <p:extLst>
              <p:ext uri="{D42A27DB-BD31-4B8C-83A1-F6EECF244321}">
                <p14:modId xmlns:p14="http://schemas.microsoft.com/office/powerpoint/2010/main" val="2961445367"/>
              </p:ext>
            </p:extLst>
          </p:nvPr>
        </p:nvGraphicFramePr>
        <p:xfrm>
          <a:off x="3881150" y="2291900"/>
          <a:ext cx="4894525" cy="42418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@GET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@Path("/convertirLongitud")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convertirLongitudGet(@QueryParam("valor") double valor,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@QueryParam("unidadInicial") String unidadInicial,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@QueryParam("unidadFinal")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convertirLongitud(valor,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@Path("/convertirLongitud")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@Consumes({MediaType.APPLICATION_JSON, MediaType.APPLICATION_FORM_URLENCODED})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convertirLongitudPost(@FormParam("valor") double valor,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@FormParam("unidadInicial") String unidadInicial,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 @FormParam("unidadFinal")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convertirLongitud(valor,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Response convertirLongitud(double valor, String unidadInicial,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UnidadLongitud origen = UnidadMapper.toLongitud(unidadInicial);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UnidadLongitud destino = UnidadMapper.toLongitud(unidadFinal);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resultado = servicioLongitud.convertir(valor,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Response.ok(new ConversionResponse(true, "LONGITUD", valor, origen.name(), resultado, destino.name(), "OK")).build();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Response.status(Response.Status.BAD_REQUEST).entity(RespuestaGeneral.error(e.getMessage())).build();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199" y="2180500"/>
            <a:ext cx="3027239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5. Se crean los métodos de conversión, expuestos con GET (</a:t>
            </a:r>
            <a:r>
              <a:rPr lang="es-ES" sz="1677" dirty="0" err="1">
                <a:latin typeface="Cambria"/>
                <a:ea typeface="Cambria"/>
                <a:cs typeface="Cambria"/>
                <a:sym typeface="Cambria"/>
              </a:rPr>
              <a:t>query</a:t>
            </a: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sz="1677" dirty="0" err="1">
                <a:latin typeface="Cambria"/>
                <a:ea typeface="Cambria"/>
                <a:cs typeface="Cambria"/>
                <a:sym typeface="Cambria"/>
              </a:rPr>
              <a:t>params</a:t>
            </a: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) y con POST (formulario), que delegan en un método privado.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931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>
            <p:extLst>
              <p:ext uri="{D42A27DB-BD31-4B8C-83A1-F6EECF244321}">
                <p14:modId xmlns:p14="http://schemas.microsoft.com/office/powerpoint/2010/main" val="3500452707"/>
              </p:ext>
            </p:extLst>
          </p:nvPr>
        </p:nvGraphicFramePr>
        <p:xfrm>
          <a:off x="3881150" y="2291900"/>
          <a:ext cx="4894525" cy="41503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@Path("/conversor")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@Produces(MediaType.APPLICATION_JSON)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@Consumes(MediaType.APPLICATION_JSON)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convertirLongitudPost(ConversionRequest request)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(request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Response.status(Response.Status.BAD_REQUEST)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.entity(RespuestaGeneral.error("Cuerpo de solicitud requerido"))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ejecutarConversionLongitud(request.getValor(), request.getUnidadInicial(), request.getUnidadFinal());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@GET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convertirLongitudGet(@QueryParam("valor") double valor,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@QueryParam("unidadInicial") String unidadInicial,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                @QueryParam("unidadFinal")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ejecutarConversionLongitud(valor,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@GET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@Path("/unidades")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Response catalogoUnidades()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Map&lt;String, Object&gt; catalogo = Map.of(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"longitud", Arrays.stream(UnidadLongitud.values()).map(Enum::name).toArray(),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"masa", Arrays.stream(UnidadMasa.values()).map(Enum::name).toArray(),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"temperatura", Arrays.stream(UnidadTemperatura.values()).map(Enum::name).toArray()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Response.ok(RespuestaGeneral.ok("Catálogo de unidades disponibles", catalogo)).build();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8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6. El recurso ConversorResource (/api/conversor) recibe el valor y las unidades por POST con cuerpo JSON (ConversionRequest) o por GET con query params, y ofrece el catálogo de unidades.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6876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>
            <p:extLst>
              <p:ext uri="{D42A27DB-BD31-4B8C-83A1-F6EECF244321}">
                <p14:modId xmlns:p14="http://schemas.microsoft.com/office/powerpoint/2010/main" val="2645119454"/>
              </p:ext>
            </p:extLst>
          </p:nvPr>
        </p:nvGraphicFramePr>
        <p:xfrm>
          <a:off x="3881150" y="2291900"/>
          <a:ext cx="4894525" cy="3742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LoginRequest implements Serializable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usuario;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contrasenia;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LoginResponse implements Serializable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boolean exito;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usuario;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mensaje;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ConversionResponse implements Serializable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boolean exito;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tipo;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valorInicial;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unidadInicial;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valorFinal;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unidadFinal;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mensaje;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timestamp;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7. Se crean los DTO que viajan como JSON entre el cliente y el servidor.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1833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>
            <p:extLst>
              <p:ext uri="{D42A27DB-BD31-4B8C-83A1-F6EECF244321}">
                <p14:modId xmlns:p14="http://schemas.microsoft.com/office/powerpoint/2010/main" val="2707301959"/>
              </p:ext>
            </p:extLst>
          </p:nvPr>
        </p:nvGraphicFramePr>
        <p:xfrm>
          <a:off x="3881150" y="2291900"/>
          <a:ext cx="4894525" cy="3742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@ApplicationPath("/api")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RestApplication extends Application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@Provider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CorsFilter implements ContainerResponseFilter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filter(ContainerRequestContext requestContext,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ContainerResponseContext responseContext) throws IOException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responseContext.getHeaders().add("Access-Control-Allow-Origin", "*");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responseContext.getHeaders().add("Access-Control-Allow-Headers",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"origin, content-type, accept, authorization, x-token");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responseContext.getHeaders().add("Access-Control-Allow-Credentials", "true");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responseContext.getHeaders().add("Access-Control-Allow-Methods",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"GET, POST, PUT, DELETE, OPTIONS, HEAD");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responseContext.getHeaders().add("Access-Control-Max-Age", "1209600");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8. Se configura la aplicación REST (prefijo /api) y un filtro CORS para permitir las solicitudes de los clientes.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256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>
            <p:extLst>
              <p:ext uri="{D42A27DB-BD31-4B8C-83A1-F6EECF244321}">
                <p14:modId xmlns:p14="http://schemas.microsoft.com/office/powerpoint/2010/main" val="2033776664"/>
              </p:ext>
            </p:extLst>
          </p:nvPr>
        </p:nvGraphicFramePr>
        <p:xfrm>
          <a:off x="3881150" y="2291900"/>
          <a:ext cx="4894525" cy="3742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/auth/login  —  JSON {usuario, contrasenia}  →  200 LoginResponse | 401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/auth/login-form  —  form-urlencoded usuario, contrasenia  →  200 LoginResponse | 401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/auth/cambiar-contrasenia  —  JSON {contraseniaActual, contraseniaNueva}  →  200 | 400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  /auth/validar-token  —  Authorization: Bearer &lt;token&gt;  o  ?token=  →  200 | 401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/auth/logout  —  Authorization: Bearer &lt;token&gt;  o  ?token=  →  200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/conversor/longitud | masa | temperatura  —  JSON {valor, unidadInicial, unidadFinal}  →  200 ConversionResponse | 400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  /conversor/longitud | masa | temperatura  —  ?valor=&amp;unidadInicial=&amp;unidadFinal=  →  200 ConversionResponse | 400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  /conversor/unidades  —  catálogo de unidades disponibles  →  200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/WSConversorUnidades/login | cambiarContrasenia  —  query o form-urlencoded  →  200 | 401 | 400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   /WSConversorUnidades/convertirLongitud | convertirMasa | convertirTemperatura  —  ?valor=&amp;unidadInicial=&amp;unidadFinal=  →  200 | 400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 /WSConversorUnidades/convertirLongitud | convertirMasa | convertirTemperatura  —  form-urlencoded valor, unidadInicial, unidadFinal  →  200 | 400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Ruta base: http://localhost:8080/WS_ConversorUnidades_Java_REST/api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9. Resumen de los endpoints REST y de los métodos HTTP que expone el servidor.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84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156427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1.2.4 	Autenticación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La autenticación se implementa en el recurso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AutenticacionResource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(/api/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) apoyado en las clases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AdministradorCredenciales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AdministradorToken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del paquete seguridad.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7B9E2332-33CA-33AE-1DFA-32C168821BA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9850" y="4036752"/>
            <a:ext cx="4572000" cy="10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1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223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AutenticacionResource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 expone POST /api/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/login (JSON), POST /api/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/login-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form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, POST /api/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/cambiar-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contrasenia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, GET /api/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/validar-token y POST /api/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logout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. El login valida credenciales quemadas en código (Usuario: MONSTER, Contraseña: MONSTER9) y devuelve un token.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El servidor no exige el token en los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endpoints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 de conversión: el token solo se valida en /api/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/validar-token. Los clientes lo envían igualmente en el encabezado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Authorization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: Bearer.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3865089760"/>
              </p:ext>
            </p:extLst>
          </p:nvPr>
        </p:nvGraphicFramePr>
        <p:xfrm>
          <a:off x="2930013" y="3913239"/>
          <a:ext cx="5989437" cy="2755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98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1597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@Path("/login")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@Consumes(MediaType.APPLICATION_JSON)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Response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loginJson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LoginRequest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Response.status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Response.Status.BAD_REQUEST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entity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LoginResponse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(false,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"Datos de inicio de sesión no proporcionados"))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Response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procesarLogin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(String usuario, String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AdministradorCredenciales.validarUsuario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AdministradorToken.generarToken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LoginResponse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response = 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LoginResponse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true, token,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usuario.trim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toUpperCase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(), "Autenticación exitosa"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Response.ok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(response).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LoginResponse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response = new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LoginResponse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false, </a:t>
                      </a:r>
                      <a:r>
                        <a:rPr lang="es-ES" sz="75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usuario, "Usuario o contraseña incorrectos"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75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570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 err="1">
                <a:latin typeface="Cambria"/>
                <a:ea typeface="Cambria"/>
                <a:cs typeface="Cambria"/>
                <a:sym typeface="Cambria"/>
              </a:rPr>
              <a:t>AdministradorToken</a:t>
            </a: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 genera un token UUID con vigencia de 30 minutos y permite validarlo e invalidarlo.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3847409193"/>
              </p:ext>
            </p:extLst>
          </p:nvPr>
        </p:nvGraphicFramePr>
        <p:xfrm>
          <a:off x="2964625" y="1876275"/>
          <a:ext cx="6062675" cy="4701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ec.edu.monster.seguridad;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java.util.Map;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java.util.UUID;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java.util.concurrent.ConcurrentHashMap;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AdministradorToken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Duración de validez del token en milisegundos (por defecto 30 minutos)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long TIEMPO_EXPIRACION_MS = 30 * 60 * 1000L;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Mapa de token -&gt; timestamp de creación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Map&lt;String, Long&gt; TOKENS_ACTIVOS = new ConcurrentHashMap&lt;&gt;();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AdministradorToken()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Constructor privado para clase utilitaria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String generarToken()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token = UUID.randomUUID().toString();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TOKENS_ACTIVOS.put(token, System.currentTimeMillis());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boolean validarToken(String token)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(token == null || token.trim().isEmpty())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Long timestampCreacion = TOKENS_ACTIVOS.get(token.trim());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(timestampCreacion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Verificar si expiró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(System.currentTimeMillis() - timestampCreacion &gt; TIEMPO_EXPIRACION_MS)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TOKENS_ACTIVOS.remove(token.trim());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void invalidarToken(String token)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(token !=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TOKENS_ACTIVOS.remove(token.trim());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void limpiar()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TOKENS_ACTIVOS.clear();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468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 err="1">
                <a:latin typeface="Cambria"/>
                <a:ea typeface="Cambria"/>
                <a:cs typeface="Cambria"/>
                <a:sym typeface="Cambria"/>
              </a:rPr>
              <a:t>AdministradorCredenciales</a:t>
            </a: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 mantiene las credenciales quemadas en código (MONSTER / MONSTER9) y permite validar el usuario y cambiar la contraseña.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0" name="Google Shape;240;p30"/>
          <p:cNvGraphicFramePr/>
          <p:nvPr>
            <p:extLst>
              <p:ext uri="{D42A27DB-BD31-4B8C-83A1-F6EECF244321}">
                <p14:modId xmlns:p14="http://schemas.microsoft.com/office/powerpoint/2010/main" val="2425680445"/>
              </p:ext>
            </p:extLst>
          </p:nvPr>
        </p:nvGraphicFramePr>
        <p:xfrm>
          <a:off x="3017311" y="2163328"/>
          <a:ext cx="6062675" cy="415881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88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final String USUARIO_DEFAULT = "MONSTER";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final String CONTRASENIA_DEFAULT = "MONSTER9";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validarUsuario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(String usuario,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(usuario ==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||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claveAlmacenada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USUARIOS.get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toLowerCase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claveAlmacenada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!=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&amp;&amp;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claveAlmacenada.equals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cambiarContrasenia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contraseniaActual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contraseniaNueva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contraseniaActual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||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contraseniaNueva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||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contraseniaNueva.trim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isEmpty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RuntimeException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("Las contraseñas no pueden ser nulas ni vacías.");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actualizada =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Map.Entry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&lt;String, String&gt;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: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USUARIOS.entrySet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entry.getValue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equals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contraseniaActual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USUARIOS.put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entry.getKey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(),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contraseniaNueva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actualizada =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(!actualizada)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throw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RuntimeException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("La contraseña actual es incorrecta.");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855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192" y="2511228"/>
            <a:ext cx="2319316" cy="349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1.2.5	Lógica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>
            <p:extLst>
              <p:ext uri="{D42A27DB-BD31-4B8C-83A1-F6EECF244321}">
                <p14:modId xmlns:p14="http://schemas.microsoft.com/office/powerpoint/2010/main" val="1956144688"/>
              </p:ext>
            </p:extLst>
          </p:nvPr>
        </p:nvGraphicFramePr>
        <p:xfrm>
          <a:off x="3017313" y="3676500"/>
          <a:ext cx="6062675" cy="1160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IConversor&lt;T&gt;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T unidadInicial, T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367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581192" y="2438887"/>
            <a:ext cx="2260323" cy="3558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56" name="Google Shape;256;p32"/>
          <p:cNvGraphicFramePr/>
          <p:nvPr>
            <p:extLst>
              <p:ext uri="{D42A27DB-BD31-4B8C-83A1-F6EECF244321}">
                <p14:modId xmlns:p14="http://schemas.microsoft.com/office/powerpoint/2010/main" val="157087804"/>
              </p:ext>
            </p:extLst>
          </p:nvPr>
        </p:nvGraphicFramePr>
        <p:xfrm>
          <a:off x="3017313" y="1838175"/>
          <a:ext cx="6062675" cy="4759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ec.edu.monster.modelos.utilidades.enums.UnidadLongitud;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java.util.Map;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ConversorLongitud implements IConversor&lt;UnidadLongitud&gt;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Map&lt;UnidadLongitud, Double&gt; factores = Map.of(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UnidadLongitud.MILIMETRO, 0.001,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UnidadLongitud.CENTIMETRO, 0.01,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UnidadLongitud.METRO, 1.0,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UnidadLongitud.KILOMETRO, 1000.0,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UnidadLongitud.YARDA, 0.9144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ConversorLongitud() {}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UnidadLongitud unidadOrigen, UnidadLongitud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(unidadOrigen == null || unidadFinal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(!factores.containsKey(unidadOrigen) || !factores.containsKey(unidadFinal))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IllegalArgumentException("Unidad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valorEnBase = valor * factores.get(unidadOrigen);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valorEnBase / factores.get(unidadFinal);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482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64" name="Google Shape;264;p33"/>
          <p:cNvGraphicFramePr/>
          <p:nvPr>
            <p:extLst>
              <p:ext uri="{D42A27DB-BD31-4B8C-83A1-F6EECF244321}">
                <p14:modId xmlns:p14="http://schemas.microsoft.com/office/powerpoint/2010/main" val="2675101612"/>
              </p:ext>
            </p:extLst>
          </p:nvPr>
        </p:nvGraphicFramePr>
        <p:xfrm>
          <a:off x="3017313" y="1838175"/>
          <a:ext cx="6062675" cy="46151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ec.edu.monster.modelos.utilidades.enums.UnidadMasa;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java.util.Map;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ConversorMasa implements IConversor&lt;UnidadMasa&gt;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Map&lt;UnidadMasa, Double&gt; factores = Map.of(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UnidadMasa.MILIGRAMO, 0.001,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UnidadMasa.GRAMO, 1.0,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UnidadMasa.KILOGRAMO, 1000.0,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UnidadMasa.TONELADA, 1_000_000.0,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UnidadMasa.ONZA, 28.3495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ConversorMasa() {}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UnidadMasa unidadOrigen, UnidadMasa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(unidadOrigen == null || unidadFinal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(!factores.containsKey(unidadOrigen) || !factores.containsKey(unidadFinal))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IllegalArgumentException("Unidad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valorEnBase = valor * factores.get(unidadOrigen);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valorEnBase / factores.get(unidadFinal);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2618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>
            <p:extLst>
              <p:ext uri="{D42A27DB-BD31-4B8C-83A1-F6EECF244321}">
                <p14:modId xmlns:p14="http://schemas.microsoft.com/office/powerpoint/2010/main" val="1928909170"/>
              </p:ext>
            </p:extLst>
          </p:nvPr>
        </p:nvGraphicFramePr>
        <p:xfrm>
          <a:off x="2891513" y="2209650"/>
          <a:ext cx="6062675" cy="42875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ConversorTemperatura implements IConversor&lt;UnidadTemperatura&gt;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ConversorTemperatura() {}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UnidadTemperatura origen, UnidadTemperatura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(origen == null || destino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(origen ==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valor;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switch (origen)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CELSIUS -&gt; switch (destino)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FAHRENHEIT -&gt; (valor * 9 / 5) + 32;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KELVIN -&gt; valor + 273.15;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RANKINE -&gt; (valor + 273.15) * 9 / 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FAHRENHEIT -&gt; switch (destino)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CELSIUS -&gt; (valor - 32) * 5 / 9;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KELVIN -&gt; (valor - 32) * 5 / 9 + 273.15;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RANKINE -&gt; valor + 459.67;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KELVIN -&gt; switch (destino)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CELSIUS -&gt; valor - 273.15;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FAHRENHEIT -&gt; (valor - 273.15) * 9 / 5 + 32;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RANKINE -&gt; valor * 9 / 5;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RANKINE -&gt; switch (destino)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991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8" name="Google Shape;278;p35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0" name="Google Shape;280;p35"/>
          <p:cNvGraphicFramePr/>
          <p:nvPr>
            <p:extLst>
              <p:ext uri="{D42A27DB-BD31-4B8C-83A1-F6EECF244321}">
                <p14:modId xmlns:p14="http://schemas.microsoft.com/office/powerpoint/2010/main" val="3637446522"/>
              </p:ext>
            </p:extLst>
          </p:nvPr>
        </p:nvGraphicFramePr>
        <p:xfrm>
          <a:off x="2891513" y="1838175"/>
          <a:ext cx="6062675" cy="46990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ec.edu.monster.modelos.utilidades.mapeadores;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ec.edu.monster.modelos.utilidades.enums.UnidadLongitud;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ec.edu.monster.modelos.utilidades.enums.UnidadMasa;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ec.edu.monster.modelos.utilidades.enums.UnidadTemperatura;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java.text.Normalizer;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UnidadMapper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UnidadMapper()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Constructor privado para clase utilitaria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String normalizar(String texto)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(texto == null || texto.trim().isEmpty())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 unidad no puede estar vacía.");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limpio = Normalizer.normalize(texto.trim(), Normalizer.Form.NFD)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.replaceAll("\\p{M}", "")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.toUpperCase();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limpio;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UnidadLongitud toLongitud(String valor)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 = normalizar(valor);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switch (u)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"MILIMETRO", "MILIMETROS", "MM" -&gt; UnidadLongitud.MILIMETRO;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"CENTIMETRO", "CENTIMETROS", "CM" -&gt; UnidadLongitud.CENTIMETRO;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"METRO", "METROS", "M" -&gt; UnidadLongitud.METRO;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"KILOMETRO", "KILOMETROS", "KM" -&gt; UnidadLongitud.KILOMETRO;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"YARDA", "YARDAS", "YD" -&gt; UnidadLongitud.YARDA;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default -&gt;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yield UnidadLongitud.valueOf(u);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 catch (IllegalArgumentException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throw new IllegalArgumentException("Unidad de longitud no soportada: " + valor);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47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Aplicando una interfaz con el fin de hacer que el servicio pueda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>
            <p:extLst>
              <p:ext uri="{D42A27DB-BD31-4B8C-83A1-F6EECF244321}">
                <p14:modId xmlns:p14="http://schemas.microsoft.com/office/powerpoint/2010/main" val="3175010384"/>
              </p:ext>
            </p:extLst>
          </p:nvPr>
        </p:nvGraphicFramePr>
        <p:xfrm>
          <a:off x="2891513" y="2557313"/>
          <a:ext cx="6062675" cy="31445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ec.edu.monster.servicios;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ec.edu.monster.modelos.utilidades.IConversor;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ServicioConversor&lt;T&gt;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IConversor&lt;T&gt; conversor;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ServicioConversor(IConversor&lt;T&gt; conversor)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this.conversor = conversor;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T origen, T destino)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(conversor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IllegalStateException("No se ha inyectado un conversor");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conversor.convertir(valor,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009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919084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1.2.6 	Ejecución en Servidor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 dirty="0">
                <a:latin typeface="Cambria"/>
                <a:ea typeface="Cambria"/>
                <a:cs typeface="Cambria"/>
                <a:sym typeface="Cambria"/>
              </a:rPr>
              <a:t>Se ejecuta el proyecto en el servidor Payara (puerto 8080 por defecto) y se comprueba que el servicio responde en la ruta: http://localhost:8080/WS_ConversorUnidades_Java_REST/api/conversor/unidades (la página index.html documenta los </a:t>
            </a:r>
            <a:r>
              <a:rPr lang="es-ES" sz="1500" dirty="0" err="1">
                <a:latin typeface="Cambria"/>
                <a:ea typeface="Cambria"/>
                <a:cs typeface="Cambria"/>
                <a:sym typeface="Cambria"/>
              </a:rPr>
              <a:t>endpoints</a:t>
            </a:r>
            <a:r>
              <a:rPr lang="es-ES" sz="1500" dirty="0">
                <a:latin typeface="Cambria"/>
                <a:ea typeface="Cambria"/>
                <a:cs typeface="Cambria"/>
                <a:sym typeface="Cambria"/>
              </a:rPr>
              <a:t>).</a:t>
            </a:r>
            <a:endParaRPr sz="1500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20F51D18-7D23-CA7A-56E8-E331A797599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14517" y="4018867"/>
            <a:ext cx="5654947" cy="89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16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600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Arial" panose="020B0604020202020204" pitchFamily="34" charset="0"/>
              <a:buChar char="•"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Para el cliente consola se uso NetBeans en el cual se debe crear un nuevo proyecto para ello se seleccionó el gestor de proyectos Java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 Maven, el tipo de aplicativo que se usa es Java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Se asigna un nombre al proyecto, se da una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ubicacion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, y se configura el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group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 id con el que se quiere nombrar.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00" y="3907425"/>
            <a:ext cx="3704150" cy="25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125" y="3765892"/>
            <a:ext cx="3704150" cy="2593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9906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Arial" panose="020B0604020202020204" pitchFamily="34" charset="0"/>
              <a:buChar char="•"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Una vez que se creó el proyecto se debe generar los diferentes paquetes, donde se colocarán los archivos con código fuente.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A0F900AB-3CE2-F6B1-676F-5F0D369BEDE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8875" y="4041048"/>
            <a:ext cx="3743325" cy="22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5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9" name="Google Shape;319;p40"/>
          <p:cNvSpPr txBox="1">
            <a:spLocks noGrp="1"/>
          </p:cNvSpPr>
          <p:nvPr>
            <p:ph type="body" idx="1"/>
          </p:nvPr>
        </p:nvSpPr>
        <p:spPr>
          <a:xfrm>
            <a:off x="581192" y="250739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2562812258"/>
              </p:ext>
            </p:extLst>
          </p:nvPr>
        </p:nvGraphicFramePr>
        <p:xfrm>
          <a:off x="2964625" y="1876275"/>
          <a:ext cx="6062675" cy="4759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ec.edu.monster.wsconversorcon.controller.ConsolaControlador;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WSConversorConsoleClient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void main(String[] args)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ConsolaControlador controlador = new ConsolaControlador();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controlador.iniciar();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AppControlador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ConversorService service = new ConversorService();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convertirLongitud(double valor, String unidadInicial,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service.convertirLongitud(valor,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convertirMasa(double valor, String unidadInicial,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service.convertirMasa(valor,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convertirTemperatura(double valor, String unidadInicial,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service.convertirTemperatura(valor,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307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8" name="Google Shape;328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9" name="Google Shape;329;p41"/>
          <p:cNvGraphicFramePr/>
          <p:nvPr>
            <p:extLst>
              <p:ext uri="{D42A27DB-BD31-4B8C-83A1-F6EECF244321}">
                <p14:modId xmlns:p14="http://schemas.microsoft.com/office/powerpoint/2010/main" val="3641181971"/>
              </p:ext>
            </p:extLst>
          </p:nvPr>
        </p:nvGraphicFramePr>
        <p:xfrm>
          <a:off x="2964625" y="1876275"/>
          <a:ext cx="6062675" cy="45847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ec.edu.monster.wsconversorcon.controller;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ec.edu.monster.wsconversorcon.view.ConsolaView;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ConsolaControlador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ConsolaView vista = new ConsolaView();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AppControlador appControlador = new AppControlador();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iniciar()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vista.mostrarBanner();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(!realizarLogin())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vista.mostrarMensaje("Acceso cancelado. Finalizando programa.");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bucleMenuPrincipal();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boolean realizarLogin()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System.out.println("\n--- INICIO DE SESIÓN ---");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System.out.println("(Credenciales oficiales: MONSTER / MONSTER9)");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while (true)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usuario = vista.leerTexto("Usuario");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contrasenia = vista.leerContrasenia("Contraseña");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(usuario.isEmpty() || contrasenia.isEmpty())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vista.mostrarMensaje("Por favor complete todos los campos.");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continue;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token = appControlador.login(usuario,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(token != null &amp;&amp; !token.isBlank())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vista.mostrarMensaje("¡Bienvenido " + usuario + "! Sesión iniciada correctamente.");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 else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vista.mostrarError("Usuario o contraseña incorrectos.");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vista.mostrarError("No se pudo conectar con el servidor REST o credenciales incorrectas: " + e.getMessage());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CC0E4613-FD2B-17DC-64D3-DDC6E915F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250739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95332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2379552063"/>
              </p:ext>
            </p:extLst>
          </p:nvPr>
        </p:nvGraphicFramePr>
        <p:xfrm>
          <a:off x="3133906" y="2123650"/>
          <a:ext cx="5439425" cy="3784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bucleMenuPrincipal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continuar =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while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(continuar)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vista.mostrarMenuPrincipal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vista.leerEntero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("Seleccione una opción", 1, 4);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switch (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1: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procesarLongitud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2: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procesarMasa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3: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procesarTemperatura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4: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continuar =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vista.mostrarMensaje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("¡Gracias por utilizar el WS Conversor! Hasta luego.");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BF2488AF-E9BA-D203-3437-DF35FD0BA8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2" y="250739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55248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4" name="Google Shape;344;p4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45" name="Google Shape;345;p43"/>
          <p:cNvGraphicFramePr/>
          <p:nvPr>
            <p:extLst>
              <p:ext uri="{D42A27DB-BD31-4B8C-83A1-F6EECF244321}">
                <p14:modId xmlns:p14="http://schemas.microsoft.com/office/powerpoint/2010/main" val="2384993786"/>
              </p:ext>
            </p:extLst>
          </p:nvPr>
        </p:nvGraphicFramePr>
        <p:xfrm>
          <a:off x="2043325" y="2041263"/>
          <a:ext cx="3522650" cy="43942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35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ConversorService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BASE_URL = "http://localhost:8080/WS_ConversorUnidades_Java_REST/api";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String tokenSesion;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tokenSesion;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jsonInput = String.format("{\"usuario\":\"%s\",\"contrasenia\":\"%s\"}",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escapeJson(usuario), escapeJson(contrasenia));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respuesta = postJson(BASE_URL + "/auth/login", jsonInput);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extraerCampoJson(respuesta, "token");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(token != null &amp;&amp; !token.isBlank())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tokenSesion = 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token;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null;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RuntimeException("Error al iniciar sesión: " + e.getMessage(), e);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6" name="Google Shape;346;p43"/>
          <p:cNvGraphicFramePr/>
          <p:nvPr>
            <p:extLst>
              <p:ext uri="{D42A27DB-BD31-4B8C-83A1-F6EECF244321}">
                <p14:modId xmlns:p14="http://schemas.microsoft.com/office/powerpoint/2010/main" val="451022621"/>
              </p:ext>
            </p:extLst>
          </p:nvPr>
        </p:nvGraphicFramePr>
        <p:xfrm>
          <a:off x="5684675" y="2041263"/>
          <a:ext cx="3699025" cy="46075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369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leerTexto(String etiqueta)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System.out.print(etiqueta + ": 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scanner.nextLine().trim();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leerDouble(String etiqueta)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while (true)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System.out.print(etiqueta + ": 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input = scanner.nextLine().trim();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Double.parseDouble(input);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(NumberFormatException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System.out.println(" [!] Por favor ingrese un número válido.");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mostrarResultado(double resultado)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System.out.println("==================================================");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System.out.println("Resultado: " + resultado);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System.out.println("==================================================");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7DAB0683-8EB2-5696-D3B0-FDF632974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50946" y="250739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09402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122575" y="2429475"/>
            <a:ext cx="28083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</a:t>
            </a:r>
            <a:endParaRPr sz="1400" b="1" dirty="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5F5A54D4-0229-5381-921C-A542122EF2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30875" y="2794000"/>
            <a:ext cx="5544244" cy="303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43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5" name="Google Shape;535;p6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6" name="Google Shape;536;p66"/>
          <p:cNvSpPr txBox="1">
            <a:spLocks noGrp="1"/>
          </p:cNvSpPr>
          <p:nvPr>
            <p:ph type="body" idx="1"/>
          </p:nvPr>
        </p:nvSpPr>
        <p:spPr>
          <a:xfrm>
            <a:off x="581200" y="2040631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de escritorio se creó en NetBeans un proyecto Java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con interfaz Swing, siguiendo la arquitectura MVC (paquetes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controller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model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view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). El cliente consume el servicio REST mediante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HttpURLConnection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ConversorService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), enviando y recibiendo JSON.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38" name="Google Shape;538;p66"/>
          <p:cNvGraphicFramePr/>
          <p:nvPr>
            <p:extLst>
              <p:ext uri="{D42A27DB-BD31-4B8C-83A1-F6EECF244321}">
                <p14:modId xmlns:p14="http://schemas.microsoft.com/office/powerpoint/2010/main" val="2906222995"/>
              </p:ext>
            </p:extLst>
          </p:nvPr>
        </p:nvGraphicFramePr>
        <p:xfrm>
          <a:off x="2332838" y="3073863"/>
          <a:ext cx="6484300" cy="33121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ec.edu.monster.wsconversorclient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ec.edu.monster.wsconversorclient.view.LoginView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WSConversorClient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(String[]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args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LoginView.main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args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 login(String usuario, String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service.login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(usuario,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contrasenia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convertirLongitud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n1, String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String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){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service.convertirLongitud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(n1,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9" name="Google Shape;539;p66"/>
          <p:cNvSpPr txBox="1"/>
          <p:nvPr/>
        </p:nvSpPr>
        <p:spPr>
          <a:xfrm>
            <a:off x="122575" y="1715850"/>
            <a:ext cx="7232400" cy="77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b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F3EA9D17-1B86-265A-3719-CA2EEB6A6F1F}"/>
              </a:ext>
            </a:extLst>
          </p:cNvPr>
          <p:cNvSpPr txBox="1">
            <a:spLocks/>
          </p:cNvSpPr>
          <p:nvPr/>
        </p:nvSpPr>
        <p:spPr>
          <a:xfrm>
            <a:off x="200438" y="2817987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14539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47" name="Google Shape;547;p67"/>
          <p:cNvGraphicFramePr/>
          <p:nvPr>
            <p:extLst>
              <p:ext uri="{D42A27DB-BD31-4B8C-83A1-F6EECF244321}">
                <p14:modId xmlns:p14="http://schemas.microsoft.com/office/powerpoint/2010/main" val="3743280445"/>
              </p:ext>
            </p:extLst>
          </p:nvPr>
        </p:nvGraphicFramePr>
        <p:xfrm>
          <a:off x="2332838" y="2136238"/>
          <a:ext cx="6484300" cy="453682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public class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ConversorService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private static final String BASE_URL = "http://localhost:8080/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WS_ConversorUnidades_Java_REST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/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api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";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private static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tokenSesion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return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tokenSesion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public String login(String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contrasenia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jsonInput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String.format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("{\"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\":\"%s\",\"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contrasenia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\":\"%s\"}",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escapeJson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),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escapeJson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contrasenia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respuesta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postJson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(BASE_URL + "/auth/login",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jsonInput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token =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extraerCampoJson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respuesta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"token");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if (token != null &amp;&amp; !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token.isBlank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tokenSesion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token;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return token;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return null;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throw new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RuntimeException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("Error al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iniciar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sesión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: " +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e.getMessage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(), 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private double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ejecutarConversion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tipo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double valor,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inicial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finalU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urlStr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String.format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("%s/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conversor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/%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s?valor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=%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s&amp;unidadInicial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=%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s&amp;unidadFinal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=%s",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BASE_URL,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tipo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valor,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URLEncoder.encode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inicial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StandardCharsets.UTF_8),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URLEncoder.encode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finalU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StandardCharsets.UTF_8));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respuesta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getJson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urlStr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valorFinalStr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extraerCampoJson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respuesta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 "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valorFinal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");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if 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valorFinalStr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!= null)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return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Double.parseDouble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valorFinalStr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throw new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RuntimeException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("No se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encontró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'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valorFinal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'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la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respuesta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del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servidor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: " +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respuesta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throw new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RuntimeException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("Error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conversión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de " +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tipo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+ ": " + </a:t>
                      </a:r>
                      <a:r>
                        <a:rPr lang="en-US" sz="60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e.getMessage</a:t>
                      </a: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(), 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}</a:t>
                      </a:r>
                      <a:endParaRPr sz="6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20E8527C-90DB-5A9F-CCED-B1DC0858B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38" y="259677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3821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53" name="Google Shape;553;p6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55" name="Google Shape;555;p68"/>
          <p:cNvGraphicFramePr/>
          <p:nvPr>
            <p:extLst>
              <p:ext uri="{D42A27DB-BD31-4B8C-83A1-F6EECF244321}">
                <p14:modId xmlns:p14="http://schemas.microsoft.com/office/powerpoint/2010/main" val="3144609360"/>
              </p:ext>
            </p:extLst>
          </p:nvPr>
        </p:nvGraphicFramePr>
        <p:xfrm>
          <a:off x="2332838" y="2136238"/>
          <a:ext cx="6484300" cy="436010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private void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btnIngresarActionPerformed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java.awt.event.ActionEvent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evt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 {//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GEN-FIRST:event_btnIngresarActionPerformed</a:t>
                      </a:r>
                      <a:endParaRPr lang="en-US"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String user =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usuario.getText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 != null ?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usuario.getText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().trim() : "";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String pass = new String(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contrasenia.getPassword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if (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user.isEmpty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 ||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pass.isEmpty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javax.swing.JOptionPane.showMessageDialog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(this,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"Por favor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ingrese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el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y la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contraseña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.",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"Campos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Vacíos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javax.swing.JOptionPane.WARNING_MESSAGE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AppControlador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control = new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AppControlador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token =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control.login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(user, pass);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if (token != null &amp;&amp; !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token.isBlank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javax.swing.JOptionPane.showMessageDialog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(this,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"¡Bienvenido " + user + "!\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nInicio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de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sesión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exitoso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.",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"Login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Exitoso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javax.swing.JOptionPane.INFORMATION_MESSAGE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ConversorView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vistaPrincipal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new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ConversorView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vistaPrincipal.setLocationRelativeTo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(null);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vistaPrincipal.setVisible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(true);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this.dispose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} else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javax.swing.JOptionPane.showMessageDialog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(this,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"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o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contraseña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incorrectos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.",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"Error de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Autenticación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javax.swing.JOptionPane.ERROR_MESSAGE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 catch (Exception ex)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String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mensaje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ex.getMessage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if (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mensaje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== null ||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mensaje.isBlank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())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mensaje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= "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Usuario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/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Contraseña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incorrectas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o error de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conexión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con el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servidor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.";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javax.swing.JOptionPane.showMessageDialog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(this,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mensaje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"Error de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Autenticación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            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javax.swing.JOptionPane.ERROR_MESSAGE</a:t>
                      </a: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5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    }//</a:t>
                      </a:r>
                      <a:r>
                        <a:rPr lang="en-US" sz="550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GEN-LAST:event_btnIngresarActionPerformed</a:t>
                      </a:r>
                      <a:endParaRPr sz="55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CD0152E7-99F7-54FA-8047-FBD466FFD5FC}"/>
              </a:ext>
            </a:extLst>
          </p:cNvPr>
          <p:cNvSpPr txBox="1">
            <a:spLocks/>
          </p:cNvSpPr>
          <p:nvPr/>
        </p:nvSpPr>
        <p:spPr>
          <a:xfrm>
            <a:off x="119076" y="2514565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06200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1" name="Google Shape;561;p69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63" name="Google Shape;563;p69"/>
          <p:cNvGraphicFramePr/>
          <p:nvPr>
            <p:extLst>
              <p:ext uri="{D42A27DB-BD31-4B8C-83A1-F6EECF244321}">
                <p14:modId xmlns:p14="http://schemas.microsoft.com/office/powerpoint/2010/main" val="3367262395"/>
              </p:ext>
            </p:extLst>
          </p:nvPr>
        </p:nvGraphicFramePr>
        <p:xfrm>
          <a:off x="2332825" y="1914088"/>
          <a:ext cx="6484300" cy="453377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void btnConvertirActionPerformed(java.awt.event.ActionEvent evt) {//GEN-FIRST:event_btnConvertirActionPerformed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txtValor = valor.getText() != null ? valor.getText().trim() : "";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(txtValor.isEmpty())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javax.swing.JOptionPane.showMessageDialog(this, "Por favor ingrese un valor a convertir.");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num = Double.parseDouble(txtValor);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unidadInicial = (String) undInit.getSelectedItem();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unidadFinal = (String) undFinal.getSelectedItem();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tipo = (String) cmbMagnitud.getSelectedItem();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AppControlador control = new AppControlador();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conversion;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("MASA".equalsIgnoreCase(tipo))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conversion = control.convertirMasa(num,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else if ("TEMPERATURA".equalsIgnoreCase(tipo))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conversion = control.convertirTemperatura(num,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else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conversion = control.convertirLogintud(num,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conversionResultado.setText(String.valueOf(conversion));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(NumberFormatException ex)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javax.swing.JOptionPane.showMessageDialog(this, "Ingrese un número válido.");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ex)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javax.swing.JOptionPane.showMessageDialog(this, "Error al convertir: " + ex.getMessage());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}//GEN-LAST:event_btnConvertirActionPerformed</a:t>
                      </a:r>
                      <a:endParaRPr sz="65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FFFAA634-AABB-649A-AD7F-12EB2D2B5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25" y="2514565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81980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1515F772-699A-EFB4-15C4-B403292DC19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96828" y="2307368"/>
            <a:ext cx="3382629" cy="388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324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57E4C581-8026-F0BA-31CC-D778AB55070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71240" y="2610550"/>
            <a:ext cx="410742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688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4" name="Google Shape;594;p73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Para el cliente web se creó un proyecto Web Application (Maven) con Jakarta Faces (JSF) y CDI, desplegado en Payara Server. Las vistas xhtml usan los beans LoginView y ConversorView, que invocan a AppControlador.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96" name="Google Shape;596;p73"/>
          <p:cNvGraphicFramePr/>
          <p:nvPr>
            <p:extLst>
              <p:ext uri="{D42A27DB-BD31-4B8C-83A1-F6EECF244321}">
                <p14:modId xmlns:p14="http://schemas.microsoft.com/office/powerpoint/2010/main" val="3610984963"/>
              </p:ext>
            </p:extLst>
          </p:nvPr>
        </p:nvGraphicFramePr>
        <p:xfrm>
          <a:off x="2332838" y="3073863"/>
          <a:ext cx="6484300" cy="354012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long serialVersionUID = 1L;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usuario;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contrasenia;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UsuarioSession usuarioSession;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AppControlador controlador = new AppControlador();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(usuario == null || usuario.trim().isEmpty() ||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(usuario == null || usuario.trim().isEmpty() ||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contrasenia == null || contrasenia.trim().isEmpty())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FacesContext.getCurrentInstance().addMessage(null,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new FacesMessage(FacesMessage.SEVERITY_ERROR, "Por favor complete todos los campos.", null));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controlador.login(usuario.trim(), contrasenia.trim());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(token != null &amp;&amp; !token.isBlank())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usuarioSession = new UsuarioSession(usuario.trim().toUpperCase(), token);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"conversor?faces-redirect=true";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else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FacesContext.getCurrentInstance().addMessage(null,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new FacesMessage(FacesMessage.SEVERITY_ERROR, "Credenciales incorrectas (Usuario o contraseña no válidos).", null));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FacesContext.getCurrentInstance().addMessage(null,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new FacesMessage(FacesMessage.SEVERITY_FATAL, "Error de conexión con el servicio SOAP en Payara: " + e.getMessage(), null));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676394BB-BE65-8F78-EEE3-40D6D593CCFA}"/>
              </a:ext>
            </a:extLst>
          </p:cNvPr>
          <p:cNvSpPr txBox="1">
            <a:spLocks/>
          </p:cNvSpPr>
          <p:nvPr/>
        </p:nvSpPr>
        <p:spPr>
          <a:xfrm>
            <a:off x="200438" y="2886740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54192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02" name="Google Shape;602;p7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04" name="Google Shape;604;p74"/>
          <p:cNvGraphicFramePr/>
          <p:nvPr>
            <p:extLst>
              <p:ext uri="{D42A27DB-BD31-4B8C-83A1-F6EECF244321}">
                <p14:modId xmlns:p14="http://schemas.microsoft.com/office/powerpoint/2010/main" val="3126007816"/>
              </p:ext>
            </p:extLst>
          </p:nvPr>
        </p:nvGraphicFramePr>
        <p:xfrm>
          <a:off x="2332838" y="2061838"/>
          <a:ext cx="6484300" cy="439845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long serialVersionUID = 1L;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LoginView loginView;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tipoMagnitud = "LONGITUD";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valor;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unidadOrigen;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unidadDestino;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resultado;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List&lt;HistorialItem&gt; historial = new ArrayList&lt;&gt;();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AppControlador controlador = new AppControlador();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@PostConstruct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init()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convertir()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(loginView == null || !loginView.isAutenticado())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FacesContext.getCurrentInstance().addMessage(null,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new FacesMessage(FacesMessage.SEVERITY_ERROR, "Debe iniciar sesión primero.", null));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(valor ==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FacesContext.getCurrentInstance().addMessage(null,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new FacesMessage(FacesMessage.SEVERITY_ERROR, "Por favor ingrese un valor numérico.", null));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res;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switch (tipoMagnitud)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"MASA":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res = controlador.convertirMasa(valor, unidadOrigen, unidadDestino);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44D7F71E-B476-06E3-B629-06A2AA1E281C}"/>
              </a:ext>
            </a:extLst>
          </p:cNvPr>
          <p:cNvSpPr txBox="1">
            <a:spLocks/>
          </p:cNvSpPr>
          <p:nvPr/>
        </p:nvSpPr>
        <p:spPr>
          <a:xfrm>
            <a:off x="200438" y="2514565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948387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0" name="Google Shape;610;p75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12" name="Google Shape;612;p75"/>
          <p:cNvGraphicFramePr/>
          <p:nvPr>
            <p:extLst>
              <p:ext uri="{D42A27DB-BD31-4B8C-83A1-F6EECF244321}">
                <p14:modId xmlns:p14="http://schemas.microsoft.com/office/powerpoint/2010/main" val="1769038720"/>
              </p:ext>
            </p:extLst>
          </p:nvPr>
        </p:nvGraphicFramePr>
        <p:xfrm>
          <a:off x="2332825" y="1795025"/>
          <a:ext cx="6484300" cy="4618546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&lt;!DOCTYPE html&gt;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&lt;html xmlns="http://www.w3.org/1999/xhtml"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xmlns:h="jakarta.faces.html"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xmlns:f="jakarta.faces.core"&gt;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&lt;h:head&gt;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&lt;meta charset="UTF-8"/&gt;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&lt;title&gt;Iniciar Sesión - Conversor SOAP (Java Faces)&lt;/title&gt;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&lt;/h:head&gt;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&lt;h:body&gt;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&lt;div align="center"&gt;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&lt;h:form id="loginForm"&gt;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&lt;h:panelGrid columns="1" style="text-align: center; margin-top: 50px; border: 1px solid #999; padding: 25px; border-radius: 8px; width: 380px;"&gt;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&lt;h:graphicImage value="/images/sullivan.png" width="120" height="120" alt="Sullivan Monsters Inc"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&lt;h:outputText value="INICIAR SESIÓN" style="font-size: 20px; font-weight: bold; margin: 15px 0; display: block;"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&lt;h:messages globalOnly="true" style="color: red; list-style-type: none; padding: 0;"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&lt;h:panelGrid columns="2" cellpadding="8" style="text-align: left; width: 100%;"&gt;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&lt;h:outputLabel for="usuario" value="Usuario:" style="font-weight: bold;"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&lt;h:inputText id="usuario" value="#{loginView.usuario}" required="true" requiredMessage="Ingrese su usuario." style="width: 100%;"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&lt;h:outputLabel for="contrasenia" value="Contraseña:" style="font-weight: bold;"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&lt;h:inputSecret id="contrasenia" value="#{loginView.contrasenia}" required="true" requiredMessage="Ingrese su contraseña." style="width: 100%;"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&lt;/h:panelGrid&gt;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&lt;h:panelGroup layout="block" style="margin-top: 15px;"&gt;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&lt;h:commandButton value="Ingresar" action="#{loginView.login}" style="padding: 6px 16px; margin-right: 10px; cursor: pointer;"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&lt;h:commandButton value="Limpiar" action="#{loginView.limpiar}" immediate="true" style="padding: 6px 16px; cursor: pointer;"&gt;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&lt;f:ajax execute="@this" render="loginForm"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&lt;/h:commandButton&gt;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&lt;/h:panelGroup&gt;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&lt;/h:panelGrid&gt;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&lt;/h:form&gt;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&lt;/div&gt;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&lt;/h:body&gt;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&lt;/html&gt;</a:t>
                      </a:r>
                      <a:endParaRPr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1EA6AFD5-DF0C-57F6-FF16-6C6AC5FBAF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908" y="2514565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76869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0" name="Google Shape;610;p75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12" name="Google Shape;612;p75"/>
          <p:cNvGraphicFramePr/>
          <p:nvPr>
            <p:extLst>
              <p:ext uri="{D42A27DB-BD31-4B8C-83A1-F6EECF244321}">
                <p14:modId xmlns:p14="http://schemas.microsoft.com/office/powerpoint/2010/main" val="249177853"/>
              </p:ext>
            </p:extLst>
          </p:nvPr>
        </p:nvGraphicFramePr>
        <p:xfrm>
          <a:off x="2332825" y="1795025"/>
          <a:ext cx="6484300" cy="4728274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ConversorService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BASE_URL = "http://localhost:8080/WS_ConversorUnidades_Java_REST/api";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String tokenSesion;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tokenSesion;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jsonInput = String.format("{\"usuario\":\"%s\",\"contrasenia\":\"%s\"}",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escapeJson(usuario), escapeJson(contrasenia));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respuesta = postJson(BASE_URL + "/auth/login", jsonInput);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extraerCampoJson(respuesta, "token");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(token != null &amp;&amp; !token.isBlank())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tokenSesion = token;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token;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RuntimeException("Error al iniciar sesión: " + e.getMessage(), 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ejecutarConversion(String tipo, double valor, String inicial, String finalU)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urlStr = String.format("%s/conversor/%s?valor=%s&amp;unidadInicial=%s&amp;unidadFinal=%s",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BASE_URL, tipo, valor,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URLEncoder.encode(inicial, StandardCharsets.UTF_8),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URLEncoder.encode(finalU, StandardCharsets.UTF_8));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respuesta = getJson(urlStr);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valorFinalStr = extraerCampoJson(respuesta, "valorFinal");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(valorFinalStr !=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Double.parseDouble(valorFinalStr);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RuntimeException("No se encontró 'valorFinal' en la respuesta del servidor: " + respuesta);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RuntimeException("Error en conversión de " + tipo + ": " + e.getMessage(), 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6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6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E3CC7A47-5E6A-4ACB-3EA1-76FAFB857F35}"/>
              </a:ext>
            </a:extLst>
          </p:cNvPr>
          <p:cNvSpPr txBox="1">
            <a:spLocks/>
          </p:cNvSpPr>
          <p:nvPr/>
        </p:nvSpPr>
        <p:spPr>
          <a:xfrm>
            <a:off x="200425" y="2514565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371748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E2ECE125-713F-98A6-D51D-5A5B89BEEBD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81657" y="2509139"/>
            <a:ext cx="4278923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159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81B56B42-C84E-2CB3-EA4C-D61CEB7B662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84085" y="2522350"/>
            <a:ext cx="5826504" cy="389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39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" name="Google Shape;641;p79"/>
          <p:cNvGraphicFramePr/>
          <p:nvPr>
            <p:extLst>
              <p:ext uri="{D42A27DB-BD31-4B8C-83A1-F6EECF244321}">
                <p14:modId xmlns:p14="http://schemas.microsoft.com/office/powerpoint/2010/main" val="627012461"/>
              </p:ext>
            </p:extLst>
          </p:nvPr>
        </p:nvGraphicFramePr>
        <p:xfrm>
          <a:off x="2332836" y="3272118"/>
          <a:ext cx="6484300" cy="3509712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971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ConfiguracionConexion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10.0.2.2 es la IP por defecto para acceder al localhost de la máquina host desde el emulador de Android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"http://10.0.2.2:8080/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WS_ConversorUnidades_Java_REST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/api";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!=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&amp;&amp; !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isEmpty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2" name="Google Shape;642;p7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43" name="Google Shape;643;p7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4" name="Google Shape;644;p79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</a:t>
            </a: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	CREACIÓN DEL PROYECTO – CLIENTE MÓVIL</a:t>
            </a:r>
            <a:b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6" name="Google Shape;646;p79"/>
          <p:cNvSpPr txBox="1">
            <a:spLocks noGrp="1"/>
          </p:cNvSpPr>
          <p:nvPr>
            <p:ph type="body" idx="1"/>
          </p:nvPr>
        </p:nvSpPr>
        <p:spPr>
          <a:xfrm>
            <a:off x="511118" y="2176833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móvil se creó un proyecto Android en Android Studio (Java). Consume el servicio REST enviando peticiones HTTP con JSON mediante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HttpURLConnection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ConversorService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 y permite configurar la IP del servidor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ConfiguracionConexion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8BC62678-C10A-5FCC-F4C7-2D8BF8EAA47E}"/>
              </a:ext>
            </a:extLst>
          </p:cNvPr>
          <p:cNvSpPr txBox="1">
            <a:spLocks/>
          </p:cNvSpPr>
          <p:nvPr/>
        </p:nvSpPr>
        <p:spPr>
          <a:xfrm>
            <a:off x="148365" y="3120255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410434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1182584292"/>
              </p:ext>
            </p:extLst>
          </p:nvPr>
        </p:nvGraphicFramePr>
        <p:xfrm>
          <a:off x="2332838" y="2061638"/>
          <a:ext cx="6484300" cy="4599051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ConversorService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String tokenSesion;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tokenSesion;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throws 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baseUrl = ConfiguracionConexion.getEndpointUrl();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jsonInput = String.format("{\"usuario\":\"%s\",\"contrasenia\":\"%s\"}",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escapeJson(usuario), escapeJson(contrasenia));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respuesta = postJson(baseUrl + "/auth/login", jsonInput);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token = extraerCampoJson(respuesta, "token");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(token != null &amp;&amp; !token.isBlank())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tokenSesion = token;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token;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throw new RuntimeException("Credenciales incorrectas");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ejecutarConversion(String tipo, double valor, String inicial, String finalU) throws 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baseUrl = ConfiguracionConexion.getEndpointUrl();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urlStr = String.format("%s/conversor/%s?valor=%s&amp;unidadInicial=%s&amp;unidadFinal=%s",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baseUrl, tipo, valor,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URLEncoder.encode(inicial, "UTF-8"),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URLEncoder.encode(finalU, "UTF-8"));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respuesta = getJson(urlStr);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valorFinalStr = extraerCampoJson(respuesta, "valorFinal");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(valorFinalStr != null)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Double.parseDouble(valorFinalStr);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throw new RuntimeException("Respuesta inesperada del servidor: " + respuesta);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C8CF8084-AA17-C1C7-F31C-992ED450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38" y="259677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90944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9" name="Google Shape;659;p81"/>
          <p:cNvGraphicFramePr/>
          <p:nvPr>
            <p:extLst>
              <p:ext uri="{D42A27DB-BD31-4B8C-83A1-F6EECF244321}">
                <p14:modId xmlns:p14="http://schemas.microsoft.com/office/powerpoint/2010/main" val="3101562897"/>
              </p:ext>
            </p:extLst>
          </p:nvPr>
        </p:nvGraphicFramePr>
        <p:xfrm>
          <a:off x="2332825" y="1795025"/>
          <a:ext cx="6484300" cy="4855083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void procesarLogin()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user = txtUsuario.getText() != null ? txtUsuario.getText().toString().trim() : "";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pass = txtContrasenia.getText() != null ? txtContrasenia.getText().toString() : "";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(user.isEmpty() || pass.isEmpty())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Toast.makeText(this, "Por favor ingrese el usuario y la contraseña.", Toast.LENGTH_SHORT).show();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btnIngresar.setEnabled(false);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btnIngresar.setText("Conectando...");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executor.execute(() -&gt;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token = controlador.login(user, pass);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mainHandler.post(() -&gt;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btnIngresar.setEnabled(true);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btnIngresar.setText(R.string.btn_ingresar);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if (token != null &amp;&amp; !token.isBlank())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UsuarioSession session = new UsuarioSession(user.toUpperCase(), token);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Toast.makeText(LoginView.this, "¡Bienvenido " + user + "!", Toast.LENGTH_SHORT).show();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Intent intent = new Intent(LoginView.this, ConversorView.class);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intent.putExtra("usuario_session", session);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startActivity(intent);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finish();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} else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   Toast.makeText(LoginView.this, "Usuario o contraseña incorrectos.", Toast.LENGTH_LONG).show();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mainHandler.post(() -&gt;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btnIngresar.setEnabled(true);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...</a:t>
                      </a:r>
                      <a:endParaRPr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8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1" name="Google Shape;661;p8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Google Shape;319;p40">
            <a:extLst>
              <a:ext uri="{FF2B5EF4-FFF2-40B4-BE49-F238E27FC236}">
                <a16:creationId xmlns:a16="http://schemas.microsoft.com/office/drawing/2014/main" id="{A5230E23-3242-1A07-7142-AF82F20EB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579" y="2812192"/>
            <a:ext cx="2132400" cy="355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512606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2F51D673-9A97-5A70-8EAB-9A9606E62E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10636" y="1996162"/>
            <a:ext cx="1849810" cy="450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0302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76" name="Google Shape;676;p8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77" name="Google Shape;677;p83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 de unidades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C9EDC7D4-2A7B-26EF-1387-ABAC93B9A4A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9" y="1868350"/>
            <a:ext cx="2083877" cy="471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65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culminación de este proyecto evidencia la efectividad de una arquitectura RESTful al integrar exitosamente un servidor desarrollado en Java (Jakarta RESTful Web Services) y alojado en Payara Server, con un ecosistema de clientes (consola, escritorio, web y móvil) desarrollados en Java. La integración se validó mediante endpoints HTTP con respuestas JSON, la autenticación con token y la arquitectura MVC aplicada en los clientes, lo que garantiza una solución interoperable y escalable.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30382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Integrar una base de datos (BDD) formal para reemplazar el manejo de credenciales quemadas en código y permitir el almacenamiento histórico de las conversiones de manera persistente.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Exigir el token en los endpoints de conversión mediante un filtro (ContainerRequestFilter), ya que actualmente solo se valida en /api/auth/validar-token, y usar HTTPS en entornos de producción.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Restringir el origen permitido en el filtro CORS (actualmente Access-Control-Allow-Origin: *) y documentar la API con una especificación OpenAPI.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REST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535798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10748</Words>
  <Application>Microsoft Office PowerPoint</Application>
  <PresentationFormat>Panorámica</PresentationFormat>
  <Paragraphs>1727</Paragraphs>
  <Slides>55</Slides>
  <Notes>55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1" baseType="lpstr">
      <vt:lpstr>Cambria</vt:lpstr>
      <vt:lpstr>Noto Sans Symbols</vt:lpstr>
      <vt:lpstr>Gill Sans</vt:lpstr>
      <vt:lpstr>Calibri</vt:lpstr>
      <vt:lpstr>Arial</vt:lpstr>
      <vt:lpstr>Dividendo</vt:lpstr>
      <vt:lpstr>MANUAL CONVERSIÓN UNIDADES RESTFUL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ANTHONY ALAIN MORALES CARVAJAL</cp:lastModifiedBy>
  <cp:revision>8</cp:revision>
  <dcterms:modified xsi:type="dcterms:W3CDTF">2026-10-29T01:37:59Z</dcterms:modified>
</cp:coreProperties>
</file>