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9" r:id="rId33"/>
    <p:sldId id="309" r:id="rId34"/>
    <p:sldId id="310" r:id="rId35"/>
    <p:sldId id="311" r:id="rId36"/>
    <p:sldId id="312" r:id="rId37"/>
    <p:sldId id="313" r:id="rId38"/>
    <p:sldId id="314" r:id="rId39"/>
    <p:sldId id="316" r:id="rId40"/>
    <p:sldId id="317" r:id="rId41"/>
    <p:sldId id="318" r:id="rId42"/>
    <p:sldId id="319" r:id="rId43"/>
    <p:sldId id="320" r:id="rId44"/>
    <p:sldId id="322" r:id="rId45"/>
    <p:sldId id="323" r:id="rId46"/>
    <p:sldId id="324" r:id="rId47"/>
    <p:sldId id="325" r:id="rId48"/>
    <p:sldId id="326" r:id="rId49"/>
    <p:sldId id="328" r:id="rId50"/>
    <p:sldId id="329" r:id="rId51"/>
  </p:sldIdLst>
  <p:sldSz cx="12192000" cy="6858000"/>
  <p:notesSz cx="6858000" cy="9144000"/>
  <p:embeddedFontLst>
    <p:embeddedFont>
      <p:font typeface="Cambria" panose="02040503050406030204" pitchFamily="18" charset="0"/>
      <p:regular r:id="rId53"/>
      <p:bold r:id="rId54"/>
      <p:italic r:id="rId55"/>
      <p:boldItalic r:id="rId56"/>
    </p:embeddedFont>
    <p:embeddedFont>
      <p:font typeface="Gill Sans" panose="020B0604020202020204" charset="0"/>
      <p:regular r:id="rId57"/>
      <p:bold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136021-7255-42B7-A7E7-87A8D8FFE9CA}">
  <a:tblStyle styleId="{BF136021-7255-42B7-A7E7-87A8D8FFE9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8526227be_0_4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a8526227be_0_4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8526227be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3a8526227be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8526227be_0_4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g3a8526227be_0_4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8526227be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g3a8526227be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8526227be_0_4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g3a8526227be_0_4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8526227be_0_4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1" name="Google Shape;151;g3a8526227be_0_4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8526227be_0_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0" name="Google Shape;160;g3a8526227be_0_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8526227be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8" name="Google Shape;168;g3a8526227be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8526227be_0_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7" name="Google Shape;177;g3a8526227be_0_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526227be_0_4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a8526227be_0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8526227be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g3a8526227be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8526227be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2" name="Google Shape;202;g3a8526227be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8526227be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a8526227be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8526227be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3a8526227be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8526227be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a8526227be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8526227be_0_5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" name="Google Shape;235;g3a8526227be_0_5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8526227be_0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3" name="Google Shape;243;g3a8526227be_0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8526227be_0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1" name="Google Shape;251;g3a8526227be_0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8526227be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9" name="Google Shape;259;g3a8526227be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8526227be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7" name="Google Shape;267;g3a8526227be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8526227be_0_5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5" name="Google Shape;275;g3a8526227be_0_5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8526227be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3" name="Google Shape;283;g3a8526227be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8526227be_0_5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1" name="Google Shape;291;g3a8526227be_0_5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8526227be_0_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9" name="Google Shape;299;g3a8526227be_0_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854632a9a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g3a854632a9a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854632a9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6" name="Google Shape;316;g3a854632a9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854632a9a_2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24" name="Google Shape;324;g3a854632a9a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854632a9a_2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3a854632a9a_2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854632a9a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a854632a9a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a854632a9a_2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g3a854632a9a_2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a854632a9a_2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32" name="Google Shape;532;g3a854632a9a_2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854632a9a_2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42" name="Google Shape;542;g3a854632a9a_2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a854632a9a_2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0" name="Google Shape;550;g3a854632a9a_2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a854632a9a_2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58" name="Google Shape;558;g3a854632a9a_2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854632a9a_2_2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6" name="Google Shape;566;g3a854632a9a_2_2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854632a9a_2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4" name="Google Shape;574;g3a854632a9a_2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854632a9a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0" name="Google Shape;590;g3a854632a9a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854632a9a_2_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9" name="Google Shape;599;g3a854632a9a_2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a854632a9a_2_2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g3a854632a9a_2_2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854632a9a_2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15" name="Google Shape;615;g3a854632a9a_2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a854632a9a_2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23" name="Google Shape;623;g3a854632a9a_2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a8526227be_0_6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39" name="Google Shape;639;g3a8526227be_0_6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a854632a9a_2_3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9" name="Google Shape;649;g3a854632a9a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a854632a9a_2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57" name="Google Shape;657;g3a854632a9a_2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854632a9a_2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5" name="Google Shape;665;g3a854632a9a_2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a854632a9a_2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73" name="Google Shape;673;g3a854632a9a_2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3a8526227be_0_6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89" name="Google Shape;689;g3a8526227be_0_6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a8526227be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6" name="Google Shape;696;g3a8526227be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2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2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ec.edu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>
                <a:solidFill>
                  <a:schemeClr val="lt1"/>
                </a:solidFill>
              </a:rPr>
              <a:t>MANUAL</a:t>
            </a:r>
            <a:br>
              <a:rPr lang="es-ES">
                <a:solidFill>
                  <a:schemeClr val="lt1"/>
                </a:solidFill>
              </a:rPr>
            </a:br>
            <a:r>
              <a:rPr lang="es-ES">
                <a:solidFill>
                  <a:schemeClr val="lt1"/>
                </a:solidFill>
              </a:rPr>
              <a:t>CONVERSIÓN UNIDADES SOAP JAVA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FLORES CAETANO					MORALES ANTHONY			         	</a:t>
            </a: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dirty="0">
                <a:solidFill>
                  <a:schemeClr val="lt1"/>
                </a:solidFill>
              </a:rPr>
              <a:t>NARVAEZ LEONARDO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3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3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27/10/2026</a:t>
            </a:r>
            <a:endParaRPr sz="16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JAVA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14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b="1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b="1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b="1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Desarrollar e implementar un Web Service utilizando SOAP mediante JAVA para realizar conversiones de unidades de longitud, masa y temperatura, consumido desde clientes de consola, escritorio, web y móvil.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1.2.1 	Servidor Payara</a:t>
            </a:r>
            <a:endParaRPr sz="1929" b="1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>
                <a:latin typeface="Cambria"/>
                <a:ea typeface="Cambria"/>
                <a:cs typeface="Cambria"/>
                <a:sym typeface="Cambria"/>
              </a:rPr>
              <a:t>En primer lugar, en Apache NetBeans, en la sección de Servicios se crea un servidor, específicamente Payara.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613" y="3539075"/>
            <a:ext cx="456247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body" idx="1"/>
          </p:nvPr>
        </p:nvSpPr>
        <p:spPr>
          <a:xfrm>
            <a:off x="581200" y="17815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selecciona la versión de Payara Server a instalar (Payara 6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Community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Edition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), se aceptan los términos de condiciones y se selecciona un directorio donde instalar el servidor.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225" y="3200392"/>
            <a:ext cx="466725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38" name="Google Shape;138;p18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latin typeface="Cambria"/>
                <a:ea typeface="Cambria"/>
                <a:sym typeface="Cambria"/>
              </a:rPr>
              <a:t>Para terminar la configuración del servidor de payara se configura un nombre de dominio, un host (en nuestro caso, </a:t>
            </a:r>
            <a:r>
              <a:rPr lang="es-ES" dirty="0" err="1">
                <a:latin typeface="Cambria"/>
                <a:ea typeface="Cambria"/>
                <a:sym typeface="Cambria"/>
              </a:rPr>
              <a:t>loopback</a:t>
            </a:r>
            <a:r>
              <a:rPr lang="es-ES" dirty="0">
                <a:latin typeface="Cambria"/>
                <a:ea typeface="Cambria"/>
                <a:sym typeface="Cambria"/>
              </a:rPr>
              <a:t>) y se cambian los puertos si se desea.</a:t>
            </a:r>
            <a:endParaRPr dirty="0">
              <a:latin typeface="Cambria"/>
              <a:ea typeface="Cambria"/>
              <a:sym typeface="Cambria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250" y="3171650"/>
            <a:ext cx="4505325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1"/>
          </p:nvPr>
        </p:nvSpPr>
        <p:spPr>
          <a:xfrm>
            <a:off x="581200" y="2033016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1.2.2 	Creación del Proyecto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Una vez creado el servidor, se crea un proyecto Java, Web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462" y="3429000"/>
            <a:ext cx="4676775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body" idx="1"/>
          </p:nvPr>
        </p:nvSpPr>
        <p:spPr>
          <a:xfrm>
            <a:off x="581192" y="19481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aplica el nombre del proyecto como ‘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WS_ConversorUnidades_Java_SOAP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’, y se configura el grupo como ‘</a:t>
            </a:r>
            <a:r>
              <a:rPr lang="es-ES" u="sng" dirty="0" err="1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3"/>
              </a:rPr>
              <a:t>ec.edu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.monster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’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111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selecciona nuestro Servidor Payara creado y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EE 10 como conjunto de desarrollo de aplicaciones Java.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200" y="3429100"/>
            <a:ext cx="4105699" cy="28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900" y="3251850"/>
            <a:ext cx="460057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Aplicando un patrón arquitectónico MVC junto a otras capas se configuran los paquetes principales.</a:t>
            </a:r>
            <a:endParaRPr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4" name="Google Shape;164;p2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1675" y="2696275"/>
            <a:ext cx="32194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1.2.3 	Creación del </a:t>
            </a:r>
            <a:r>
              <a:rPr lang="es-ES" sz="1929" b="1" dirty="0" err="1">
                <a:latin typeface="Cambria"/>
                <a:ea typeface="Cambria"/>
                <a:cs typeface="Cambria"/>
                <a:sym typeface="Cambria"/>
              </a:rPr>
              <a:t>WebService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Dentro del paquete controladores.ws se crea un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webservice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configura el web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service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con su nombre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WSConversorUnidades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173" name="Google Shape;17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600" y="3499338"/>
            <a:ext cx="3280200" cy="32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9652" y="3499338"/>
            <a:ext cx="4203573" cy="29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581199" y="2180500"/>
            <a:ext cx="3067359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Se codifica el </a:t>
            </a:r>
            <a:r>
              <a:rPr lang="es-ES" sz="1677" b="1" dirty="0" err="1">
                <a:latin typeface="Cambria"/>
                <a:ea typeface="Cambria"/>
                <a:cs typeface="Cambria"/>
                <a:sym typeface="Cambria"/>
              </a:rPr>
              <a:t>webservice</a:t>
            </a: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 bajo los siguientes lineamientos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1. Se dejan preparadas las siguientes importaciones que se encargarán de gestionar toda la lógica.</a:t>
            </a:r>
            <a:br>
              <a:rPr lang="es-ES" sz="1677" b="1" dirty="0">
                <a:latin typeface="Cambria"/>
                <a:ea typeface="Cambria"/>
                <a:cs typeface="Cambria"/>
                <a:sym typeface="Cambria"/>
              </a:rPr>
            </a:b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82" name="Google Shape;182;p23"/>
          <p:cNvGraphicFramePr/>
          <p:nvPr>
            <p:extLst>
              <p:ext uri="{D42A27DB-BD31-4B8C-83A1-F6EECF244321}">
                <p14:modId xmlns:p14="http://schemas.microsoft.com/office/powerpoint/2010/main" val="3252078842"/>
              </p:ext>
            </p:extLst>
          </p:nvPr>
        </p:nvGraphicFramePr>
        <p:xfrm>
          <a:off x="3648558" y="2882308"/>
          <a:ext cx="5400050" cy="28092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ec.edu.monster.controladores.ws;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ec.edu.monster.modelos.utilidades.enums.UnidadTemperatura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ec.edu.monster.modelos.utilidades.enums.UnidadMasa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ec.edu.monster.modelos.utilidades.enums.UnidadLongitud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ec.edu.monster.modelos.utilidades.ConversorTemperatura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ec.edu.monster.modelos.utilidades.ConversorMasa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ec.edu.monster.modelos.utilidades.ConversorLongitud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ec.edu.monster.servicios.ServicioConversor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ec.edu.monster.modelos.utilidades.mapeadores.UnidadMapper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ec.edu.monster.seguridad.AdministradorCredenciales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ec.edu.monster.seguridad.AdministradorTokens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jakarta.jws.WebService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jakarta.jws.WebMethod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1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jakarta.jws.WebParam</a:t>
                      </a:r>
                      <a:r>
                        <a:rPr lang="es-ES" sz="11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  <a:endParaRPr sz="11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2. Se configura el </a:t>
            </a:r>
            <a:r>
              <a:rPr lang="es-ES" sz="1677" dirty="0" err="1">
                <a:latin typeface="Cambria"/>
                <a:ea typeface="Cambria"/>
                <a:cs typeface="Cambria"/>
                <a:sym typeface="Cambria"/>
              </a:rPr>
              <a:t>endpoint</a:t>
            </a: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 de nuestro servicio web.</a:t>
            </a:r>
            <a:endParaRPr sz="1677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9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3. Se crean los atributos respectivos.</a:t>
            </a:r>
            <a:br>
              <a:rPr lang="es-ES" sz="1677" b="1" dirty="0">
                <a:latin typeface="Cambria"/>
                <a:ea typeface="Cambria"/>
                <a:cs typeface="Cambria"/>
                <a:sym typeface="Cambria"/>
              </a:rPr>
            </a:b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0" name="Google Shape;190;p24"/>
          <p:cNvGraphicFramePr/>
          <p:nvPr/>
        </p:nvGraphicFramePr>
        <p:xfrm>
          <a:off x="3701450" y="2180500"/>
          <a:ext cx="5400050" cy="46228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@WebService(serviceName = "WSConversorUnidades")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WSConversorUnidades {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" name="Google Shape;191;p24"/>
          <p:cNvGraphicFramePr/>
          <p:nvPr/>
        </p:nvGraphicFramePr>
        <p:xfrm>
          <a:off x="3701450" y="3375275"/>
          <a:ext cx="5400050" cy="14681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0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final ServicioConversor&lt;UnidadLongitud&gt; servicioLongitud =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ConversorLongitud());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ServicioConversor&lt;UnidadMasa&gt; servicioMasa =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ConversorMasa());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ServicioConversor&lt;UnidadTemperatura&gt; servicioTemperatura =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new ServicioConversor&lt;&gt;(new ConversorTemperatura());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97" name="Google Shape;197;p2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4. Se crean los métodos respectivos, incluyendo el de autenticación y el de cambiar contraseña.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199" name="Google Shape;199;p25"/>
          <p:cNvGraphicFramePr/>
          <p:nvPr>
            <p:extLst>
              <p:ext uri="{D42A27DB-BD31-4B8C-83A1-F6EECF244321}">
                <p14:modId xmlns:p14="http://schemas.microsoft.com/office/powerpoint/2010/main" val="2558360628"/>
              </p:ext>
            </p:extLst>
          </p:nvPr>
        </p:nvGraphicFramePr>
        <p:xfrm>
          <a:off x="3917100" y="1928900"/>
          <a:ext cx="4894525" cy="453367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33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@WebMethod(operationName = "login")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String login(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@WebParam(name = "usuario") String usuario,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@WebParam(name = "contrasenia") String contrasenia){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if(AdministradorCredenciales.validarUsuario(usuario, contrasenia)){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AdministradorToken.generarToken();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throw new RuntimeException("Usuario/Contraseña incorrectas");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@WebMethod(operationName = "cambiarContrasenia")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String cambiarContrasenia(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@WebParam(name = "contraseniaActual") String contraseniaActual,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@WebParam(name = "contraseniaNueva") String contraseniaNueva)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AdministradorCredenciales.cambiarContrasenia(contraseniaActual, contraseniaNueva);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"Contrasenia actualizada correctamente";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@WebMethod(operationName = "convertirLongitud")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double convertirLongitud(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@WebParam(name = "valor") double valor,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@WebParam(name = "unidadInicial") String unidadInicial,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@WebParam(name = "unidadFinal")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UnidadLongitud origen = UnidadMapper.toLongitud(unidadInicial);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UnidadLongitud destino = UnidadMapper.toLongitud(unidadFinal);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servicioLongitud.convertir(valor, origen, destino);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26"/>
          <p:cNvGraphicFramePr/>
          <p:nvPr/>
        </p:nvGraphicFramePr>
        <p:xfrm>
          <a:off x="3881150" y="2291900"/>
          <a:ext cx="4894525" cy="3742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42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@WebMethod(operationName = "convertirMasa")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convertirMasa(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"valor") double valor,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"unidadInicial") String unidadInicial,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"unidadFinal") String unidadFinal)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 origen = UnidadMapper.toMasa(unidadInicial);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 destino = UnidadMapper.toMasa(unidadFinal);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servicioMasa.convertir(valor, origen, destino);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@WebMethod(operationName = "convertirTemperatura")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convertirTemperatura(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"valor") double valor,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"unidadInicial") String unidadInicial,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@WebParam(name = "unidadFinal") String unidadFinal) {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UnidadTemperatura origen = UnidadMapper.toTemperatura(unidadInicial);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UnidadTemperatura destino = UnidadMapper.toTemperatura(unidadFinal);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servicioTemperatura.convertir(valor, origen, destino);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" name="Google Shape;205;p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06" name="Google Shape;206;p26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2402100" cy="39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509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>
                <a:latin typeface="Cambria"/>
                <a:ea typeface="Cambria"/>
                <a:cs typeface="Cambria"/>
                <a:sym typeface="Cambria"/>
              </a:rPr>
              <a:t>4. Se crean los métodos respectivos, incluyendo el de autenticación y el de cambiar contraseña.</a:t>
            </a: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sz="1677" b="1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13" name="Google Shape;213;p2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1.2.4 	Autenticación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sz="1500">
                <a:latin typeface="Cambria"/>
                <a:ea typeface="Cambria"/>
                <a:cs typeface="Cambria"/>
                <a:sym typeface="Cambria"/>
              </a:rPr>
              <a:t>Una clase importante a mencionar es el ManejadorAutenticacion.java, que sirve como un middleware en servicios SOAP con el fin de autenticar debidamente antes de permitir el paso a los métodos del WebService. Esta clase se crea en Web Services &gt; Message Handler.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4" name="Google Shape;214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215" name="Google Shape;21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850" y="3549050"/>
            <a:ext cx="45720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p28"/>
          <p:cNvSpPr txBox="1">
            <a:spLocks noGrp="1"/>
          </p:cNvSpPr>
          <p:nvPr>
            <p:ph type="body" idx="1"/>
          </p:nvPr>
        </p:nvSpPr>
        <p:spPr>
          <a:xfrm>
            <a:off x="581192" y="1876272"/>
            <a:ext cx="8589300" cy="1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Esta clase contiene la lógica que se puede observar en la Tabla junto a la complementaria para gestionar la autenticación con tokens y la autenticación que maneja credenciales quemadas en código (Usuario: MONSTER, Contraseña: MONSTER9)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es fundamental mencionar que se debe crear un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xml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 dentro de los recursos que mapee a la clase para que el proyecto pueda poner en ejecución el </a:t>
            </a:r>
            <a:r>
              <a:rPr lang="es-ES" sz="1600" dirty="0" err="1">
                <a:latin typeface="Cambria"/>
                <a:ea typeface="Cambria"/>
                <a:cs typeface="Cambria"/>
                <a:sym typeface="Cambria"/>
              </a:rPr>
              <a:t>handler</a:t>
            </a:r>
            <a:r>
              <a:rPr lang="es-ES" sz="1600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6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p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223" name="Google Shape;22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653" y="3159048"/>
            <a:ext cx="5734050" cy="1381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4" name="Google Shape;224;p28"/>
          <p:cNvGraphicFramePr/>
          <p:nvPr>
            <p:extLst>
              <p:ext uri="{D42A27DB-BD31-4B8C-83A1-F6EECF244321}">
                <p14:modId xmlns:p14="http://schemas.microsoft.com/office/powerpoint/2010/main" val="878698003"/>
              </p:ext>
            </p:extLst>
          </p:nvPr>
        </p:nvGraphicFramePr>
        <p:xfrm>
          <a:off x="4024925" y="4574350"/>
          <a:ext cx="4894525" cy="20091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489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ec.edu.monster.controladores.manejadoresws;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ec.edu.monster.seguridad.AdministradorTokens;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jakarta.xml.ws.handler.soap.SOAPHandler;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jakarta.xml.ws.handler.soap.SOAPMessageContext;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jakarta.xml.ws.handler.MessageContext;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javax.xml.namespace.QName;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org.w3c.dom.NodeList;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java.util.Set;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ManejadorAutenticacion implements SOAPHandler&lt;SOAPMessageContext&gt;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Esta clase contiene la lógica que se puede observar en la Tabla junto a la complementaria para gestionar la autenticación con tokens y la autenticación que maneja credenciales quemadas en código.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32" name="Google Shape;232;p29"/>
          <p:cNvGraphicFramePr/>
          <p:nvPr>
            <p:extLst>
              <p:ext uri="{D42A27DB-BD31-4B8C-83A1-F6EECF244321}">
                <p14:modId xmlns:p14="http://schemas.microsoft.com/office/powerpoint/2010/main" val="680092541"/>
              </p:ext>
            </p:extLst>
          </p:nvPr>
        </p:nvGraphicFramePr>
        <p:xfrm>
          <a:off x="2964625" y="1876275"/>
          <a:ext cx="6062675" cy="47013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@Override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boolean handleMessage(SOAPMessageContext contexto)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Boolean esSalida = (Boolean) contexto.get(MessageContext.MESSAGE_OUTBOUND_PROPERTY);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(!esSalida)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QName operacion = (QName) contexto.get(MessageContext.WSDL_OPERATION);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(operacion != null &amp;&amp; "login".equalsIgnoreCase(operacion.getLocalPart()))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var mensajeSOAP = contexto.getMessage();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var encabezado = mensajeSOAP != null ? mensajeSOAP.getSOAPHeader() : null;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(encabezado == null)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RuntimeException("Acceso denegado: Se requiere encabezado SOAP con el token de seguridad.");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NodeList nodosToken = encabezado.getElementsByTagNameNS("*", "token");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(nodosToken.getLength() == 0)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RuntimeException("Acceso denegado: No se encontró el token. Inicie sesión primero.");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nodosToken.item(0).getTextContent();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(!AdministradorTokens.validarToken(token))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throw new RuntimeException("Acceso denegado: Token inválido o expirado.");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RuntimeException(e.getMessage());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8" name="Google Shape;238;p30"/>
          <p:cNvSpPr txBox="1">
            <a:spLocks noGrp="1"/>
          </p:cNvSpPr>
          <p:nvPr>
            <p:ph type="body" idx="1"/>
          </p:nvPr>
        </p:nvSpPr>
        <p:spPr>
          <a:xfrm>
            <a:off x="581200" y="1876275"/>
            <a:ext cx="2132400" cy="47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Esta clase contiene la lógica que se puede observar en la Tabla junto a la complementaria para gestionar la autenticación con tokens y la autenticación que maneja credenciales quemadas en código.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0" name="Google Shape;240;p30"/>
          <p:cNvGraphicFramePr/>
          <p:nvPr/>
        </p:nvGraphicFramePr>
        <p:xfrm>
          <a:off x="3064663" y="2920413"/>
          <a:ext cx="6062675" cy="26416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51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@Override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Set&lt;QName&gt; getHeaders()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null;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boolean handleFault(SOAPMessageContext contexto)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true;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close(MessageContext contexto) {}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400" b="1" dirty="0">
                <a:latin typeface="Cambria"/>
                <a:ea typeface="Cambria"/>
                <a:cs typeface="Cambria"/>
                <a:sym typeface="Cambria"/>
              </a:rPr>
              <a:t>1.2.5	Lógica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48" name="Google Shape;248;p31"/>
          <p:cNvGraphicFramePr/>
          <p:nvPr/>
        </p:nvGraphicFramePr>
        <p:xfrm>
          <a:off x="3017313" y="3676500"/>
          <a:ext cx="6062675" cy="14071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interface IConversor&lt;T&gt;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T unidadInicial, T unidadFinal);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5" name="Google Shape;255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56" name="Google Shape;256;p32"/>
          <p:cNvGraphicFramePr/>
          <p:nvPr>
            <p:extLst>
              <p:ext uri="{D42A27DB-BD31-4B8C-83A1-F6EECF244321}">
                <p14:modId xmlns:p14="http://schemas.microsoft.com/office/powerpoint/2010/main" val="1303411666"/>
              </p:ext>
            </p:extLst>
          </p:nvPr>
        </p:nvGraphicFramePr>
        <p:xfrm>
          <a:off x="3017313" y="1838175"/>
          <a:ext cx="6062675" cy="47599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ec.edu.monster.modelos.utilidades.enums.UnidadLongitud;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java.util.Map;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ConversorLongitud implements IConversor&lt;UnidadLongitud&gt;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Map&lt;UnidadLongitud, Double&gt; factores = Map.of(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UnidadLongitud.MILIMETRO, 0.001,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UnidadLongitud.CENTIMETRO, 0.01,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UnidadLongitud.METRO, 1.0,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UnidadLongitud.KILOMETRO, 1000.0,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UnidadLongitud.YARDA, 0.9144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ConversorLongitud() {}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UnidadLongitud unidadOrigen, UnidadLongitud unidadFinal)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(unidadOrigen == null || unidadFinal == null)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IllegalArgumentException("Las unidades no pueden ser null");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(!factores.containsKey(unidadOrigen) || !factores.containsKey(unidadFinal))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IllegalArgumentException("Unidad no soportada");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valorEnBase = valor * factores.get(unidadOrigen);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valorEnBase / factores.get(unidadFinal);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64" name="Google Shape;264;p33"/>
          <p:cNvGraphicFramePr/>
          <p:nvPr>
            <p:extLst>
              <p:ext uri="{D42A27DB-BD31-4B8C-83A1-F6EECF244321}">
                <p14:modId xmlns:p14="http://schemas.microsoft.com/office/powerpoint/2010/main" val="1631983256"/>
              </p:ext>
            </p:extLst>
          </p:nvPr>
        </p:nvGraphicFramePr>
        <p:xfrm>
          <a:off x="3017313" y="1838175"/>
          <a:ext cx="6062675" cy="47599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ec.edu.monster.modelos.utilidades.enums.UnidadMasa;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java.util.Map;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ConversorMasa implements IConversor&lt;UnidadMasa&gt;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Map&lt;UnidadMasa, Double&gt; factores = Map.of(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UnidadMasa.MILIGRAMO, 0.001,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UnidadMasa.GRAMO, 1.0,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UnidadMasa.KILOGRAMO, 1000.0,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UnidadMasa.TONELADA, 1_000_000.0,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UnidadMasa.ONZA, 28.3495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ConversorMasa() {}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UnidadMasa unidadOrigen, UnidadMasa unidadFinal)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(unidadOrigen == null || unidadFinal == null)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IllegalArgumentException("Las unidades no pueden ser null");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(!factores.containsKey(unidadOrigen) || !factores.containsKey(unidadFinal))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IllegalArgumentException("Unidad no soportada");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valorEnBase = valor * factores.get(unidadOrigen);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valorEnBase / factores.get(unidadFinal);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72" name="Google Shape;272;p34"/>
          <p:cNvGraphicFramePr/>
          <p:nvPr/>
        </p:nvGraphicFramePr>
        <p:xfrm>
          <a:off x="2891513" y="2209650"/>
          <a:ext cx="6062675" cy="43027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ec.edu.monster.modelos.utilidades;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ec.edu.monster.modelos.utilidades.enums.UnidadTemperatura;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static ec.edu.monster.modelos.utilidades.enums.UnidadTemperatura.CELSIUS;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static ec.edu.monster.modelos.utilidades.enums.UnidadTemperatura.FAHRENHEIT;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static ec.edu.monster.modelos.utilidades.enums.UnidadTemperatura.KELVIN;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static ec.edu.monster.modelos.utilidades.enums.UnidadTemperatura.RANKINE;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ConversorTemperatura implements IConversor&lt;UnidadTemperatura&gt;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ConversorTemperatura() {}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UnidadTemperatura origen, UnidadTemperatura destino)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(origen == null || destino == null)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IllegalArgumentException("Las unidades no pueden ser null");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(origen == destino)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valor;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78" name="Google Shape;278;p35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Ahora se procede a completar el resto de la lógica, donde las utilidades exponen la lógica (utilizando factores de conversión y fórmulas) como se puede ver en las tablas aplicando una interfaz con el fin de hacer que los servicios puedan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0" name="Google Shape;280;p35"/>
          <p:cNvGraphicFramePr/>
          <p:nvPr>
            <p:extLst>
              <p:ext uri="{D42A27DB-BD31-4B8C-83A1-F6EECF244321}">
                <p14:modId xmlns:p14="http://schemas.microsoft.com/office/powerpoint/2010/main" val="3962150383"/>
              </p:ext>
            </p:extLst>
          </p:nvPr>
        </p:nvGraphicFramePr>
        <p:xfrm>
          <a:off x="2891513" y="1838175"/>
          <a:ext cx="6062675" cy="475996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 switch (origen)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CELSIUS -&gt; switch (destino)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FAHRENHEIT -&gt; (valor * 9 / 5) + 32;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KELVIN -&gt; valor + 273.15;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RANKINE -&gt; (valor + 273.15) * 9 / 5;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 -&gt; throw new IllegalArgumentException("Conversión no soportada");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FAHRENHEIT -&gt; switch (destino)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CELSIUS -&gt; (valor - 32) * 5 / 9;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KELVIN -&gt; (valor - 32) * 5 / 9 + 273.15;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RANKINE -&gt; valor + 459.67;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 -&gt; throw new IllegalArgumentException("Conversión no soportada");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KELVIN -&gt; switch (destino)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CELSIUS -&gt; valor - 273.15;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FAHRENHEIT -&gt; (valor - 273.15) * 9 / 5 + 32;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RANKINE -&gt; valor * 9 / 5;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 -&gt; throw new IllegalArgumentException("Conversión no soportada");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RANKINE -&gt; switch (destino) {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CELSIUS -&gt; (valor - 491.67) * 5 / 9;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FAHRENHEIT -&gt; valor - 459.67;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KELVIN -&gt; valor * 5 / 9;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 -&gt; throw new IllegalArgumentException("Conversión no soportada");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};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1"/>
          </p:nvPr>
        </p:nvSpPr>
        <p:spPr>
          <a:xfrm>
            <a:off x="581200" y="3037175"/>
            <a:ext cx="21324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ambria"/>
                <a:ea typeface="Cambria"/>
                <a:cs typeface="Cambria"/>
                <a:sym typeface="Cambria"/>
              </a:rPr>
              <a:t>Aplicando una interfaz con el fin de hacer que el servicio pueda inyectar cualquier tipo de conversión sin limitarse a uno en concreto como se puede ver en la Tabla del Servicio</a:t>
            </a: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288" name="Google Shape;288;p36"/>
          <p:cNvGraphicFramePr/>
          <p:nvPr/>
        </p:nvGraphicFramePr>
        <p:xfrm>
          <a:off x="2891513" y="2557313"/>
          <a:ext cx="6062675" cy="36017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609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ec.edu.monster.servicios;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ec.edu.monster.modelos.utilidades.IConversor;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ServicioConversor&lt;T&gt;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IConversor&lt;T&gt; conversor;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ServicioConversor(IConversor&lt;T&gt; conversor)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this.conversor = conversor;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convertir(double valor, T origen, T destino)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(conversor == null) {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throw new IllegalStateException("No se ha inyectado un conversor");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conversor.convertir(valor, origen, destino);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2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94" name="Google Shape;294;p37"/>
          <p:cNvSpPr txBox="1">
            <a:spLocks noGrp="1"/>
          </p:cNvSpPr>
          <p:nvPr>
            <p:ph type="body" idx="1"/>
          </p:nvPr>
        </p:nvSpPr>
        <p:spPr>
          <a:xfrm>
            <a:off x="581200" y="2018775"/>
            <a:ext cx="2685600" cy="4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>
                <a:latin typeface="Cambria"/>
                <a:ea typeface="Cambria"/>
                <a:cs typeface="Cambria"/>
                <a:sym typeface="Cambria"/>
              </a:rPr>
              <a:t>1.2.6 	Ejecución en Servidor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2385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6"/>
              <a:buFont typeface="Cambria"/>
              <a:buChar char="∙"/>
            </a:pPr>
            <a:r>
              <a:rPr lang="es-ES" sz="1500">
                <a:latin typeface="Cambria"/>
                <a:ea typeface="Cambria"/>
                <a:cs typeface="Cambria"/>
                <a:sym typeface="Cambria"/>
              </a:rPr>
              <a:t>Se ejecuta el programa corriendo en nuestro servidor payara y se comprueba que el contrato WSDL esté correcto en la ruta (Dejamos anteriormente que Payara corra por defecto en 8080): http://localhost:8080/WS_ConversorUnidades_Java_SOAP/WSConversorUnidades?wsdl</a:t>
            </a:r>
            <a:endParaRPr sz="150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296" name="Google Shape;2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8750" y="1878563"/>
            <a:ext cx="5192894" cy="48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3" name="Google Shape;303;p38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0332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52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64"/>
              <a:buFont typeface="Arial" panose="020B0604020202020204" pitchFamily="34" charset="0"/>
              <a:buChar char="•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Para el cliente consola se uso NetBeans en el cual se debe crear un nuevo proyecto para ello se seleccionó el gestor de proyectos Java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Maven, el tipo de aplicativo que se usa es Java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046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Se asigna un nombre al proyecto, se da una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ubicacion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, y se configura el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group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id con el que se quiere nombrar.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99162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04" name="Google Shape;3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200" y="3907425"/>
            <a:ext cx="3704150" cy="25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125" y="3765892"/>
            <a:ext cx="3704150" cy="2593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 i="0" u="none" strike="noStrike" cap="none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581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1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4"/>
              <a:buFont typeface="Arial" panose="020B0604020202020204" pitchFamily="34" charset="0"/>
              <a:buChar char="•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Una vez que se creó el proyecto se debe generar los diferentes paquetes, donde se colocarán los archivos con código fuente.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26C8ECBC-90D3-C755-8847-7026580440D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954254" y="3950625"/>
            <a:ext cx="3172568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0" name="Google Shape;320;p4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1" name="Google Shape;321;p40"/>
          <p:cNvGraphicFramePr/>
          <p:nvPr>
            <p:extLst>
              <p:ext uri="{D42A27DB-BD31-4B8C-83A1-F6EECF244321}">
                <p14:modId xmlns:p14="http://schemas.microsoft.com/office/powerpoint/2010/main" val="1335856640"/>
              </p:ext>
            </p:extLst>
          </p:nvPr>
        </p:nvGraphicFramePr>
        <p:xfrm>
          <a:off x="2964625" y="1876275"/>
          <a:ext cx="6062675" cy="482092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013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ec.edu.monster.wsconversorcon;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ec.edu.monster.wsconversorcon.controller.ConsolaControlador;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WSConversorConsoleClient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void main(String[] args)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ConsolaControlador controlador = new ConsolaControlador();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controlador.iniciar();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ec.edu.monster.wsconversorcon.controller;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AppControlador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ConversorService service = new ConversorService();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service.login(usuario, contrasenia);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convertirLongitud(double valor, String unidadInicial,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service.convertirLongitud(valor,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convertirMasa(...) y convertirTemperatura(...) siguen el mismo patrón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EC1C52EF-2EDD-6074-5773-8EFCF0940C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28" name="Google Shape;328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29" name="Google Shape;329;p41"/>
          <p:cNvGraphicFramePr/>
          <p:nvPr>
            <p:extLst>
              <p:ext uri="{D42A27DB-BD31-4B8C-83A1-F6EECF244321}">
                <p14:modId xmlns:p14="http://schemas.microsoft.com/office/powerpoint/2010/main" val="550814750"/>
              </p:ext>
            </p:extLst>
          </p:nvPr>
        </p:nvGraphicFramePr>
        <p:xfrm>
          <a:off x="2964625" y="1876275"/>
          <a:ext cx="6062675" cy="47904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06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ec.edu.monster.wsconversorcon.controller;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ConsolaControlador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ConsolaView vista = new ConsolaView();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AppControlador appControlador = new AppControlador();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iniciar()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vista.mostrarBanner();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(!realizarLogin())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vista.mostrarMensaje("Acceso cancelado. Finalizando programa.");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bucleMenuPrincipal();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boolean realizarLogin()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while (true)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usuario = vista.leerTexto("Usuario");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contrasenia = vista.leerContrasenia("Contraseña");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(usuario.isEmpty() || contrasenia.isEmpty())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vista.mostrarMensaje("Por favor complete todos los campos.");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continue;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 token = appControlador.login(usuario, contrasenia);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if (token != null &amp;&amp; !token.isBlank())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vista.mostrarMensaje("¡Bienvenido " + usuario + "!");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return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vista.mostrarError("Usuario o contraseña incorrectos.");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catch (Exception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vista.mostrarError("No se pudo conectar con el servidor SOAP: " + e.getMessage());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1E20B2F7-16E5-F7C8-92D0-8D3DCA9AA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p42"/>
          <p:cNvSpPr txBox="1">
            <a:spLocks noGrp="1"/>
          </p:cNvSpPr>
          <p:nvPr>
            <p:ph type="body" idx="1"/>
          </p:nvPr>
        </p:nvSpPr>
        <p:spPr>
          <a:xfrm>
            <a:off x="469355" y="2910347"/>
            <a:ext cx="2099516" cy="244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37" name="Google Shape;337;p42"/>
          <p:cNvGraphicFramePr/>
          <p:nvPr>
            <p:extLst>
              <p:ext uri="{D42A27DB-BD31-4B8C-83A1-F6EECF244321}">
                <p14:modId xmlns:p14="http://schemas.microsoft.com/office/powerpoint/2010/main" val="2968194548"/>
              </p:ext>
            </p:extLst>
          </p:nvPr>
        </p:nvGraphicFramePr>
        <p:xfrm>
          <a:off x="3027338" y="1861228"/>
          <a:ext cx="5439425" cy="48514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543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bucleMenuPrincipal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boolean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continuar = true;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while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(continuar)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vista.mostrarMenuPrincipal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vista.leerEntero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("Seleccione una opción", 1, 4);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switch (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opcion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1: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procesarLongitud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2: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procesarMasa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3: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procesarTemperatura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case 4: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continuar = false;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vista.mostrarMensaje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("¡Gracias por utilizar el WS Conversor! Hasta luego.");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break;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procesarLongitud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vista.seleccionarUnidadLongitud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("Inicial");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valor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vista.leerDouble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("Ingrese el valor a convertir");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vista.seleccionarUnidadLongitud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("Final");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double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resultado =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appControlador.convertirLongitud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(valor,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unidadInicial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unidadFinal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vista.mostrarResultado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(resultado);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 catch (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Exception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vista.mostrarError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("Error en la conversión: " +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e.getMessage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procesarMasa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y </a:t>
                      </a:r>
                      <a:r>
                        <a:rPr lang="es-ES" sz="10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procesarTemperatura</a:t>
                      </a:r>
                      <a:r>
                        <a:rPr lang="es-ES" sz="10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siguen el mismo patrón</a:t>
                      </a:r>
                      <a:endParaRPr sz="10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43"/>
          <p:cNvSpPr txBox="1">
            <a:spLocks noGrp="1"/>
          </p:cNvSpPr>
          <p:nvPr>
            <p:ph type="body" idx="1"/>
          </p:nvPr>
        </p:nvSpPr>
        <p:spPr>
          <a:xfrm>
            <a:off x="122575" y="2989523"/>
            <a:ext cx="1920750" cy="2594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44" name="Google Shape;344;p4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345" name="Google Shape;345;p43"/>
          <p:cNvGraphicFramePr/>
          <p:nvPr>
            <p:extLst>
              <p:ext uri="{D42A27DB-BD31-4B8C-83A1-F6EECF244321}">
                <p14:modId xmlns:p14="http://schemas.microsoft.com/office/powerpoint/2010/main" val="2491318408"/>
              </p:ext>
            </p:extLst>
          </p:nvPr>
        </p:nvGraphicFramePr>
        <p:xfrm>
          <a:off x="2043325" y="2041263"/>
          <a:ext cx="3522650" cy="44856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352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2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ec.edu.monster.wsconversorcon.model;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ec.edu.monster.ws.WSConversorUnidades;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 ec.edu.monster.ws.WSConversorUnidades_Service;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ConversorService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WSConversorUnidades getPort()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WSConversorUnidades_Service service = new WSConversorUnidades_Service();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service.getWSConversorUnidadesPort();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getPort().login(usuario, contrasenia);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convertirLongitud(double valor, String unidadInicial, String unidadFinal)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getPort().convertirLongitud(valor, unidadInicial, unidadFinal);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convertirMasa(...) y convertirTemperatura(...) invocan la operación SOAP equivalente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6" name="Google Shape;346;p43"/>
          <p:cNvGraphicFramePr/>
          <p:nvPr>
            <p:extLst>
              <p:ext uri="{D42A27DB-BD31-4B8C-83A1-F6EECF244321}">
                <p14:modId xmlns:p14="http://schemas.microsoft.com/office/powerpoint/2010/main" val="3938315556"/>
              </p:ext>
            </p:extLst>
          </p:nvPr>
        </p:nvGraphicFramePr>
        <p:xfrm>
          <a:off x="5684675" y="2041263"/>
          <a:ext cx="3699025" cy="448564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369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72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ConsolaView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Scanner scanner = new Scanner(System.in);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leerTexto(String etiqueta)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System.out.print(etiqueta + ": 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scanner.nextLine().trim();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leerDouble(String etiqueta)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while (true)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System.out.print(etiqueta + ": 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Double.parseDouble(scanner.nextLine().trim());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catch (NumberFormatException e)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System.out.println(" [!] Por favor ingrese un número válido.");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mostrarResultado(double resultado) {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System.out.println("Resultado: " + resultado);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1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11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0" name="Google Shape;370;p46"/>
          <p:cNvSpPr txBox="1">
            <a:spLocks noGrp="1"/>
          </p:cNvSpPr>
          <p:nvPr>
            <p:ph type="body" idx="1"/>
          </p:nvPr>
        </p:nvSpPr>
        <p:spPr>
          <a:xfrm>
            <a:off x="476536" y="2348028"/>
            <a:ext cx="2443644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verificar que el cliente funciona de forma correcta, se levanta y tiene comunicación </a:t>
            </a:r>
            <a:endParaRPr sz="1400" b="1" dirty="0">
              <a:solidFill>
                <a:srgbClr val="17365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∙"/>
            </a:pP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4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DDF98203-27C5-5D9F-6EA3-B8CBBB15724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716757" y="2794000"/>
            <a:ext cx="4758362" cy="250507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35" name="Google Shape;535;p6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6" name="Google Shape;536;p66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Para el cliente de escritorio se creó en NetBeans un proyecto Java Application con interfaz Swing, siguiendo la arquitectura MVC (paquetes controller, model y view). El cliente consume el servicio SOAP mediante las clases generadas a partir del WSDL (Web Service Client).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37" name="Google Shape;537;p66"/>
          <p:cNvSpPr txBox="1">
            <a:spLocks noGrp="1"/>
          </p:cNvSpPr>
          <p:nvPr>
            <p:ph type="body" idx="1"/>
          </p:nvPr>
        </p:nvSpPr>
        <p:spPr>
          <a:xfrm>
            <a:off x="122575" y="3443347"/>
            <a:ext cx="2210263" cy="206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38" name="Google Shape;538;p66"/>
          <p:cNvGraphicFramePr/>
          <p:nvPr>
            <p:extLst>
              <p:ext uri="{D42A27DB-BD31-4B8C-83A1-F6EECF244321}">
                <p14:modId xmlns:p14="http://schemas.microsoft.com/office/powerpoint/2010/main" val="4177665507"/>
              </p:ext>
            </p:extLst>
          </p:nvPr>
        </p:nvGraphicFramePr>
        <p:xfrm>
          <a:off x="2332838" y="3073863"/>
          <a:ext cx="6484300" cy="356743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 ec.edu.monster.wsconversorclient;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WSConversorClient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static void main(String[] args)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LoginView.main(args);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AppControlador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ConversorService service = new ConversorService();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service.login(usuario, contrasenia);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double convertirLongitud(double valor, String unidadInicial, String unidadFinal)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service.convertirLongitud(valor, unidadInicial, unidadFinal);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convertirMasa(...) y convertirTemperatura(...) delegan en el servicio</a:t>
                      </a:r>
                      <a:endParaRPr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9" name="Google Shape;539;p66"/>
          <p:cNvSpPr txBox="1"/>
          <p:nvPr/>
        </p:nvSpPr>
        <p:spPr>
          <a:xfrm>
            <a:off x="122575" y="1715850"/>
            <a:ext cx="7232400" cy="77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1.4 	CREACIÓN DEL PROYECTO – CLIENTE ESCRITORIO</a:t>
            </a:r>
            <a:br>
              <a:rPr lang="es-ES" sz="1800" b="1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>
              <a:solidFill>
                <a:schemeClr val="dk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45" name="Google Shape;545;p6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46" name="Google Shape;546;p67"/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47" name="Google Shape;547;p67"/>
          <p:cNvGraphicFramePr/>
          <p:nvPr>
            <p:extLst>
              <p:ext uri="{D42A27DB-BD31-4B8C-83A1-F6EECF244321}">
                <p14:modId xmlns:p14="http://schemas.microsoft.com/office/powerpoint/2010/main" val="4181208991"/>
              </p:ext>
            </p:extLst>
          </p:nvPr>
        </p:nvGraphicFramePr>
        <p:xfrm>
          <a:off x="2332838" y="2136238"/>
          <a:ext cx="6484300" cy="4023900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23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public class ConversorService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private static String tokenSesion;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public String login(String usuario, String contrasenia)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WSConversorUnidades_Service service = new WSConversorUnidades_Service();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WSConversorUnidades port = service.getWSConversorUnidadesPort();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String token = port.login(usuario, contrasenia);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tokenSesion = token;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return token;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public double convertirLongitud(double valor, String unidadInicial, String unidadFinal)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WSConversorUnidades_Service service = new WSConversorUnidades_Service();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WSConversorUnidades port = service.getWSConversorUnidadesPort();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    return port.convertirLongitud(valor, unidadInicial, unidadFinal);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   // convertirMasa(...) y convertirTemperatura(...) siguen el mismo patrón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}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53" name="Google Shape;553;p68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55" name="Google Shape;555;p68"/>
          <p:cNvGraphicFramePr/>
          <p:nvPr>
            <p:extLst>
              <p:ext uri="{D42A27DB-BD31-4B8C-83A1-F6EECF244321}">
                <p14:modId xmlns:p14="http://schemas.microsoft.com/office/powerpoint/2010/main" val="2298534944"/>
              </p:ext>
            </p:extLst>
          </p:nvPr>
        </p:nvGraphicFramePr>
        <p:xfrm>
          <a:off x="2332838" y="2136238"/>
          <a:ext cx="6484300" cy="4608322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private void btnIngresarActionPerformed(java.awt.event.ActionEvent evt)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String user = usuario.getText() != null ? usuario.getText().trim() : "";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String pass = new String(contrasenia.getPassword());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if (user.isEmpty() || pass.isEmpty())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JOptionPane.showMessageDialog(this, "Por favor ingrese el usuario y la contraseña.",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    "Campos Vacíos", JOptionPane.WARNING_MESSAGE);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return;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try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AppControlador control = new AppControlador();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String token = control.login(user, pass);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950">
                        <a:solidFill>
                          <a:schemeClr val="dk1"/>
                        </a:solidFill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if (token != null &amp;&amp; !token.isBlank())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ConversorView vistaPrincipal = new ConversorView();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vistaPrincipal.setLocationRelativeTo(null);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vistaPrincipal.setVisible(true);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this.dispose();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} else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JOptionPane.showMessageDialog(this, "Usuario o contraseña incorrectos.",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        "Error de Autenticación", JOptionPane.ERROR_MESSAGE);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} catch (Exception ex) {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JOptionPane.showMessageDialog(this, ex.getMessage(),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            "Error de Autenticación", JOptionPane.ERROR_MESSAGE);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chemeClr val="dk1"/>
                          </a:solidFill>
                        </a:rPr>
                        <a:t>}</a:t>
                      </a:r>
                      <a:endParaRPr sz="95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74380EC5-96B8-58D5-D783-2B5D30A84F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1" name="Google Shape;561;p69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563" name="Google Shape;563;p69"/>
          <p:cNvGraphicFramePr/>
          <p:nvPr>
            <p:extLst>
              <p:ext uri="{D42A27DB-BD31-4B8C-83A1-F6EECF244321}">
                <p14:modId xmlns:p14="http://schemas.microsoft.com/office/powerpoint/2010/main" val="179783562"/>
              </p:ext>
            </p:extLst>
          </p:nvPr>
        </p:nvGraphicFramePr>
        <p:xfrm>
          <a:off x="2332825" y="1914088"/>
          <a:ext cx="6484300" cy="4718812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 void btnConvertirActionPerformed(java.awt.event.ActionEvent evt)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try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txtValor = valor.getText() != null ? valor.getText().trim() : "";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(txtValor.isEmpty())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JOptionPane.showMessageDialog(this, "Por favor ingrese un valor a convertir.");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num = Double.parseDouble(txtValor);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unidadInicial = (String) undInit.getSelectedItem();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unidadFinal = (String) undFinal.getSelectedItem();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tipo = (String) cmbMagnitud.getSelectedItem();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AppControlador control = new AppControlador();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double conversion;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("MASA".equalsIgnoreCase(tipo))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conversion = control.convertirMasa(num, unidadInicial, unidadFinal);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else if ("TEMPERATURA".equalsIgnoreCase(tipo))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conversion = control.convertirTemperatura(num, unidadInicial, unidadFinal);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else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conversion = control.convertirLongitud(num, unidadInicial, unidadFinal);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conversionResultado.setText(String.valueOf(conversion));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 catch (NumberFormatException ex)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JOptionPane.showMessageDialog(this, "Ingrese un número válido.");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 catch (Exception ex) {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JOptionPane.showMessageDialog(this, "Error al convertir: " + ex.getMessage());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4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75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DA9BDCC6-5221-0AB8-B4F3-BC814073C997}"/>
              </a:ext>
            </a:extLst>
          </p:cNvPr>
          <p:cNvSpPr txBox="1">
            <a:spLocks/>
          </p:cNvSpPr>
          <p:nvPr/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69" name="Google Shape;569;p70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1" name="Google Shape;571;p70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A1F40534-CCCD-CDEB-1508-C66FBE4F73E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862529" y="2360615"/>
            <a:ext cx="3449780" cy="377367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78" name="Google Shape;578;p71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963EBF94-EA37-F96C-155D-ECAD31EEBA4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480319" y="2610550"/>
            <a:ext cx="4889262" cy="34671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593" name="Google Shape;593;p7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94" name="Google Shape;594;p73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Para el cliente web se creó un proyecto Web Application (Maven) con Jakarta Faces (JSF) y CDI, desplegado en Payara Server. Las vistas xhtml usan los beans LoginView y ConversorView, que invocan a AppControlador.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596" name="Google Shape;596;p73"/>
          <p:cNvGraphicFramePr/>
          <p:nvPr>
            <p:extLst>
              <p:ext uri="{D42A27DB-BD31-4B8C-83A1-F6EECF244321}">
                <p14:modId xmlns:p14="http://schemas.microsoft.com/office/powerpoint/2010/main" val="968143072"/>
              </p:ext>
            </p:extLst>
          </p:nvPr>
        </p:nvGraphicFramePr>
        <p:xfrm>
          <a:off x="2332838" y="3073863"/>
          <a:ext cx="6484300" cy="3640709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@Named("loginView")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@SessionScoped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LoginView implements Serializable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usuario;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contrasenia;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UsuarioSession usuarioSession;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AppControlador controlador = new AppControlador();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(usuario == null || usuario.trim().isEmpty() ||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contrasenia == null || contrasenia.trim().isEmpty())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FacesContext.getCurrentInstance().addMessage(null, new FacesMessage(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FacesMessage.SEVERITY_ERROR, "Por favor complete todos los campos.", null));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String token = controlador.login(usuario.trim(), contrasenia.trim());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if (token != null &amp;&amp; !token.isBlank())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usuarioSession = new UsuarioSession(usuario.trim().toUpperCase(), token);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return "conversor?faces-redirect=true";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// mensaje: credenciales incorrectas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// mensaje: error de conexión con el servicio SOAP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logout()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usuarioSession = null;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FacesContext.getCurrentInstance().getExternalContext().invalidateSession();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"login?faces-redirect=true";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5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5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EB120738-47B3-39BD-C5B8-912DA8E2C3ED}"/>
              </a:ext>
            </a:extLst>
          </p:cNvPr>
          <p:cNvSpPr txBox="1">
            <a:spLocks/>
          </p:cNvSpPr>
          <p:nvPr/>
        </p:nvSpPr>
        <p:spPr>
          <a:xfrm>
            <a:off x="299260" y="3261002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02" name="Google Shape;602;p74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604" name="Google Shape;604;p74"/>
          <p:cNvGraphicFramePr/>
          <p:nvPr>
            <p:extLst>
              <p:ext uri="{D42A27DB-BD31-4B8C-83A1-F6EECF244321}">
                <p14:modId xmlns:p14="http://schemas.microsoft.com/office/powerpoint/2010/main" val="2402492024"/>
              </p:ext>
            </p:extLst>
          </p:nvPr>
        </p:nvGraphicFramePr>
        <p:xfrm>
          <a:off x="2332838" y="2061838"/>
          <a:ext cx="6484300" cy="4517327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@Named("conversorView")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@SessionScoped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ConversorView implements Serializable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@Inject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LoginView loginView;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tipoMagnitud = "LONGITUD";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valor;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unidadOrigen;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unidadDestino;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Double resultado;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void convertir()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(loginView == null || !loginView.isAutenticado())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// mensaje: debe iniciar sesión primero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double res;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switch (tipoMagnitud)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"MASA":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res = controlador.convertirMasa(valor, unidadOrigen, unidadDestino);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break;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case "TEMPERATURA":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res = controlador.convertirTemperatura(valor, unidadOrigen, unidadDestino);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break;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default: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res = controlador.convertirLongitud(valor, unidadOrigen, unidadDestino);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resultado = res;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historial.add(0, new HistorialItem(tipoMagnitud, valor, unidadOrigen, res, unidadDestino));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 catch (Exception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// mensaje: error en conversión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6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3D6553F3-2A92-E3AF-694A-CA9FAB8559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0" name="Google Shape;610;p75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graphicFrame>
        <p:nvGraphicFramePr>
          <p:cNvPr id="612" name="Google Shape;612;p75"/>
          <p:cNvGraphicFramePr/>
          <p:nvPr>
            <p:extLst>
              <p:ext uri="{D42A27DB-BD31-4B8C-83A1-F6EECF244321}">
                <p14:modId xmlns:p14="http://schemas.microsoft.com/office/powerpoint/2010/main" val="3084126549"/>
              </p:ext>
            </p:extLst>
          </p:nvPr>
        </p:nvGraphicFramePr>
        <p:xfrm>
          <a:off x="2332825" y="1795025"/>
          <a:ext cx="6484300" cy="446502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65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&lt;h:form id="loginForm"&gt;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&lt;h:panelGrid columns="1"&gt;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&lt;h:outputText value="INICIAR SESIÓN"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&lt;h:messages globalOnly="true" style="color: red;"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&lt;h:panelGrid columns="2"&gt;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&lt;h:outputLabel for="usuario" value="Usuario:"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&lt;h:inputText id="usuario" value="#{loginView.usuario}"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required="true" requiredMessage="Ingrese su usuario."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&lt;h:outputLabel for="contrasenia" value="Contraseña:"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&lt;h:inputSecret id="contrasenia" value="#{loginView.contrasenia}"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 required="true" requiredMessage="Ingrese su contraseña."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&lt;/h:panelGrid&gt;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&lt;h:commandButton value="Ingresar" action="#{loginView.login}"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&lt;h:commandButton value="Limpiar" action="#{loginView.limpiar}" immediate="true"&gt;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&lt;f:ajax execute="@this" render="loginForm" /&gt;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&lt;/h:commandButton&gt;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&lt;/h:panelGrid&gt;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9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&lt;/h:form&gt;</a:t>
                      </a:r>
                      <a:endParaRPr sz="9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38757AD2-53A9-FB68-0E3B-76BC0FCC8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7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18" name="Google Shape;618;p76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0" name="Google Shape;620;p76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B4DBC034-F455-72BC-B6E4-B316518F40F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369575" y="2610550"/>
            <a:ext cx="4500838" cy="378667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7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26" name="Google Shape;626;p77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00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27" name="Google Shape;627;p77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446FC5C5-5FC2-D1B6-C2CA-908DE8D468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912233" y="2501989"/>
            <a:ext cx="5980112" cy="401516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1" name="Google Shape;641;p79"/>
          <p:cNvGraphicFramePr/>
          <p:nvPr>
            <p:extLst>
              <p:ext uri="{D42A27DB-BD31-4B8C-83A1-F6EECF244321}">
                <p14:modId xmlns:p14="http://schemas.microsoft.com/office/powerpoint/2010/main" val="1738812390"/>
              </p:ext>
            </p:extLst>
          </p:nvPr>
        </p:nvGraphicFramePr>
        <p:xfrm>
          <a:off x="2391831" y="3073878"/>
          <a:ext cx="6484300" cy="3661575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15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package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ec.edu.monster.wsconversormov.model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ConfiguracionConexion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10.0.2.2 es la IP por defecto para acceder al localhost de la máquina host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// desde el emulador de Android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private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"http://10.0.2.2:8080/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WS_ConversorUnidades_Java_SOAP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WSConversorUnidades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static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void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(String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!=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null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&amp;&amp; !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url.trim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().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isEmpty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endpointUrl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= </a:t>
                      </a:r>
                      <a:r>
                        <a:rPr lang="es-ES" sz="900" dirty="0" err="1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url.trim</a:t>
                      </a: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900" dirty="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900" dirty="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2" name="Google Shape;642;p7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43" name="Google Shape;643;p7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644" name="Google Shape;644;p79"/>
          <p:cNvSpPr txBox="1"/>
          <p:nvPr/>
        </p:nvSpPr>
        <p:spPr>
          <a:xfrm>
            <a:off x="406975" y="182355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</a:t>
            </a:r>
            <a:r>
              <a:rPr lang="es-ES" sz="1800" b="1" i="0" u="none" strike="noStrike" cap="none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	CREACIÓN DEL PROYECTO – CLIENTE MÓVIL</a:t>
            </a:r>
            <a:br>
              <a:rPr lang="es-ES" sz="1800" b="1" i="0" u="none" strike="noStrike" cap="none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b="0" i="0" u="none" strike="noStrike" cap="none" dirty="0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6" name="Google Shape;646;p79"/>
          <p:cNvSpPr txBox="1">
            <a:spLocks noGrp="1"/>
          </p:cNvSpPr>
          <p:nvPr>
            <p:ph type="body" idx="1"/>
          </p:nvPr>
        </p:nvSpPr>
        <p:spPr>
          <a:xfrm>
            <a:off x="581200" y="2099505"/>
            <a:ext cx="8589300" cy="101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3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Para el cliente móvil se creó un proyecto Android en Android Studio (Java,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minSdk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24). Consume el servicio enviando sobres SOAP con 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HttpURLConnection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ConversorService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 y permite configurar la IP del servidor (</a:t>
            </a:r>
            <a:r>
              <a:rPr lang="es-ES" sz="1564" dirty="0" err="1">
                <a:latin typeface="Cambria"/>
                <a:ea typeface="Cambria"/>
                <a:cs typeface="Cambria"/>
                <a:sym typeface="Cambria"/>
              </a:rPr>
              <a:t>ConfiguracionConexion</a:t>
            </a:r>
            <a:r>
              <a:rPr lang="es-ES" sz="1564" dirty="0">
                <a:latin typeface="Cambria"/>
                <a:ea typeface="Cambria"/>
                <a:cs typeface="Cambria"/>
                <a:sym typeface="Cambria"/>
              </a:rPr>
              <a:t>).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360EA773-D1A1-2269-5F67-554ABE97D6D1}"/>
              </a:ext>
            </a:extLst>
          </p:cNvPr>
          <p:cNvSpPr txBox="1">
            <a:spLocks/>
          </p:cNvSpPr>
          <p:nvPr/>
        </p:nvSpPr>
        <p:spPr>
          <a:xfrm>
            <a:off x="377739" y="3073878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-327406">
              <a:lnSpc>
                <a:spcPct val="150000"/>
              </a:lnSpc>
              <a:spcBef>
                <a:spcPts val="0"/>
              </a:spcBef>
              <a:buSzPts val="1556"/>
              <a:buFont typeface="Noto Sans Symbols"/>
              <a:buChar char="∙"/>
            </a:pPr>
            <a:r>
              <a:rPr lang="es-MX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</a:p>
          <a:p>
            <a:pPr indent="-304800" algn="just">
              <a:lnSpc>
                <a:spcPct val="107000"/>
              </a:lnSpc>
              <a:spcBef>
                <a:spcPts val="0"/>
              </a:spcBef>
              <a:buSzPts val="1200"/>
              <a:buFont typeface="Cambria"/>
              <a:buChar char="∙"/>
            </a:pPr>
            <a:endParaRPr lang="es-MX"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1" name="Google Shape;651;p80"/>
          <p:cNvGraphicFramePr/>
          <p:nvPr>
            <p:extLst>
              <p:ext uri="{D42A27DB-BD31-4B8C-83A1-F6EECF244321}">
                <p14:modId xmlns:p14="http://schemas.microsoft.com/office/powerpoint/2010/main" val="1748672428"/>
              </p:ext>
            </p:extLst>
          </p:nvPr>
        </p:nvGraphicFramePr>
        <p:xfrm>
          <a:off x="2332838" y="2061638"/>
          <a:ext cx="6484300" cy="4469194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ConversorService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static final String TARGET_NAMESPACE = "http://ws.controladores.monster.edu.ec/";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public String login(String usuario, String contrasenia) throws 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soapBody = String.format(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"&lt;ws:login xmlns:ws=\"%s\"&gt;&lt;usuario&gt;%s&lt;/usuario&gt;" +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"&lt;contrasenia&gt;%s&lt;/contrasenia&gt;&lt;/ws:login&gt;",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TARGET_NAMESPACE, escapeXml(usuario), escapeXml(contrasenia));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invocarSoap(soapBody);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String invocarSoap(String cuerpoXml) throws Exception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soapEnvelope = "&lt;?xml version=\"1.0\" encoding=\"utf-8\"?&gt;" +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"&lt;soapenv:Envelope xmlns:soapenv=\"http://schemas.xmlsoap.org/soap/envelope/\"&gt;" +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"&lt;soapenv:Header/&gt;&lt;soapenv:Body&gt;" + cuerpoXml +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"&lt;/soapenv:Body&gt;&lt;/soapenv:Envelope&gt;";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URL url = URI.create(ConfiguracionConexion.getEndpointUrl()).toURL();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HttpURLConnection conn = (HttpURLConnection) url.openConnection();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conn.setRequestMethod("POST");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conn.setRequestProperty("Content-Type", "text/xml; charset=utf-8");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conn.setRequestProperty("SOAPAction", "\"\"");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conn.setDoOutput(true);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// se envía el sobre, se lee la respuesta y, si contiene faultstring,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// se lanza una excepción con el mensaje del servidor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85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85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52" name="Google Shape;652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53" name="Google Shape;653;p8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579D59BB-603A-C2DE-C76A-23C74A0F1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9" name="Google Shape;659;p81"/>
          <p:cNvGraphicFramePr/>
          <p:nvPr>
            <p:extLst>
              <p:ext uri="{D42A27DB-BD31-4B8C-83A1-F6EECF244321}">
                <p14:modId xmlns:p14="http://schemas.microsoft.com/office/powerpoint/2010/main" val="2834880785"/>
              </p:ext>
            </p:extLst>
          </p:nvPr>
        </p:nvGraphicFramePr>
        <p:xfrm>
          <a:off x="2332825" y="1795025"/>
          <a:ext cx="6484300" cy="4727067"/>
        </p:xfrm>
        <a:graphic>
          <a:graphicData uri="http://schemas.openxmlformats.org/drawingml/2006/table">
            <a:tbl>
              <a:tblPr>
                <a:noFill/>
                <a:tableStyleId>{BF136021-7255-42B7-A7E7-87A8D8FFE9CA}</a:tableStyleId>
              </a:tblPr>
              <a:tblGrid>
                <a:gridCol w="6484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class LoginView extends AppCompatActivity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AppControlador controlador = new AppControlador();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ExecutorService executor = Executors.newSingleThreadExecutor();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final Handler mainHandler = new Handler(Looper.getMainLooper());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@Override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protected void onCreate(Bundle savedInstanceState)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super.onCreate(savedInstanceState);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setContentView(R.layout.activity_login);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inicializarVistas();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configurarEventos();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private void procesarLogin()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user = txtUsuario.getText().toString().trim();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String pass = txtContrasenia.getText().toString();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if (user.isEmpty() || pass.isEmpty())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Toast.makeText(this, "Por favor ingrese el usuario y la contraseña.",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    Toast.LENGTH_SHORT).show();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return;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btnIngresar.setEnabled(false);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btnIngresar.setText("Conectando...");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executor.execute(() -&gt;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try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String token = controlador.login(user, pass);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// en el hilo principal: abre ConversorView si hay token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 catch (Exception e) {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    // en el hilo principal: muestra el mensaje de error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});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</a:p>
                    <a:p>
                      <a:pPr marL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700">
                          <a:solidFill>
                            <a:srgbClr val="4F81B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700">
                        <a:solidFill>
                          <a:srgbClr val="4F81B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0" name="Google Shape;660;p8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1" name="Google Shape;661;p8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/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4" name="Google Shape;546;p67">
            <a:extLst>
              <a:ext uri="{FF2B5EF4-FFF2-40B4-BE49-F238E27FC236}">
                <a16:creationId xmlns:a16="http://schemas.microsoft.com/office/drawing/2014/main" id="{8F8030ED-0DDD-C703-33EE-D02F48248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5858" y="2831691"/>
            <a:ext cx="1926979" cy="2472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2740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56"/>
              <a:buChar char="∙"/>
            </a:pPr>
            <a:r>
              <a:rPr lang="es-ES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continuación, se detallarán las clases principales con su código fuente.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mbria"/>
              <a:buChar char="∙"/>
            </a:pPr>
            <a:endParaRPr sz="1400" dirty="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8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68" name="Google Shape;668;p82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69" name="Google Shape;669;p82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login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64000A0D-CC58-47EF-CC06-180280E4A72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89862" y="1796252"/>
            <a:ext cx="2206080" cy="49024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8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676" name="Google Shape;676;p83"/>
          <p:cNvSpPr/>
          <p:nvPr/>
        </p:nvSpPr>
        <p:spPr>
          <a:xfrm>
            <a:off x="9383697" y="14347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>
              <a:solidFill>
                <a:schemeClr val="dk1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200" b="1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>
              <a:solidFill>
                <a:srgbClr val="FFFFFF"/>
              </a:solidFill>
            </a:endParaRPr>
          </a:p>
          <a:p>
            <a:pPr marL="763200" lvl="1" indent="-306000" algn="l" rtl="0"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>
              <a:solidFill>
                <a:srgbClr val="FFFF00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>
              <a:solidFill>
                <a:srgbClr val="FFFFFF"/>
              </a:solidFill>
            </a:endParaRPr>
          </a:p>
          <a:p>
            <a:pPr marL="306000" lvl="0" indent="-306000" algn="l" rtl="0"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</a:pPr>
            <a:r>
              <a:rPr lang="es-ES" sz="1200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>
              <a:solidFill>
                <a:srgbClr val="FFFFFF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677" name="Google Shape;677;p83"/>
          <p:cNvSpPr txBox="1"/>
          <p:nvPr/>
        </p:nvSpPr>
        <p:spPr>
          <a:xfrm>
            <a:off x="636600" y="1868349"/>
            <a:ext cx="8576700" cy="7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marR="0" lvl="0" indent="-3556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000"/>
              <a:buFont typeface="Cambria"/>
              <a:buChar char="∙"/>
            </a:pPr>
            <a:r>
              <a:rPr lang="es-ES" sz="1800" b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Vista Conversor de unidades</a:t>
            </a:r>
            <a:endParaRPr sz="2000" b="0" i="0" u="none" strike="noStrike" cap="none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Captura GR04">
            <a:extLst>
              <a:ext uri="{FF2B5EF4-FFF2-40B4-BE49-F238E27FC236}">
                <a16:creationId xmlns:a16="http://schemas.microsoft.com/office/drawing/2014/main" id="{8D5B9EA1-A455-13DD-1025-DAD7ADE928C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5295373" y="1868350"/>
            <a:ext cx="2122504" cy="47166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8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692" name="Google Shape;692;p85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La culminación de este proyecto evidencia la efectividad de una Arquitectura Orientada a Servicios (SOA) al integrar exitosamente un servidor SOAP robusto, desarrollado en Java y alojado en Payara Server, con un ecosistema de clientes multiplataforma (web, móvil, escritorio y consola) desarrollados en Java. Esta integración técnica se validó mediante la implementación de un sistema de seguridad desacoplado basado en tokens y manejadores de mensajes (Message Handlers), junto con la arquitectura MVC aplicada en los clientes, lo que garantiza una solución de software interoperable, escalable y alineada con los estándares de desarrollo empresarial modernos.</a:t>
            </a:r>
            <a:endParaRPr sz="1900"/>
          </a:p>
        </p:txBody>
      </p:sp>
      <p:sp>
        <p:nvSpPr>
          <p:cNvPr id="693" name="Google Shape;693;p8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8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699" name="Google Shape;699;p86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Integrar una base de datos (BDD) formal para reemplazar el manejo de credenciales quemadas en código y permitir el almacenamiento histórico personal de las conversiones de manera persistente y escalable.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Integrar protocolos de cifrado a nivel de mensaje (WS-Security) y el uso de HTTPS en entornos de producción para proteger la integridad del token de seguridad y los datos sensibles durante el tránsito en la red.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 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900">
                <a:latin typeface="Cambria"/>
                <a:ea typeface="Cambria"/>
                <a:cs typeface="Cambria"/>
                <a:sym typeface="Cambria"/>
              </a:rPr>
              <a:t>Incorporar herramientas de análisis estático de código automatizadas dentro del ciclo de vida de desarrollo para monitorear la calidad del software y asegurar que las nuevas funcionalidades no rompan la compatibilidad con el contrato WSDL expuesto.</a:t>
            </a:r>
            <a:endParaRPr sz="19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00" name="Google Shape;700;p8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SOAP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7916</Words>
  <Application>Microsoft Office PowerPoint</Application>
  <PresentationFormat>Panorámica</PresentationFormat>
  <Paragraphs>1363</Paragraphs>
  <Slides>50</Slides>
  <Notes>50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50</vt:i4>
      </vt:variant>
    </vt:vector>
  </HeadingPairs>
  <TitlesOfParts>
    <vt:vector size="56" baseType="lpstr">
      <vt:lpstr>Noto Sans Symbols</vt:lpstr>
      <vt:lpstr>Cambria</vt:lpstr>
      <vt:lpstr>Gill Sans</vt:lpstr>
      <vt:lpstr>Arial</vt:lpstr>
      <vt:lpstr>Calibri</vt:lpstr>
      <vt:lpstr>Dividendo</vt:lpstr>
      <vt:lpstr>MANUAL CONVERSIÓN UNIDADES SOAP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ANTHONY ALAIN MORALES CARVAJAL</cp:lastModifiedBy>
  <cp:revision>7</cp:revision>
  <dcterms:modified xsi:type="dcterms:W3CDTF">2026-10-29T01:16:15Z</dcterms:modified>
</cp:coreProperties>
</file>